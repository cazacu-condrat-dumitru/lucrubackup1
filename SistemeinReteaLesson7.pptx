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embeddedFontLs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Poppins" panose="000005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F845BA-233B-4496-BE57-42C54CF8B078}">
  <a:tblStyle styleId="{05F845BA-233B-4496-BE57-42C54CF8B07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jpeg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jpe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95487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Lecția 7: Pachete de programe frecvent utilizate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900487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Ghidul Software-ului Modern în Activitatea Profesională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4529137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A9B304-65E3-10F0-0E7B-D8202AF2BB74}"/>
              </a:ext>
            </a:extLst>
          </p:cNvPr>
          <p:cNvSpPr txBox="1"/>
          <p:nvPr/>
        </p:nvSpPr>
        <p:spPr>
          <a:xfrm>
            <a:off x="2710544" y="4862512"/>
            <a:ext cx="6204856" cy="455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Cazacu-Condrat Dumitru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2700"/>
            <a:ext cx="35559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552700"/>
            <a:ext cx="35559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552700"/>
            <a:ext cx="3556099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0800" y="28479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92639" y="3495675"/>
            <a:ext cx="311367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Grafică &amp; Multimedia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4369652"/>
            <a:ext cx="2965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Prelucrarea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vizuală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audio-video.</a:t>
            </a:r>
            <a:endParaRPr sz="1800" dirty="0"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4401" y="284797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4539090" y="3495675"/>
            <a:ext cx="311367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Productivitate Office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13225" y="4552950"/>
            <a:ext cx="29654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Texte,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calcule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prezentări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2425" y="28479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285537" y="3495675"/>
            <a:ext cx="31138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Gestiune Date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59675" y="4095750"/>
            <a:ext cx="296554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Baze de date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programe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particularizate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15811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Structura Lecției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224790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977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2097420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Software-ul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aplicație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conceput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ajuta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utilizatorul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să execute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sarcini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specifice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diverse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domenii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0977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52500" y="3550744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sarcinilor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birou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3927902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Exprimarea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creativității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design.</a:t>
            </a:r>
            <a:endParaRPr sz="1800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4417759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Gestionarea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volumelor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671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957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2437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103822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Ecosistemul Software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170497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/>
          <p:nvPr/>
        </p:nvSpPr>
        <p:spPr>
          <a:xfrm>
            <a:off x="5619750" y="2738437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380285" y="3071812"/>
            <a:ext cx="11431428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01. Programe de prelucrare grafică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52462" y="3976687"/>
            <a:ext cx="108870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 la design digital la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editare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foto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profesională</a:t>
            </a: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62275"/>
            <a:ext cx="5334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62275"/>
            <a:ext cx="5334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748188" y="3257550"/>
            <a:ext cx="49806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Raster (Bitmap)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66775" y="3857625"/>
            <a:ext cx="4743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Compusă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pixeli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fotografii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complexe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Ex: Adobe Photoshop.</a:t>
            </a:r>
            <a:endParaRPr sz="1800"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6463188" y="3257550"/>
            <a:ext cx="49806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Vectorială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581774" y="3857625"/>
            <a:ext cx="498062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Compusă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formule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matematice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logo-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scalabilă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 Ex: Adobe Illustrator.</a:t>
            </a:r>
            <a:endParaRPr sz="1800"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199072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Grafica Raster vs. Grafica Vectorială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265747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977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2191711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Standardul</a:t>
            </a:r>
            <a:r>
              <a:rPr lang="en-US" sz="24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în</a:t>
            </a:r>
            <a:r>
              <a:rPr lang="en-US" sz="24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Editarea</a:t>
            </a:r>
            <a:r>
              <a:rPr lang="en-US" sz="24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Foto</a:t>
            </a:r>
            <a:endParaRPr dirty="0"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3080657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manipularea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pixelilor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cel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înalt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nivel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corecții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culoare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compoziții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digitale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complexe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952500" y="4143375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Lucrul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(Layers).</a:t>
            </a:r>
            <a:endParaRPr sz="1800"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952500" y="4572000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Unelte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selecție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inteligente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814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1010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103822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Adobe Photoshop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1500" y="170497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Adobe Photoshop - Wikipedia">
            <a:extLst>
              <a:ext uri="{FF2B5EF4-FFF2-40B4-BE49-F238E27FC236}">
                <a16:creationId xmlns:a16="http://schemas.microsoft.com/office/drawing/2014/main" id="{8488E8B7-CFC2-63F8-409C-074A493B3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315" y="2173341"/>
            <a:ext cx="3476625" cy="347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9775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714750"/>
            <a:ext cx="5334000" cy="186962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6286500" y="2096861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Software-ul vectorial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esențial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identitatea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vizuală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companiilor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68" name="Google Shape;168;p19"/>
          <p:cNvSpPr txBox="1"/>
          <p:nvPr/>
        </p:nvSpPr>
        <p:spPr>
          <a:xfrm>
            <a:off x="6486525" y="3914775"/>
            <a:ext cx="493395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Avantaj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Grafica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pierde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calitatea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indiferent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cât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mărită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printuri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clădiri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vs.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cărți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vizită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800" dirty="0"/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103822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Design Vectorial: Illustrator &amp; Inkscape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71500" y="170497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Vector Graphics Software | Adobe Illustrator">
            <a:extLst>
              <a:ext uri="{FF2B5EF4-FFF2-40B4-BE49-F238E27FC236}">
                <a16:creationId xmlns:a16="http://schemas.microsoft.com/office/drawing/2014/main" id="{FE75FE45-476E-E1DA-BACB-74B4A38BF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2138022"/>
            <a:ext cx="3553506" cy="3553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/>
          <p:nvPr/>
        </p:nvSpPr>
        <p:spPr>
          <a:xfrm>
            <a:off x="5619750" y="2286000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95275" y="2619375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02. Programe de procesare a textelor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4429125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documentelor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profesionale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academice</a:t>
            </a:r>
            <a:endParaRPr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977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571500" y="2819400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Liderul în Editarea de Text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571500" y="3255428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Oferă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unelte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complexe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formatare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referințe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bibliografice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automatizări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pic>
        <p:nvPicPr>
          <p:cNvPr id="187" name="Google Shape;18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0977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952500" y="4143375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Verificare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gramaticală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avansată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89" name="Google Shape;189;p21"/>
          <p:cNvSpPr txBox="1"/>
          <p:nvPr/>
        </p:nvSpPr>
        <p:spPr>
          <a:xfrm>
            <a:off x="952500" y="4572000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Cuprins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index automat.</a:t>
            </a:r>
            <a:endParaRPr sz="1800" dirty="0"/>
          </a:p>
        </p:txBody>
      </p:sp>
      <p:pic>
        <p:nvPicPr>
          <p:cNvPr id="190" name="Google Shape;19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814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101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571500" y="103822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Microsoft Word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71500" y="170497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48000"/>
            <a:ext cx="11049000" cy="254997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866775" y="3343275"/>
            <a:ext cx="10458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moderne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bazează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 Cloud,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permițând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utilizatori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editeze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același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document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simultan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fără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conflicte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versiune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01" name="Google Shape;201;p22"/>
          <p:cNvSpPr txBox="1"/>
          <p:nvPr/>
        </p:nvSpPr>
        <p:spPr>
          <a:xfrm>
            <a:off x="866775" y="4460022"/>
            <a:ext cx="104584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Beneficii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Salvare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istoric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versiuni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acces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pe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dispozitiv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mobil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02" name="Google Shape;202;p22"/>
          <p:cNvSpPr txBox="1"/>
          <p:nvPr/>
        </p:nvSpPr>
        <p:spPr>
          <a:xfrm>
            <a:off x="571500" y="20764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Google Docs: Colaborare în Timp Real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571500" y="274320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129087"/>
            <a:ext cx="5334000" cy="1760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29087"/>
            <a:ext cx="5334000" cy="176008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2072368" y="2905125"/>
            <a:ext cx="901881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publicații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științifice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matematice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complexe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se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LaTeX.</a:t>
            </a:r>
            <a:endParaRPr sz="1800" dirty="0"/>
          </a:p>
        </p:txBody>
      </p:sp>
      <p:sp>
        <p:nvSpPr>
          <p:cNvPr id="212" name="Google Shape;212;p23"/>
          <p:cNvSpPr txBox="1"/>
          <p:nvPr/>
        </p:nvSpPr>
        <p:spPr>
          <a:xfrm>
            <a:off x="6581775" y="4424362"/>
            <a:ext cx="474345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Acesta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editor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vizual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(WYSIWYG), ci un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limbaj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marcare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care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asigură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estetică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tipografică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perfectă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13" name="Google Shape;213;p23"/>
          <p:cNvSpPr txBox="1"/>
          <p:nvPr/>
        </p:nvSpPr>
        <p:spPr>
          <a:xfrm>
            <a:off x="866775" y="4435300"/>
            <a:ext cx="47434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\section{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Introducere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E = mc^2</a:t>
            </a:r>
            <a:endParaRPr sz="1800" dirty="0"/>
          </a:p>
        </p:txBody>
      </p:sp>
      <p:sp>
        <p:nvSpPr>
          <p:cNvPr id="214" name="Google Shape;214;p23"/>
          <p:cNvSpPr txBox="1"/>
          <p:nvPr/>
        </p:nvSpPr>
        <p:spPr>
          <a:xfrm>
            <a:off x="571500" y="193357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Software de Text Specializat: LaTeX</a:t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571500" y="26003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/>
          <p:nvPr/>
        </p:nvSpPr>
        <p:spPr>
          <a:xfrm>
            <a:off x="5619750" y="2738437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1005363" y="3071812"/>
            <a:ext cx="10181272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03. Programe de calcul tabelar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1247775" y="3976687"/>
            <a:ext cx="96964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Analiza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modelarea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financiară</a:t>
            </a:r>
            <a:endParaRPr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977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 txBox="1"/>
          <p:nvPr/>
        </p:nvSpPr>
        <p:spPr>
          <a:xfrm>
            <a:off x="571500" y="2009775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Organizarea</a:t>
            </a:r>
            <a:r>
              <a:rPr lang="en-US" sz="24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în</a:t>
            </a:r>
            <a:r>
              <a:rPr lang="en-US" sz="24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Celule</a:t>
            </a:r>
            <a:endParaRPr dirty="0"/>
          </a:p>
        </p:txBody>
      </p:sp>
      <p:sp>
        <p:nvSpPr>
          <p:cNvPr id="231" name="Google Shape;231;p25"/>
          <p:cNvSpPr txBox="1"/>
          <p:nvPr/>
        </p:nvSpPr>
        <p:spPr>
          <a:xfrm>
            <a:off x="571500" y="2609850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Excel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coloana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vertebrală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afaceri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gestionând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financiare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statistice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formule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matematice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33" name="Google Shape;233;p25"/>
          <p:cNvSpPr txBox="1"/>
          <p:nvPr/>
        </p:nvSpPr>
        <p:spPr>
          <a:xfrm>
            <a:off x="952500" y="4143375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Formule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funcții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logice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complexe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34" name="Google Shape;234;p25"/>
          <p:cNvSpPr txBox="1"/>
          <p:nvPr/>
        </p:nvSpPr>
        <p:spPr>
          <a:xfrm>
            <a:off x="952500" y="4572000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Filtrarea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sortarea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pic>
        <p:nvPicPr>
          <p:cNvPr id="235" name="Google Shape;23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8147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101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 txBox="1"/>
          <p:nvPr/>
        </p:nvSpPr>
        <p:spPr>
          <a:xfrm>
            <a:off x="571500" y="103822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Microsoft Excel: Puterea Calculelor</a:t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571500" y="170497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Microsoft Excel - Wikipedia">
            <a:extLst>
              <a:ext uri="{FF2B5EF4-FFF2-40B4-BE49-F238E27FC236}">
                <a16:creationId xmlns:a16="http://schemas.microsoft.com/office/drawing/2014/main" id="{62B420AF-27B6-6B3F-51CE-DD9064BCD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657" y="2238375"/>
            <a:ext cx="3296331" cy="340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00400"/>
            <a:ext cx="35559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200400"/>
            <a:ext cx="35559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6"/>
          <p:cNvSpPr txBox="1"/>
          <p:nvPr/>
        </p:nvSpPr>
        <p:spPr>
          <a:xfrm>
            <a:off x="571500" y="1806267"/>
            <a:ext cx="1104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Programele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calcul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tabelar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numerele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brute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grafice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intuitive (Bare, Pie,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Linii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facilita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luarea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deciziilor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47" name="Google Shape;247;p26"/>
          <p:cNvSpPr txBox="1"/>
          <p:nvPr/>
        </p:nvSpPr>
        <p:spPr>
          <a:xfrm>
            <a:off x="792639" y="3495675"/>
            <a:ext cx="311367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Tabele Pivot</a:t>
            </a:r>
            <a:endParaRPr/>
          </a:p>
        </p:txBody>
      </p:sp>
      <p:sp>
        <p:nvSpPr>
          <p:cNvPr id="248" name="Google Shape;248;p26"/>
          <p:cNvSpPr txBox="1"/>
          <p:nvPr/>
        </p:nvSpPr>
        <p:spPr>
          <a:xfrm>
            <a:off x="866775" y="4095750"/>
            <a:ext cx="2965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Sintetizarea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mii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rânduri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secunde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49" name="Google Shape;249;p26"/>
          <p:cNvSpPr txBox="1"/>
          <p:nvPr/>
        </p:nvSpPr>
        <p:spPr>
          <a:xfrm>
            <a:off x="4539090" y="3495675"/>
            <a:ext cx="311367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VBA / Macros</a:t>
            </a:r>
            <a:endParaRPr/>
          </a:p>
        </p:txBody>
      </p:sp>
      <p:sp>
        <p:nvSpPr>
          <p:cNvPr id="250" name="Google Shape;250;p26"/>
          <p:cNvSpPr txBox="1"/>
          <p:nvPr/>
        </p:nvSpPr>
        <p:spPr>
          <a:xfrm>
            <a:off x="4613225" y="4095750"/>
            <a:ext cx="2965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repetitive.</a:t>
            </a:r>
            <a:endParaRPr sz="1800" dirty="0"/>
          </a:p>
        </p:txBody>
      </p:sp>
      <p:sp>
        <p:nvSpPr>
          <p:cNvPr id="251" name="Google Shape;251;p26"/>
          <p:cNvSpPr txBox="1"/>
          <p:nvPr/>
        </p:nvSpPr>
        <p:spPr>
          <a:xfrm>
            <a:off x="571500" y="67627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Vizualizarea</a:t>
            </a: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Datelor</a:t>
            </a:r>
            <a:endParaRPr dirty="0"/>
          </a:p>
        </p:txBody>
      </p:sp>
      <p:sp>
        <p:nvSpPr>
          <p:cNvPr id="252" name="Google Shape;252;p26"/>
          <p:cNvSpPr/>
          <p:nvPr/>
        </p:nvSpPr>
        <p:spPr>
          <a:xfrm>
            <a:off x="571500" y="142875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7"/>
          <p:cNvSpPr/>
          <p:nvPr/>
        </p:nvSpPr>
        <p:spPr>
          <a:xfrm>
            <a:off x="5619750" y="2286000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295275" y="2619375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04. Programe de elaborare a prezentărilor</a:t>
            </a:r>
            <a:endParaRPr/>
          </a:p>
        </p:txBody>
      </p:sp>
      <p:sp>
        <p:nvSpPr>
          <p:cNvPr id="260" name="Google Shape;260;p27"/>
          <p:cNvSpPr txBox="1"/>
          <p:nvPr/>
        </p:nvSpPr>
        <p:spPr>
          <a:xfrm>
            <a:off x="571500" y="4429125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Comunicare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vizuală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impact</a:t>
            </a:r>
            <a:endParaRPr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977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8"/>
          <p:cNvSpPr txBox="1"/>
          <p:nvPr/>
        </p:nvSpPr>
        <p:spPr>
          <a:xfrm>
            <a:off x="571500" y="2009775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Storytelling </a:t>
            </a:r>
            <a:r>
              <a:rPr lang="en-US" sz="240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Vizual</a:t>
            </a:r>
            <a:endParaRPr dirty="0"/>
          </a:p>
        </p:txBody>
      </p:sp>
      <p:sp>
        <p:nvSpPr>
          <p:cNvPr id="268" name="Google Shape;268;p28"/>
          <p:cNvSpPr txBox="1"/>
          <p:nvPr/>
        </p:nvSpPr>
        <p:spPr>
          <a:xfrm>
            <a:off x="571500" y="2536291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PowerPoint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combinarea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textului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imagini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animații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elemente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multimedia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transmite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eficient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70" name="Google Shape;270;p28"/>
          <p:cNvSpPr txBox="1"/>
          <p:nvPr/>
        </p:nvSpPr>
        <p:spPr>
          <a:xfrm>
            <a:off x="952500" y="4035638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Tranziții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animații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profesionale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71" name="Google Shape;271;p28"/>
          <p:cNvSpPr txBox="1"/>
          <p:nvPr/>
        </p:nvSpPr>
        <p:spPr>
          <a:xfrm>
            <a:off x="952500" y="4572000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Modul 'Presenter'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control total.</a:t>
            </a:r>
            <a:endParaRPr sz="1800" dirty="0"/>
          </a:p>
        </p:txBody>
      </p:sp>
      <p:pic>
        <p:nvPicPr>
          <p:cNvPr id="272" name="Google Shape;272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814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1010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8"/>
          <p:cNvSpPr txBox="1"/>
          <p:nvPr/>
        </p:nvSpPr>
        <p:spPr>
          <a:xfrm>
            <a:off x="571500" y="103822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Microsoft PowerPoint</a:t>
            </a:r>
            <a:endParaRPr/>
          </a:p>
        </p:txBody>
      </p:sp>
      <p:sp>
        <p:nvSpPr>
          <p:cNvPr id="275" name="Google Shape;275;p28"/>
          <p:cNvSpPr/>
          <p:nvPr/>
        </p:nvSpPr>
        <p:spPr>
          <a:xfrm>
            <a:off x="571500" y="170497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 descr="Microsoft PowerPoint - Wikipedia">
            <a:extLst>
              <a:ext uri="{FF2B5EF4-FFF2-40B4-BE49-F238E27FC236}">
                <a16:creationId xmlns:a16="http://schemas.microsoft.com/office/drawing/2014/main" id="{02230F9D-F590-1553-7537-A57F6D3B3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686" y="2386120"/>
            <a:ext cx="3837214" cy="3719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9400"/>
            <a:ext cx="35559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819400"/>
            <a:ext cx="355595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9"/>
          <p:cNvSpPr txBox="1"/>
          <p:nvPr/>
        </p:nvSpPr>
        <p:spPr>
          <a:xfrm>
            <a:off x="792639" y="3114675"/>
            <a:ext cx="311367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Prezi</a:t>
            </a:r>
            <a:endParaRPr/>
          </a:p>
        </p:txBody>
      </p:sp>
      <p:sp>
        <p:nvSpPr>
          <p:cNvPr id="284" name="Google Shape;284;p29"/>
          <p:cNvSpPr txBox="1"/>
          <p:nvPr/>
        </p:nvSpPr>
        <p:spPr>
          <a:xfrm>
            <a:off x="866775" y="3714750"/>
            <a:ext cx="29654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canvas non-linear cu zoom, ideal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prezentări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dinamice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85" name="Google Shape;285;p29"/>
          <p:cNvSpPr txBox="1"/>
          <p:nvPr/>
        </p:nvSpPr>
        <p:spPr>
          <a:xfrm>
            <a:off x="4539090" y="3114675"/>
            <a:ext cx="311367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Canva</a:t>
            </a: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4613225" y="3714750"/>
            <a:ext cx="29654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platformă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web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extrem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intuitivă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bazată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șabloane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design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moderne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87" name="Google Shape;287;p29"/>
          <p:cNvSpPr txBox="1"/>
          <p:nvPr/>
        </p:nvSpPr>
        <p:spPr>
          <a:xfrm>
            <a:off x="571500" y="18478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Design Modern: Canva &amp; Prezi</a:t>
            </a: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571500" y="251460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0"/>
          <p:cNvSpPr/>
          <p:nvPr/>
        </p:nvSpPr>
        <p:spPr>
          <a:xfrm>
            <a:off x="5619750" y="2286000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295275" y="2619375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05. Programe de gestionare a bazelor de date</a:t>
            </a:r>
            <a:endParaRPr/>
          </a:p>
        </p:txBody>
      </p:sp>
      <p:sp>
        <p:nvSpPr>
          <p:cNvPr id="296" name="Google Shape;296;p30"/>
          <p:cNvSpPr txBox="1"/>
          <p:nvPr/>
        </p:nvSpPr>
        <p:spPr>
          <a:xfrm>
            <a:off x="571500" y="4429125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Stocarea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structurată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securizată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informației</a:t>
            </a:r>
            <a:endParaRPr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9775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19500"/>
            <a:ext cx="5334000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1"/>
          <p:cNvSpPr txBox="1"/>
          <p:nvPr/>
        </p:nvSpPr>
        <p:spPr>
          <a:xfrm>
            <a:off x="571500" y="2373005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SGBD-urile sunt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programe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care permit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definirea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întreținerea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controlul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accesului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baze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date.</a:t>
            </a:r>
            <a:endParaRPr sz="1800" dirty="0"/>
          </a:p>
        </p:txBody>
      </p:sp>
      <p:sp>
        <p:nvSpPr>
          <p:cNvPr id="306" name="Google Shape;306;p31"/>
          <p:cNvSpPr txBox="1"/>
          <p:nvPr/>
        </p:nvSpPr>
        <p:spPr>
          <a:xfrm>
            <a:off x="866775" y="3914775"/>
            <a:ext cx="4743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Microsoft Access: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Ideal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proiecte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mici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uz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desktop.</a:t>
            </a:r>
            <a:endParaRPr sz="1800" dirty="0"/>
          </a:p>
        </p:txBody>
      </p:sp>
      <p:sp>
        <p:nvSpPr>
          <p:cNvPr id="307" name="Google Shape;307;p31"/>
          <p:cNvSpPr txBox="1"/>
          <p:nvPr/>
        </p:nvSpPr>
        <p:spPr>
          <a:xfrm>
            <a:off x="571500" y="103822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Sisteme de Gestiune a Bazelor de Date (SGBD)</a:t>
            </a:r>
            <a:endParaRPr/>
          </a:p>
        </p:txBody>
      </p:sp>
      <p:sp>
        <p:nvSpPr>
          <p:cNvPr id="308" name="Google Shape;308;p31"/>
          <p:cNvSpPr/>
          <p:nvPr/>
        </p:nvSpPr>
        <p:spPr>
          <a:xfrm>
            <a:off x="571500" y="170497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8" name="Picture 2" descr="Microsoft Access - Wikipedia">
            <a:extLst>
              <a:ext uri="{FF2B5EF4-FFF2-40B4-BE49-F238E27FC236}">
                <a16:creationId xmlns:a16="http://schemas.microsoft.com/office/drawing/2014/main" id="{B915E2DA-58A6-868B-5BD8-95FE69022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7057" y="2421991"/>
            <a:ext cx="2751364" cy="31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4" name="Google Shape;314;p32"/>
          <p:cNvGraphicFramePr/>
          <p:nvPr>
            <p:extLst>
              <p:ext uri="{D42A27DB-BD31-4B8C-83A1-F6EECF244321}">
                <p14:modId xmlns:p14="http://schemas.microsoft.com/office/powerpoint/2010/main" val="4051674714"/>
              </p:ext>
            </p:extLst>
          </p:nvPr>
        </p:nvGraphicFramePr>
        <p:xfrm>
          <a:off x="3245346" y="3059304"/>
          <a:ext cx="7809698" cy="2463415"/>
        </p:xfrm>
        <a:graphic>
          <a:graphicData uri="http://schemas.openxmlformats.org/drawingml/2006/table">
            <a:tbl>
              <a:tblPr firstRow="1" bandRow="1">
                <a:noFill/>
                <a:tableStyleId>{05F845BA-233B-4496-BE57-42C54CF8B078}</a:tableStyleId>
              </a:tblPr>
              <a:tblGrid>
                <a:gridCol w="2199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6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24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Tip</a:t>
                      </a:r>
                      <a:endParaRPr sz="2500"/>
                    </a:p>
                  </a:txBody>
                  <a:tcPr marL="86983" marR="86983" marT="34793" marB="347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Exemplu</a:t>
                      </a:r>
                      <a:endParaRPr sz="2500"/>
                    </a:p>
                  </a:txBody>
                  <a:tcPr marL="86983" marR="86983" marT="34793" marB="347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Utilizare</a:t>
                      </a:r>
                      <a:endParaRPr sz="2500"/>
                    </a:p>
                  </a:txBody>
                  <a:tcPr marL="86983" marR="86983" marT="34793" marB="347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1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Relațional</a:t>
                      </a:r>
                      <a:r>
                        <a:rPr lang="en-US" sz="25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(SQL)</a:t>
                      </a:r>
                      <a:endParaRPr sz="2500" dirty="0"/>
                    </a:p>
                  </a:txBody>
                  <a:tcPr marL="86983" marR="86983" marT="34793" marB="347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MySQL, Oracle</a:t>
                      </a:r>
                      <a:endParaRPr sz="2500"/>
                    </a:p>
                  </a:txBody>
                  <a:tcPr marL="86983" marR="86983" marT="34793" marB="347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Date structurate (Finanțe)</a:t>
                      </a:r>
                      <a:endParaRPr sz="2500"/>
                    </a:p>
                  </a:txBody>
                  <a:tcPr marL="86983" marR="86983" marT="34793" marB="347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1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Ne-relațional</a:t>
                      </a:r>
                      <a:endParaRPr sz="2500"/>
                    </a:p>
                  </a:txBody>
                  <a:tcPr marL="86983" marR="86983" marT="34793" marB="347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MongoDB</a:t>
                      </a:r>
                      <a:endParaRPr sz="2500"/>
                    </a:p>
                  </a:txBody>
                  <a:tcPr marL="86983" marR="86983" marT="34793" marB="347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Date </a:t>
                      </a:r>
                      <a:r>
                        <a:rPr lang="en-US" sz="25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flexibile</a:t>
                      </a:r>
                      <a:r>
                        <a:rPr lang="en-US" sz="25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(Social Media)</a:t>
                      </a:r>
                      <a:endParaRPr sz="2500" dirty="0"/>
                    </a:p>
                  </a:txBody>
                  <a:tcPr marL="86983" marR="86983" marT="34793" marB="347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5" name="Google Shape;315;p32"/>
          <p:cNvSpPr/>
          <p:nvPr/>
        </p:nvSpPr>
        <p:spPr>
          <a:xfrm>
            <a:off x="3245346" y="3695700"/>
            <a:ext cx="1605557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2"/>
          <p:cNvSpPr/>
          <p:nvPr/>
        </p:nvSpPr>
        <p:spPr>
          <a:xfrm>
            <a:off x="4850903" y="3695700"/>
            <a:ext cx="154305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2"/>
          <p:cNvSpPr/>
          <p:nvPr/>
        </p:nvSpPr>
        <p:spPr>
          <a:xfrm>
            <a:off x="6393953" y="3695700"/>
            <a:ext cx="25527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2"/>
          <p:cNvSpPr/>
          <p:nvPr/>
        </p:nvSpPr>
        <p:spPr>
          <a:xfrm>
            <a:off x="3245346" y="4291012"/>
            <a:ext cx="16055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4850903" y="4291012"/>
            <a:ext cx="154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6393953" y="4291012"/>
            <a:ext cx="2552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3245346" y="4872037"/>
            <a:ext cx="16055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2"/>
          <p:cNvSpPr/>
          <p:nvPr/>
        </p:nvSpPr>
        <p:spPr>
          <a:xfrm>
            <a:off x="4850903" y="4872037"/>
            <a:ext cx="154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2"/>
          <p:cNvSpPr/>
          <p:nvPr/>
        </p:nvSpPr>
        <p:spPr>
          <a:xfrm>
            <a:off x="6393953" y="4872037"/>
            <a:ext cx="2552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2"/>
          <p:cNvSpPr txBox="1"/>
          <p:nvPr/>
        </p:nvSpPr>
        <p:spPr>
          <a:xfrm>
            <a:off x="571500" y="197167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SQL vs NoSQL</a:t>
            </a:r>
            <a:endParaRPr/>
          </a:p>
        </p:txBody>
      </p:sp>
      <p:sp>
        <p:nvSpPr>
          <p:cNvPr id="325" name="Google Shape;325;p32"/>
          <p:cNvSpPr/>
          <p:nvPr/>
        </p:nvSpPr>
        <p:spPr>
          <a:xfrm>
            <a:off x="571500" y="26384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/>
          <p:cNvSpPr/>
          <p:nvPr/>
        </p:nvSpPr>
        <p:spPr>
          <a:xfrm>
            <a:off x="5619750" y="2286000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295275" y="2619375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06. Programe de prelucrare multimedia</a:t>
            </a:r>
            <a:endParaRPr/>
          </a:p>
        </p:txBody>
      </p:sp>
      <p:sp>
        <p:nvSpPr>
          <p:cNvPr id="333" name="Google Shape;333;p33"/>
          <p:cNvSpPr txBox="1"/>
          <p:nvPr/>
        </p:nvSpPr>
        <p:spPr>
          <a:xfrm>
            <a:off x="571500" y="4429125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Editare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audio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montaj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video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profesionist</a:t>
            </a:r>
            <a:endParaRPr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977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4"/>
          <p:cNvSpPr txBox="1"/>
          <p:nvPr/>
        </p:nvSpPr>
        <p:spPr>
          <a:xfrm>
            <a:off x="571500" y="2381250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Editarea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video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presupune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asamblarea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clipurilor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brute,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corecție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culoare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design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sunet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42" name="Google Shape;342;p34"/>
          <p:cNvSpPr txBox="1"/>
          <p:nvPr/>
        </p:nvSpPr>
        <p:spPr>
          <a:xfrm>
            <a:off x="952500" y="3843337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Timeline multitrack.</a:t>
            </a:r>
            <a:endParaRPr sz="1800" dirty="0"/>
          </a:p>
        </p:txBody>
      </p:sp>
      <p:sp>
        <p:nvSpPr>
          <p:cNvPr id="343" name="Google Shape;343;p34"/>
          <p:cNvSpPr txBox="1"/>
          <p:nvPr/>
        </p:nvSpPr>
        <p:spPr>
          <a:xfrm>
            <a:off x="952500" y="4271962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Efecte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speciale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(VFX).</a:t>
            </a:r>
            <a:endParaRPr sz="1800" dirty="0"/>
          </a:p>
        </p:txBody>
      </p:sp>
      <p:pic>
        <p:nvPicPr>
          <p:cNvPr id="344" name="Google Shape;344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814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100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4"/>
          <p:cNvSpPr txBox="1"/>
          <p:nvPr/>
        </p:nvSpPr>
        <p:spPr>
          <a:xfrm>
            <a:off x="571500" y="103822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Montajul Video: Premiere &amp; DaVinci</a:t>
            </a:r>
            <a:endParaRPr/>
          </a:p>
        </p:txBody>
      </p:sp>
      <p:sp>
        <p:nvSpPr>
          <p:cNvPr id="347" name="Google Shape;347;p34"/>
          <p:cNvSpPr/>
          <p:nvPr/>
        </p:nvSpPr>
        <p:spPr>
          <a:xfrm>
            <a:off x="571500" y="170497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2" name="Picture 2" descr="Davinci Resolve Studio Vs Adobe Premiere Pro Resolve Studio Vs Davinci  Resolve Adobe Premiere Pro Vs">
            <a:extLst>
              <a:ext uri="{FF2B5EF4-FFF2-40B4-BE49-F238E27FC236}">
                <a16:creationId xmlns:a16="http://schemas.microsoft.com/office/drawing/2014/main" id="{F7084797-90BF-4959-75EC-F413EDF99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2380398"/>
            <a:ext cx="5851754" cy="2925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619500"/>
            <a:ext cx="5334000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 txBox="1"/>
          <p:nvPr/>
        </p:nvSpPr>
        <p:spPr>
          <a:xfrm>
            <a:off x="6286500" y="2251501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Digital Audio Workstations (DAW) permit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înregistrarea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mixarea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editarea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sunetului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57" name="Google Shape;357;p35"/>
          <p:cNvSpPr txBox="1"/>
          <p:nvPr/>
        </p:nvSpPr>
        <p:spPr>
          <a:xfrm>
            <a:off x="6581775" y="3914775"/>
            <a:ext cx="4743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Audacity: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Editor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gratuit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open-source, ideal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podcasting.</a:t>
            </a:r>
            <a:endParaRPr sz="1800" dirty="0"/>
          </a:p>
        </p:txBody>
      </p:sp>
      <p:sp>
        <p:nvSpPr>
          <p:cNvPr id="358" name="Google Shape;358;p35"/>
          <p:cNvSpPr txBox="1"/>
          <p:nvPr/>
        </p:nvSpPr>
        <p:spPr>
          <a:xfrm>
            <a:off x="571500" y="103822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Prelucrarea Audio</a:t>
            </a:r>
            <a:endParaRPr/>
          </a:p>
        </p:txBody>
      </p:sp>
      <p:sp>
        <p:nvSpPr>
          <p:cNvPr id="359" name="Google Shape;359;p35"/>
          <p:cNvSpPr/>
          <p:nvPr/>
        </p:nvSpPr>
        <p:spPr>
          <a:xfrm>
            <a:off x="571500" y="170497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6" name="Picture 2" descr="Audacity Review | PCMag">
            <a:extLst>
              <a:ext uri="{FF2B5EF4-FFF2-40B4-BE49-F238E27FC236}">
                <a16:creationId xmlns:a16="http://schemas.microsoft.com/office/drawing/2014/main" id="{44CE60E7-51F5-6439-6283-7971E7CB0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2299126"/>
            <a:ext cx="4402777" cy="273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6"/>
          <p:cNvSpPr/>
          <p:nvPr/>
        </p:nvSpPr>
        <p:spPr>
          <a:xfrm>
            <a:off x="5619750" y="2738437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1355407" y="3071812"/>
            <a:ext cx="9481185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07. Programe particularizate</a:t>
            </a:r>
            <a:endParaRPr/>
          </a:p>
        </p:txBody>
      </p:sp>
      <p:sp>
        <p:nvSpPr>
          <p:cNvPr id="367" name="Google Shape;367;p36"/>
          <p:cNvSpPr txBox="1"/>
          <p:nvPr/>
        </p:nvSpPr>
        <p:spPr>
          <a:xfrm>
            <a:off x="1581150" y="3976687"/>
            <a:ext cx="9029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Soluții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software dedicate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industriilor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specifice</a:t>
            </a:r>
            <a:endParaRPr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2042" y="2566987"/>
            <a:ext cx="8996958" cy="365964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7"/>
          <p:cNvSpPr txBox="1"/>
          <p:nvPr/>
        </p:nvSpPr>
        <p:spPr>
          <a:xfrm>
            <a:off x="2347317" y="2862262"/>
            <a:ext cx="787223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ERP (Enterprise Resource Planning)</a:t>
            </a:r>
            <a:endParaRPr/>
          </a:p>
        </p:txBody>
      </p:sp>
      <p:sp>
        <p:nvSpPr>
          <p:cNvPr id="375" name="Google Shape;375;p37"/>
          <p:cNvSpPr txBox="1"/>
          <p:nvPr/>
        </p:nvSpPr>
        <p:spPr>
          <a:xfrm>
            <a:off x="2347317" y="3462337"/>
            <a:ext cx="749736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Gestionează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companii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contabilitate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resurse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umane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inventar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(Ex: SAP).</a:t>
            </a:r>
            <a:endParaRPr sz="1800" dirty="0"/>
          </a:p>
        </p:txBody>
      </p:sp>
      <p:sp>
        <p:nvSpPr>
          <p:cNvPr id="376" name="Google Shape;376;p37"/>
          <p:cNvSpPr txBox="1"/>
          <p:nvPr/>
        </p:nvSpPr>
        <p:spPr>
          <a:xfrm>
            <a:off x="2347317" y="4505265"/>
            <a:ext cx="787223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CRM (Customer Relationship Management)</a:t>
            </a:r>
            <a:endParaRPr dirty="0"/>
          </a:p>
        </p:txBody>
      </p:sp>
      <p:sp>
        <p:nvSpPr>
          <p:cNvPr id="377" name="Google Shape;377;p37"/>
          <p:cNvSpPr txBox="1"/>
          <p:nvPr/>
        </p:nvSpPr>
        <p:spPr>
          <a:xfrm>
            <a:off x="2347317" y="5054814"/>
            <a:ext cx="749736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Gestionează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relația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vânzările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(Ex: Salesforce).</a:t>
            </a:r>
            <a:endParaRPr sz="1800" dirty="0"/>
          </a:p>
        </p:txBody>
      </p:sp>
      <p:sp>
        <p:nvSpPr>
          <p:cNvPr id="378" name="Google Shape;378;p37"/>
          <p:cNvSpPr txBox="1"/>
          <p:nvPr/>
        </p:nvSpPr>
        <p:spPr>
          <a:xfrm>
            <a:off x="571500" y="1595437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Sisteme ERP și CRM</a:t>
            </a:r>
            <a:endParaRPr/>
          </a:p>
        </p:txBody>
      </p:sp>
      <p:sp>
        <p:nvSpPr>
          <p:cNvPr id="379" name="Google Shape;379;p37"/>
          <p:cNvSpPr/>
          <p:nvPr/>
        </p:nvSpPr>
        <p:spPr>
          <a:xfrm>
            <a:off x="571500" y="2262187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977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8"/>
          <p:cNvSpPr txBox="1"/>
          <p:nvPr/>
        </p:nvSpPr>
        <p:spPr>
          <a:xfrm>
            <a:off x="571500" y="3557587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Computer-Aided Design (CAD)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utilizat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arhitectură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inginerie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construcții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planuri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tehnice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precise.</a:t>
            </a:r>
            <a:endParaRPr sz="1800" dirty="0"/>
          </a:p>
        </p:txBody>
      </p:sp>
      <p:sp>
        <p:nvSpPr>
          <p:cNvPr id="388" name="Google Shape;388;p38"/>
          <p:cNvSpPr txBox="1"/>
          <p:nvPr/>
        </p:nvSpPr>
        <p:spPr>
          <a:xfrm>
            <a:off x="571500" y="103822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Software Industrial: AutoCAD</a:t>
            </a:r>
            <a:endParaRPr/>
          </a:p>
        </p:txBody>
      </p:sp>
      <p:sp>
        <p:nvSpPr>
          <p:cNvPr id="389" name="Google Shape;389;p38"/>
          <p:cNvSpPr/>
          <p:nvPr/>
        </p:nvSpPr>
        <p:spPr>
          <a:xfrm>
            <a:off x="571500" y="170497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70" name="Picture 2" descr="Autodesk AutoCAD 2024 Release: Overview Of Changes">
            <a:extLst>
              <a:ext uri="{FF2B5EF4-FFF2-40B4-BE49-F238E27FC236}">
                <a16:creationId xmlns:a16="http://schemas.microsoft.com/office/drawing/2014/main" id="{CDA623B2-4460-3D02-430D-E82B1D9A4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039" y="1922689"/>
            <a:ext cx="5838921" cy="326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84746" y="3643312"/>
            <a:ext cx="8622506" cy="149474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9"/>
          <p:cNvSpPr txBox="1"/>
          <p:nvPr/>
        </p:nvSpPr>
        <p:spPr>
          <a:xfrm>
            <a:off x="1784746" y="1804987"/>
            <a:ext cx="862250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Aplicații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dezvoltate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interpretarea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radiografiilor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monitorizarea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pacienților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simulări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laborator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97" name="Google Shape;397;p39"/>
          <p:cNvSpPr txBox="1"/>
          <p:nvPr/>
        </p:nvSpPr>
        <p:spPr>
          <a:xfrm>
            <a:off x="2080021" y="3938587"/>
            <a:ext cx="803195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Particularitate: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Necesită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securitate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extrem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ridicate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(GDPR/HIPAA).</a:t>
            </a:r>
            <a:endParaRPr sz="1800" dirty="0"/>
          </a:p>
        </p:txBody>
      </p:sp>
      <p:sp>
        <p:nvSpPr>
          <p:cNvPr id="398" name="Google Shape;398;p39"/>
          <p:cNvSpPr txBox="1"/>
          <p:nvPr/>
        </p:nvSpPr>
        <p:spPr>
          <a:xfrm>
            <a:off x="571500" y="545306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Software Medical</a:t>
            </a:r>
            <a:endParaRPr dirty="0"/>
          </a:p>
        </p:txBody>
      </p:sp>
      <p:sp>
        <p:nvSpPr>
          <p:cNvPr id="399" name="Google Shape;399;p39"/>
          <p:cNvSpPr/>
          <p:nvPr/>
        </p:nvSpPr>
        <p:spPr>
          <a:xfrm>
            <a:off x="571500" y="1412081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5" name="Google Shape;405;p40"/>
          <p:cNvGraphicFramePr/>
          <p:nvPr>
            <p:extLst>
              <p:ext uri="{D42A27DB-BD31-4B8C-83A1-F6EECF244321}">
                <p14:modId xmlns:p14="http://schemas.microsoft.com/office/powerpoint/2010/main" val="4268299081"/>
              </p:ext>
            </p:extLst>
          </p:nvPr>
        </p:nvGraphicFramePr>
        <p:xfrm>
          <a:off x="4194401" y="2344004"/>
          <a:ext cx="5798684" cy="4055942"/>
        </p:xfrm>
        <a:graphic>
          <a:graphicData uri="http://schemas.openxmlformats.org/drawingml/2006/table">
            <a:tbl>
              <a:tblPr firstRow="1" bandRow="1">
                <a:noFill/>
                <a:tableStyleId>{05F845BA-233B-4496-BE57-42C54CF8B078}</a:tableStyleId>
              </a:tblPr>
              <a:tblGrid>
                <a:gridCol w="2293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321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Categorie</a:t>
                      </a:r>
                      <a:endParaRPr sz="2400" dirty="0"/>
                    </a:p>
                  </a:txBody>
                  <a:tcPr marL="86407" marR="86407" marT="34563" marB="3456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Exemple</a:t>
                      </a:r>
                      <a:r>
                        <a:rPr lang="en-US" sz="2400" b="1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Populare</a:t>
                      </a:r>
                      <a:endParaRPr sz="2400" dirty="0"/>
                    </a:p>
                  </a:txBody>
                  <a:tcPr marL="86407" marR="86407" marT="34563" marB="3456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6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Procesare Text</a:t>
                      </a:r>
                      <a:endParaRPr sz="2400"/>
                    </a:p>
                  </a:txBody>
                  <a:tcPr marL="86407" marR="86407" marT="34563" marB="3456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MS Word, Google Docs</a:t>
                      </a:r>
                      <a:endParaRPr sz="2400"/>
                    </a:p>
                  </a:txBody>
                  <a:tcPr marL="86407" marR="86407" marT="34563" marB="3456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6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Calcul Tabelar</a:t>
                      </a:r>
                      <a:endParaRPr sz="2400"/>
                    </a:p>
                  </a:txBody>
                  <a:tcPr marL="86407" marR="86407" marT="34563" marB="3456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MS Excel, Google Sheets</a:t>
                      </a:r>
                      <a:endParaRPr sz="2400"/>
                    </a:p>
                  </a:txBody>
                  <a:tcPr marL="86407" marR="86407" marT="34563" marB="3456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6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Baze de Date</a:t>
                      </a:r>
                      <a:endParaRPr sz="2400"/>
                    </a:p>
                  </a:txBody>
                  <a:tcPr marL="86407" marR="86407" marT="34563" marB="3456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Oracle, MySQL, Access</a:t>
                      </a:r>
                      <a:endParaRPr sz="2400"/>
                    </a:p>
                  </a:txBody>
                  <a:tcPr marL="86407" marR="86407" marT="34563" marB="3456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6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Grafică</a:t>
                      </a:r>
                      <a:endParaRPr sz="2400"/>
                    </a:p>
                  </a:txBody>
                  <a:tcPr marL="86407" marR="86407" marT="34563" marB="3456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Photoshop, Illustrator</a:t>
                      </a:r>
                      <a:endParaRPr sz="2400" dirty="0"/>
                    </a:p>
                  </a:txBody>
                  <a:tcPr marL="86407" marR="86407" marT="34563" marB="3456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6" name="Google Shape;406;p40"/>
          <p:cNvSpPr/>
          <p:nvPr/>
        </p:nvSpPr>
        <p:spPr>
          <a:xfrm>
            <a:off x="4205287" y="3114675"/>
            <a:ext cx="1495425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0"/>
          <p:cNvSpPr/>
          <p:nvPr/>
        </p:nvSpPr>
        <p:spPr>
          <a:xfrm>
            <a:off x="5700712" y="3114675"/>
            <a:ext cx="2286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0"/>
          <p:cNvSpPr/>
          <p:nvPr/>
        </p:nvSpPr>
        <p:spPr>
          <a:xfrm>
            <a:off x="4205287" y="3709987"/>
            <a:ext cx="1495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0"/>
          <p:cNvSpPr/>
          <p:nvPr/>
        </p:nvSpPr>
        <p:spPr>
          <a:xfrm>
            <a:off x="5700712" y="3709987"/>
            <a:ext cx="2286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0"/>
          <p:cNvSpPr/>
          <p:nvPr/>
        </p:nvSpPr>
        <p:spPr>
          <a:xfrm>
            <a:off x="4205287" y="4291012"/>
            <a:ext cx="1495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0"/>
          <p:cNvSpPr/>
          <p:nvPr/>
        </p:nvSpPr>
        <p:spPr>
          <a:xfrm>
            <a:off x="5700712" y="4291012"/>
            <a:ext cx="2286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0"/>
          <p:cNvSpPr/>
          <p:nvPr/>
        </p:nvSpPr>
        <p:spPr>
          <a:xfrm>
            <a:off x="4205287" y="4872037"/>
            <a:ext cx="1495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0"/>
          <p:cNvSpPr/>
          <p:nvPr/>
        </p:nvSpPr>
        <p:spPr>
          <a:xfrm>
            <a:off x="5700712" y="4872037"/>
            <a:ext cx="2286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0"/>
          <p:cNvSpPr/>
          <p:nvPr/>
        </p:nvSpPr>
        <p:spPr>
          <a:xfrm>
            <a:off x="4205287" y="5453062"/>
            <a:ext cx="1495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0"/>
          <p:cNvSpPr/>
          <p:nvPr/>
        </p:nvSpPr>
        <p:spPr>
          <a:xfrm>
            <a:off x="5700712" y="5453062"/>
            <a:ext cx="2286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0"/>
          <p:cNvSpPr txBox="1"/>
          <p:nvPr/>
        </p:nvSpPr>
        <p:spPr>
          <a:xfrm>
            <a:off x="571500" y="13906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Sinteza Pachetelor Software</a:t>
            </a:r>
            <a:endParaRPr/>
          </a:p>
        </p:txBody>
      </p:sp>
      <p:sp>
        <p:nvSpPr>
          <p:cNvPr id="417" name="Google Shape;417;p40"/>
          <p:cNvSpPr/>
          <p:nvPr/>
        </p:nvSpPr>
        <p:spPr>
          <a:xfrm>
            <a:off x="571500" y="205740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00375"/>
            <a:ext cx="11049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1"/>
          <p:cNvSpPr txBox="1"/>
          <p:nvPr/>
        </p:nvSpPr>
        <p:spPr>
          <a:xfrm>
            <a:off x="857250" y="3286125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Alegerea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pachetului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programe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corect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determinată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cerințele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sarcinii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lucru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resursele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hardware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disponibile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425" name="Google Shape;425;p41"/>
          <p:cNvSpPr txBox="1"/>
          <p:nvPr/>
        </p:nvSpPr>
        <p:spPr>
          <a:xfrm>
            <a:off x="857250" y="4158343"/>
            <a:ext cx="104775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acestora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într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-un flux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lucru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unitar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cheia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eficienței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moderne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426" name="Google Shape;426;p41"/>
          <p:cNvSpPr txBox="1"/>
          <p:nvPr/>
        </p:nvSpPr>
        <p:spPr>
          <a:xfrm>
            <a:off x="571500" y="202882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Concluzie</a:t>
            </a:r>
            <a:endParaRPr/>
          </a:p>
        </p:txBody>
      </p:sp>
      <p:sp>
        <p:nvSpPr>
          <p:cNvPr id="427" name="Google Shape;427;p41"/>
          <p:cNvSpPr/>
          <p:nvPr/>
        </p:nvSpPr>
        <p:spPr>
          <a:xfrm>
            <a:off x="571500" y="269557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2"/>
          <p:cNvSpPr txBox="1"/>
          <p:nvPr/>
        </p:nvSpPr>
        <p:spPr>
          <a:xfrm>
            <a:off x="3895725" y="2109787"/>
            <a:ext cx="44005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Întrebări?</a:t>
            </a:r>
            <a:endParaRPr/>
          </a:p>
        </p:txBody>
      </p:sp>
      <p:sp>
        <p:nvSpPr>
          <p:cNvPr id="434" name="Google Shape;434;p42"/>
          <p:cNvSpPr txBox="1"/>
          <p:nvPr/>
        </p:nvSpPr>
        <p:spPr>
          <a:xfrm>
            <a:off x="4000500" y="3443287"/>
            <a:ext cx="4191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Vă</a:t>
            </a:r>
            <a:r>
              <a:rPr lang="en-US" sz="21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mulțumesc</a:t>
            </a:r>
            <a:r>
              <a:rPr lang="en-US" sz="21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21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atenție</a:t>
            </a:r>
            <a:r>
              <a:rPr lang="en-US" sz="21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831</Words>
  <Application>Microsoft Office PowerPoint</Application>
  <PresentationFormat>Widescreen</PresentationFormat>
  <Paragraphs>121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Calibri</vt:lpstr>
      <vt:lpstr>Lato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Cazacu-Condrat Dumitru</cp:lastModifiedBy>
  <cp:revision>48</cp:revision>
  <dcterms:modified xsi:type="dcterms:W3CDTF">2026-02-10T07:05:19Z</dcterms:modified>
</cp:coreProperties>
</file>