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12192000" cy="6858000"/>
  <p:notesSz cx="6858000" cy="9144000"/>
  <p:embeddedFontLst>
    <p:embeddedFont>
      <p:font typeface="Inter" panose="020B0604020202020204" charset="0"/>
      <p:regular r:id="rId4"/>
      <p:bold r:id="rId5"/>
      <p:italic r:id="rId6"/>
      <p:boldItalic r:id="rId7"/>
    </p:embeddedFont>
    <p:embeddedFont>
      <p:font typeface="Inter ExtraBold" panose="020B0604020202020204" charset="0"/>
      <p:bold r:id="rId8"/>
      <p:boldItalic r:id="rId9"/>
    </p:embeddedFont>
    <p:embeddedFont>
      <p:font typeface="Inter Medium" panose="020B0604020202020204" charset="0"/>
      <p:regular r:id="rId10"/>
      <p:bold r:id="rId11"/>
      <p:italic r:id="rId12"/>
      <p:boldItalic r:id="rId13"/>
    </p:embeddedFont>
    <p:embeddedFont>
      <p:font typeface="Inter SemiBold" panose="020B0604020202020204" charset="0"/>
      <p:regular r:id="rId14"/>
      <p:bold r:id="rId15"/>
      <p:italic r:id="rId16"/>
      <p:boldItalic r:id="rId17"/>
    </p:embeddedFont>
    <p:embeddedFont>
      <p:font typeface="Montserrat" panose="00000500000000000000" pitchFamily="2" charset="0"/>
      <p:regular r:id="rId18"/>
      <p:bold r:id="rId19"/>
      <p:italic r:id="rId20"/>
      <p:boldItalic r:id="rId21"/>
    </p:embeddedFont>
    <p:embeddedFont>
      <p:font typeface="Montserrat Black" panose="00000A00000000000000" pitchFamily="2" charset="0"/>
      <p:bold r:id="rId22"/>
      <p:boldItalic r:id="rId23"/>
    </p:embeddedFont>
    <p:embeddedFont>
      <p:font typeface="Montserrat ExtraBold" panose="00000900000000000000" pitchFamily="2" charset="0"/>
      <p:bold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font" Target="fonts/font15.fntdata"/><Relationship Id="rId26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font" Target="fonts/font18.fntdata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font" Target="fonts/font14.fntdata"/><Relationship Id="rId25" Type="http://schemas.openxmlformats.org/officeDocument/2006/relationships/font" Target="fonts/font22.fntdata"/><Relationship Id="rId2" Type="http://schemas.openxmlformats.org/officeDocument/2006/relationships/slide" Target="slides/slide1.xml"/><Relationship Id="rId16" Type="http://schemas.openxmlformats.org/officeDocument/2006/relationships/font" Target="fonts/font13.fntdata"/><Relationship Id="rId20" Type="http://schemas.openxmlformats.org/officeDocument/2006/relationships/font" Target="fonts/font17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24" Type="http://schemas.openxmlformats.org/officeDocument/2006/relationships/font" Target="fonts/font21.fntdata"/><Relationship Id="rId5" Type="http://schemas.openxmlformats.org/officeDocument/2006/relationships/font" Target="fonts/font2.fntdata"/><Relationship Id="rId15" Type="http://schemas.openxmlformats.org/officeDocument/2006/relationships/font" Target="fonts/font12.fntdata"/><Relationship Id="rId23" Type="http://schemas.openxmlformats.org/officeDocument/2006/relationships/font" Target="fonts/font20.fntdata"/><Relationship Id="rId28" Type="http://schemas.openxmlformats.org/officeDocument/2006/relationships/theme" Target="theme/theme1.xml"/><Relationship Id="rId10" Type="http://schemas.openxmlformats.org/officeDocument/2006/relationships/font" Target="fonts/font7.fntdata"/><Relationship Id="rId19" Type="http://schemas.openxmlformats.org/officeDocument/2006/relationships/font" Target="fonts/font16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Relationship Id="rId22" Type="http://schemas.openxmlformats.org/officeDocument/2006/relationships/font" Target="fonts/font19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10400" y="0"/>
            <a:ext cx="5181600" cy="590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38850" y="5905500"/>
            <a:ext cx="615315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5905500"/>
            <a:ext cx="67056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714375" y="2631727"/>
            <a:ext cx="5981104" cy="60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Vă</a:t>
            </a:r>
            <a:r>
              <a:rPr lang="en-US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oferim</a:t>
            </a:r>
            <a:r>
              <a:rPr lang="en-US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oportunitatea</a:t>
            </a:r>
            <a:r>
              <a:rPr lang="en-US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 a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deveni</a:t>
            </a:r>
            <a:r>
              <a:rPr lang="en-US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un bun specialist de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elită</a:t>
            </a:r>
            <a:r>
              <a:rPr lang="en-US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în</a:t>
            </a:r>
            <a:r>
              <a:rPr lang="en-US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următoarele</a:t>
            </a:r>
            <a:r>
              <a:rPr lang="en-US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specialități</a:t>
            </a:r>
            <a:r>
              <a:rPr lang="en-US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perspectivă</a:t>
            </a:r>
            <a:r>
              <a:rPr lang="en-US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sz="1600" dirty="0"/>
          </a:p>
        </p:txBody>
      </p:sp>
      <p:pic>
        <p:nvPicPr>
          <p:cNvPr id="89" name="Google Shape;89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14375" y="6124575"/>
            <a:ext cx="51435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1419225" y="6141839"/>
            <a:ext cx="1371600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0231 7-03-98</a:t>
            </a:r>
            <a:r>
              <a:rPr lang="en-US"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0231 7-03-00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6991350" y="6176962"/>
            <a:ext cx="52006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C59B27"/>
                </a:solidFill>
                <a:latin typeface="Montserrat"/>
                <a:ea typeface="Montserrat"/>
                <a:cs typeface="Montserrat"/>
                <a:sym typeface="Montserrat"/>
              </a:rPr>
              <a:t>ADRESA: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991350" y="6367462"/>
            <a:ext cx="52006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F1F5F9"/>
                </a:solidFill>
                <a:latin typeface="Inter Medium"/>
                <a:ea typeface="Inter Medium"/>
                <a:cs typeface="Inter Medium"/>
                <a:sym typeface="Inter Medium"/>
              </a:rPr>
              <a:t>MUN. BĂLȚI, STR. DECEBAL 101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1228726" y="1566140"/>
            <a:ext cx="5052332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0" i="0" u="none" strike="noStrike" cap="none" dirty="0">
                <a:solidFill>
                  <a:srgbClr val="1E293B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ADMITERE </a:t>
            </a:r>
            <a:r>
              <a:rPr lang="en-US" sz="4500" b="0" i="0" u="none" strike="noStrike" cap="none" dirty="0">
                <a:solidFill>
                  <a:srgbClr val="C59B2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2026</a:t>
            </a:r>
            <a:endParaRPr dirty="0"/>
          </a:p>
        </p:txBody>
      </p:sp>
      <p:sp>
        <p:nvSpPr>
          <p:cNvPr id="94" name="Google Shape;94;p13"/>
          <p:cNvSpPr txBox="1"/>
          <p:nvPr/>
        </p:nvSpPr>
        <p:spPr>
          <a:xfrm>
            <a:off x="1123950" y="3746718"/>
            <a:ext cx="432689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 err="1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Traficul</a:t>
            </a:r>
            <a:r>
              <a:rPr lang="en-US" b="0" i="0" u="none" strike="noStrike" cap="none" dirty="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  <a:r>
              <a:rPr lang="en-US" b="0" i="0" u="none" strike="noStrike" cap="none" dirty="0" err="1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feroviar</a:t>
            </a:r>
            <a:r>
              <a:rPr lang="en-US" b="0" i="0" u="none" strike="noStrike" cap="none" dirty="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de </a:t>
            </a:r>
            <a:r>
              <a:rPr lang="en-US" b="0" i="0" u="none" strike="noStrike" cap="none" dirty="0" err="1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mărfuri</a:t>
            </a:r>
            <a:r>
              <a:rPr lang="en-US" b="0" i="0" u="none" strike="noStrike" cap="none" dirty="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  <a:r>
              <a:rPr lang="en-US" b="0" i="0" u="none" strike="noStrike" cap="none" dirty="0" err="1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și</a:t>
            </a:r>
            <a:r>
              <a:rPr lang="en-US" b="0" i="0" u="none" strike="noStrike" cap="none" dirty="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  <a:r>
              <a:rPr lang="en-US" b="0" i="0" u="none" strike="noStrike" cap="none" dirty="0" err="1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pasageri</a:t>
            </a:r>
            <a:endParaRPr sz="1600" dirty="0"/>
          </a:p>
        </p:txBody>
      </p:sp>
      <p:sp>
        <p:nvSpPr>
          <p:cNvPr id="95" name="Google Shape;95;p13"/>
          <p:cNvSpPr txBox="1"/>
          <p:nvPr/>
        </p:nvSpPr>
        <p:spPr>
          <a:xfrm>
            <a:off x="1123950" y="4127718"/>
            <a:ext cx="416433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 err="1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Sisteme</a:t>
            </a:r>
            <a:r>
              <a:rPr lang="en-US" b="0" i="0" u="none" strike="noStrike" cap="none" dirty="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  <a:r>
              <a:rPr lang="en-US" b="0" i="0" u="none" strike="noStrike" cap="none" dirty="0" err="1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automatizate</a:t>
            </a:r>
            <a:r>
              <a:rPr lang="en-US" b="0" i="0" u="none" strike="noStrike" cap="none" dirty="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  <a:r>
              <a:rPr lang="en-US" b="0" i="0" u="none" strike="noStrike" cap="none" dirty="0" err="1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în</a:t>
            </a:r>
            <a:r>
              <a:rPr lang="en-US" b="0" i="0" u="none" strike="noStrike" cap="none" dirty="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  <a:r>
              <a:rPr lang="en-US" b="0" i="0" u="none" strike="noStrike" cap="none" dirty="0" err="1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transportul</a:t>
            </a:r>
            <a:r>
              <a:rPr lang="en-US" b="0" i="0" u="none" strike="noStrike" cap="none" dirty="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  <a:r>
              <a:rPr lang="en-US" b="0" i="0" u="none" strike="noStrike" cap="none" dirty="0" err="1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feroviar</a:t>
            </a:r>
            <a:endParaRPr sz="1600" dirty="0"/>
          </a:p>
        </p:txBody>
      </p:sp>
      <p:sp>
        <p:nvSpPr>
          <p:cNvPr id="96" name="Google Shape;96;p13"/>
          <p:cNvSpPr txBox="1"/>
          <p:nvPr/>
        </p:nvSpPr>
        <p:spPr>
          <a:xfrm>
            <a:off x="1123950" y="4508718"/>
            <a:ext cx="294005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 err="1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Traficul</a:t>
            </a:r>
            <a:r>
              <a:rPr lang="en-US" b="0" i="0" u="none" strike="noStrike" cap="none" dirty="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auto</a:t>
            </a:r>
            <a:endParaRPr sz="1600" dirty="0"/>
          </a:p>
        </p:txBody>
      </p:sp>
      <p:sp>
        <p:nvSpPr>
          <p:cNvPr id="97" name="Google Shape;97;p13"/>
          <p:cNvSpPr txBox="1"/>
          <p:nvPr/>
        </p:nvSpPr>
        <p:spPr>
          <a:xfrm>
            <a:off x="1123950" y="4881463"/>
            <a:ext cx="32639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 err="1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Administrarea</a:t>
            </a:r>
            <a:r>
              <a:rPr lang="en-US" b="0" i="0" u="none" strike="noStrike" cap="none" dirty="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  <a:r>
              <a:rPr lang="en-US" b="0" i="0" u="none" strike="noStrike" cap="none" dirty="0" err="1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bazelor</a:t>
            </a:r>
            <a:r>
              <a:rPr lang="en-US" b="0" i="0" u="none" strike="noStrike" cap="none" dirty="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de date</a:t>
            </a:r>
            <a:endParaRPr sz="1600" dirty="0"/>
          </a:p>
        </p:txBody>
      </p:sp>
      <p:sp>
        <p:nvSpPr>
          <p:cNvPr id="98" name="Google Shape;98;p13"/>
          <p:cNvSpPr txBox="1"/>
          <p:nvPr/>
        </p:nvSpPr>
        <p:spPr>
          <a:xfrm>
            <a:off x="1123950" y="5262463"/>
            <a:ext cx="302133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 err="1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Administrarea</a:t>
            </a:r>
            <a:r>
              <a:rPr lang="en-US" b="0" i="0" u="none" strike="noStrike" cap="none" dirty="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  <a:r>
              <a:rPr lang="en-US" b="0" i="0" u="none" strike="noStrike" cap="none" dirty="0" err="1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aplicațiilor</a:t>
            </a:r>
            <a:r>
              <a:rPr lang="en-US" b="0" i="0" u="none" strike="noStrike" cap="none" dirty="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web</a:t>
            </a:r>
            <a:endParaRPr sz="1600" dirty="0"/>
          </a:p>
        </p:txBody>
      </p:sp>
      <p:pic>
        <p:nvPicPr>
          <p:cNvPr id="99" name="Google Shape;99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6775" y="6276975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3"/>
          <p:cNvSpPr txBox="1"/>
          <p:nvPr/>
        </p:nvSpPr>
        <p:spPr>
          <a:xfrm>
            <a:off x="2391656" y="380612"/>
            <a:ext cx="309562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C59B27"/>
                </a:solidFill>
                <a:latin typeface="Montserrat"/>
                <a:ea typeface="Montserrat"/>
                <a:cs typeface="Montserrat"/>
                <a:sym typeface="Montserrat"/>
              </a:rPr>
              <a:t>INSTITUȚIA</a:t>
            </a:r>
            <a:r>
              <a:rPr lang="en-US" sz="975" b="1" i="0" u="none" strike="noStrike" cap="none" dirty="0">
                <a:solidFill>
                  <a:srgbClr val="C59B2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b="1" i="0" u="none" strike="noStrike" cap="none" dirty="0">
                <a:solidFill>
                  <a:srgbClr val="C59B27"/>
                </a:solidFill>
                <a:latin typeface="Montserrat"/>
                <a:ea typeface="Montserrat"/>
                <a:cs typeface="Montserrat"/>
                <a:sym typeface="Montserrat"/>
              </a:rPr>
              <a:t>PUBLICĂ</a:t>
            </a:r>
            <a:endParaRPr dirty="0"/>
          </a:p>
        </p:txBody>
      </p:sp>
      <p:sp>
        <p:nvSpPr>
          <p:cNvPr id="101" name="Google Shape;101;p13"/>
          <p:cNvSpPr txBox="1"/>
          <p:nvPr/>
        </p:nvSpPr>
        <p:spPr>
          <a:xfrm>
            <a:off x="1488710" y="827478"/>
            <a:ext cx="466063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 err="1">
                <a:solidFill>
                  <a:srgbClr val="1E293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Colegiul</a:t>
            </a:r>
            <a:r>
              <a:rPr lang="en-US" sz="1950" b="0" i="0" u="none" strike="noStrike" cap="none" dirty="0">
                <a:solidFill>
                  <a:srgbClr val="1E293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</a:t>
            </a:r>
            <a:r>
              <a:rPr lang="en-US" sz="1950" b="0" i="0" u="none" strike="noStrike" cap="none" dirty="0" err="1">
                <a:solidFill>
                  <a:srgbClr val="1E293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Tehnic</a:t>
            </a:r>
            <a:r>
              <a:rPr lang="en-US" sz="1950" b="0" i="0" u="none" strike="noStrike" cap="none" dirty="0">
                <a:solidFill>
                  <a:srgbClr val="1E293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</a:t>
            </a:r>
            <a:r>
              <a:rPr lang="en-US" sz="1950" b="0" i="0" u="none" strike="noStrike" cap="none" dirty="0" err="1">
                <a:solidFill>
                  <a:srgbClr val="1E293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Feroviar</a:t>
            </a:r>
            <a:r>
              <a:rPr lang="en-US" sz="1950" b="0" i="0" u="none" strike="noStrike" cap="none" dirty="0">
                <a:solidFill>
                  <a:srgbClr val="1E293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din </a:t>
            </a:r>
            <a:r>
              <a:rPr lang="en-US" sz="2000" b="0" i="0" u="none" strike="noStrike" cap="none" dirty="0" err="1">
                <a:solidFill>
                  <a:srgbClr val="1E293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Bălți</a:t>
            </a:r>
            <a:endParaRPr dirty="0"/>
          </a:p>
        </p:txBody>
      </p:sp>
      <p:pic>
        <p:nvPicPr>
          <p:cNvPr id="102" name="Google Shape;102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14375" y="378142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14375" y="4162425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14375" y="454342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3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14375" y="492442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3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14375" y="5305425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4FE4EEB-0198-F482-07A2-388AAF4C8E6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4076" y="100881"/>
            <a:ext cx="1266149" cy="1266149"/>
          </a:xfrm>
          <a:prstGeom prst="ellipse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52AD548-FF6E-70A7-4351-A096B611F6B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55039" y="2157727"/>
            <a:ext cx="3771775" cy="283145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60</Words>
  <Application>Microsoft Office PowerPoint</Application>
  <PresentationFormat>Widescreen</PresentationFormat>
  <Paragraphs>12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Inter ExtraBold</vt:lpstr>
      <vt:lpstr>Montserrat ExtraBold</vt:lpstr>
      <vt:lpstr>Montserrat</vt:lpstr>
      <vt:lpstr>Calibri</vt:lpstr>
      <vt:lpstr>Inter SemiBold</vt:lpstr>
      <vt:lpstr>Inter</vt:lpstr>
      <vt:lpstr>Arial</vt:lpstr>
      <vt:lpstr>Inter Medium</vt:lpstr>
      <vt:lpstr>Montserrat Black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Cazacu-Condrat Dumitru</cp:lastModifiedBy>
  <cp:revision>18</cp:revision>
  <dcterms:modified xsi:type="dcterms:W3CDTF">2026-06-26T14:45:04Z</dcterms:modified>
</cp:coreProperties>
</file>