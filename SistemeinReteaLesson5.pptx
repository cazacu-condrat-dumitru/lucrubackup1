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F63582-3DD2-46D1-A017-C592B8935500}">
  <a:tblStyle styleId="{F6F63582-3DD2-46D1-A017-C592B89355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33612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Metode de Instalare a Sistemelor de Operare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138612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Cazacu-Condrat Dumitru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7812"/>
            <a:ext cx="35559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547812"/>
            <a:ext cx="35559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547812"/>
            <a:ext cx="3556099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38587"/>
            <a:ext cx="35559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938587"/>
            <a:ext cx="35559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938587"/>
            <a:ext cx="3556099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79546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19150" y="2243137"/>
            <a:ext cx="32136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Instalarea Curată</a:t>
            </a:r>
            <a:endParaRPr sz="1800"/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2786062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nou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formatat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65600" y="179546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565600" y="2243137"/>
            <a:ext cx="32136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Upgrade Sistem</a:t>
            </a:r>
            <a:endParaRPr sz="1800"/>
          </a:p>
        </p:txBody>
      </p:sp>
      <p:sp>
        <p:nvSpPr>
          <p:cNvPr id="103" name="Google Shape;103;p14"/>
          <p:cNvSpPr txBox="1"/>
          <p:nvPr/>
        </p:nvSpPr>
        <p:spPr>
          <a:xfrm>
            <a:off x="4565600" y="2786062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Tranziția de la versiuni anterioare.</a:t>
            </a:r>
            <a:endParaRPr sz="180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12050" y="179546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312050" y="2243137"/>
            <a:ext cx="32138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Multi-Boot</a:t>
            </a:r>
            <a:endParaRPr sz="1800"/>
          </a:p>
        </p:txBody>
      </p:sp>
      <p:sp>
        <p:nvSpPr>
          <p:cNvPr id="106" name="Google Shape;106;p14"/>
          <p:cNvSpPr txBox="1"/>
          <p:nvPr/>
        </p:nvSpPr>
        <p:spPr>
          <a:xfrm>
            <a:off x="8312050" y="2786062"/>
            <a:ext cx="30607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Rularea mai multor SO pe același hardware.</a:t>
            </a:r>
            <a:endParaRPr sz="1800"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41862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19150" y="4633912"/>
            <a:ext cx="32136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Instalare Automată</a:t>
            </a:r>
            <a:endParaRPr sz="1800"/>
          </a:p>
        </p:txBody>
      </p:sp>
      <p:sp>
        <p:nvSpPr>
          <p:cNvPr id="109" name="Google Shape;109;p14"/>
          <p:cNvSpPr txBox="1"/>
          <p:nvPr/>
        </p:nvSpPr>
        <p:spPr>
          <a:xfrm>
            <a:off x="819150" y="5176837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Automatizarea prin fișiere de răspuns.</a:t>
            </a:r>
            <a:endParaRPr sz="1800"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65600" y="41862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565600" y="4633912"/>
            <a:ext cx="32136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Instalare la Distanță</a:t>
            </a:r>
            <a:endParaRPr sz="1800"/>
          </a:p>
        </p:txBody>
      </p:sp>
      <p:sp>
        <p:nvSpPr>
          <p:cNvPr id="112" name="Google Shape;112;p14"/>
          <p:cNvSpPr txBox="1"/>
          <p:nvPr/>
        </p:nvSpPr>
        <p:spPr>
          <a:xfrm>
            <a:off x="4565600" y="5176837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Deployment prin rețea la scară largă.</a:t>
            </a:r>
            <a:endParaRPr sz="1800"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12050" y="41862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8312050" y="4633912"/>
            <a:ext cx="32138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Testare &amp; QA</a:t>
            </a:r>
            <a:endParaRPr sz="1800"/>
          </a:p>
        </p:txBody>
      </p:sp>
      <p:sp>
        <p:nvSpPr>
          <p:cNvPr id="115" name="Google Shape;115;p14"/>
          <p:cNvSpPr txBox="1"/>
          <p:nvPr/>
        </p:nvSpPr>
        <p:spPr>
          <a:xfrm>
            <a:off x="8312050" y="5176837"/>
            <a:ext cx="30607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Validarea integrității post-instalare.</a:t>
            </a:r>
            <a:endParaRPr sz="1800"/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Agenda </a:t>
            </a:r>
            <a:r>
              <a:rPr lang="en-US" sz="32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Cursului</a:t>
            </a:r>
            <a:endParaRPr sz="3200" dirty="0"/>
          </a:p>
        </p:txBody>
      </p:sp>
      <p:sp>
        <p:nvSpPr>
          <p:cNvPr id="117" name="Google Shape;117;p14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95687"/>
            <a:ext cx="11049000" cy="135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2535691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Alegerea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corecte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influențează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performanța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timpul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mentenanță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819150" y="3843337"/>
            <a:ext cx="10553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Factorii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decizie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includ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numărul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mașini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existent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păstra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setările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 ce este importantă metoda?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5619750" y="3024187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295275" y="32623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01.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Instalarea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pe „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Curat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359568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Fundamentul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performanței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maxime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2857500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Definiție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Concept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3400425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Reprezintă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un disc dur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ștergerea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existente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5000625"/>
            <a:ext cx="5334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recomandată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computerele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când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actual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corupt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iremediabil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4150" y="3262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534150" y="3709987"/>
            <a:ext cx="4838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malware-ul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ascuns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reziduale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acumulate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timp.</a:t>
            </a:r>
            <a:endParaRPr sz="18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Ce înseamnă Clean Install?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7037"/>
            <a:ext cx="53340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67037"/>
            <a:ext cx="53340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819150" y="3214687"/>
            <a:ext cx="50806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Formatarea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19150" y="3757612"/>
            <a:ext cx="4838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Pregătește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(NTFS, FAT32, EXT4)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șterge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toți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indicii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către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6534150" y="3214687"/>
            <a:ext cx="50806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Partiționarea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34150" y="3757612"/>
            <a:ext cx="4838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Divizarea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unități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separa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Pregătirea Mediului de Stocare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00100" y="3128962"/>
            <a:ext cx="152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2986087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pe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(USB/DVD).</a:t>
            </a:r>
            <a:endParaRPr sz="1800"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952500" y="3336711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limbii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tastaturii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00100" y="3761093"/>
            <a:ext cx="152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952500" y="3700462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Manevrarea </a:t>
            </a:r>
            <a:r>
              <a:rPr lang="en-US" sz="180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partițiilor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ștergerea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volumelor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3986212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propriu-zisă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800100" y="4330047"/>
            <a:ext cx="152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952500" y="4271962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inițială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(OOBE).</a:t>
            </a:r>
            <a:endParaRPr sz="180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Pașii Instalării pe Curat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0;p19">
            <a:extLst>
              <a:ext uri="{FF2B5EF4-FFF2-40B4-BE49-F238E27FC236}">
                <a16:creationId xmlns:a16="http://schemas.microsoft.com/office/drawing/2014/main" id="{310E5053-40A2-8FC6-8539-BCA8D6D5B2BC}"/>
              </a:ext>
            </a:extLst>
          </p:cNvPr>
          <p:cNvSpPr txBox="1"/>
          <p:nvPr/>
        </p:nvSpPr>
        <p:spPr>
          <a:xfrm>
            <a:off x="800100" y="4068589"/>
            <a:ext cx="152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dirty="0"/>
          </a:p>
        </p:txBody>
      </p:sp>
      <p:sp>
        <p:nvSpPr>
          <p:cNvPr id="3" name="Google Shape;166;p19">
            <a:extLst>
              <a:ext uri="{FF2B5EF4-FFF2-40B4-BE49-F238E27FC236}">
                <a16:creationId xmlns:a16="http://schemas.microsoft.com/office/drawing/2014/main" id="{43F3DCE3-0C52-208E-14A3-1DDB393232C8}"/>
              </a:ext>
            </a:extLst>
          </p:cNvPr>
          <p:cNvSpPr txBox="1"/>
          <p:nvPr/>
        </p:nvSpPr>
        <p:spPr>
          <a:xfrm>
            <a:off x="800100" y="3414712"/>
            <a:ext cx="1524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dirty="0"/>
          </a:p>
        </p:txBody>
      </p:sp>
      <p:pic>
        <p:nvPicPr>
          <p:cNvPr id="1026" name="Picture 2" descr="What is a clean install?">
            <a:extLst>
              <a:ext uri="{FF2B5EF4-FFF2-40B4-BE49-F238E27FC236}">
                <a16:creationId xmlns:a16="http://schemas.microsoft.com/office/drawing/2014/main" id="{48A57ED9-379D-2C97-96EF-A73AC3BA1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607" y="2357772"/>
            <a:ext cx="5511643" cy="325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478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286500" y="271462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Interfața de Gestiune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286500" y="3257550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acest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punct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administratorul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decide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Spațiul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"Unallocated"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date.</a:t>
            </a:r>
            <a:endParaRPr sz="1800"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6286500" y="4823772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Sfat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Păstrați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separată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facilita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reinstalările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viitoare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Gestiunea Partițiilor în Setup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0862"/>
            <a:ext cx="53340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47986"/>
            <a:ext cx="533400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824865" y="3387498"/>
            <a:ext cx="50806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Avantaje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19150" y="3919537"/>
            <a:ext cx="4838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Viteză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zero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conflicte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software,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ridicată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6534150" y="3233737"/>
            <a:ext cx="50806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Dezavantaje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534150" y="3776662"/>
            <a:ext cx="4838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backup manual,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tuturor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aplicațiilor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reconfigurarea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setărilor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Avantaje și Dezavantaje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5619750" y="3024187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295275" y="32623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02. Instalarea de tip Upgrade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59568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Evoluție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controlată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versiuni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95687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571500" y="2640865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treacă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versiune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nouă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(ex: Windows 10 la 11)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fără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pierde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personale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218" name="Google Shape;218;p23"/>
          <p:cNvSpPr txBox="1"/>
          <p:nvPr/>
        </p:nvSpPr>
        <p:spPr>
          <a:xfrm>
            <a:off x="819150" y="3843337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verifică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compatibilitatea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aplicațiilor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driverelor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înainte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începe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migrarea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19" name="Google Shape;219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Logica Procesului de Upgrade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952500" y="1719323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Hardware: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CPU, RAM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TPM 2.0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 11).</a:t>
            </a:r>
            <a:endParaRPr sz="1800" dirty="0"/>
          </a:p>
        </p:txBody>
      </p:sp>
      <p:sp>
        <p:nvSpPr>
          <p:cNvPr id="229" name="Google Shape;229;p24"/>
          <p:cNvSpPr txBox="1"/>
          <p:nvPr/>
        </p:nvSpPr>
        <p:spPr>
          <a:xfrm>
            <a:off x="952500" y="2456290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Software: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care pot genera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conflicte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31" name="Google Shape;231;p24"/>
          <p:cNvSpPr txBox="1"/>
          <p:nvPr/>
        </p:nvSpPr>
        <p:spPr>
          <a:xfrm>
            <a:off x="952500" y="3148693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Spațiu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Necesită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spațiu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suplimentar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directorul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Windows.old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 sz="1800" dirty="0"/>
          </a:p>
        </p:txBody>
      </p:sp>
      <p:sp>
        <p:nvSpPr>
          <p:cNvPr id="232" name="Google Shape;232;p2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Verificarea Compatibilității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478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6286500" y="2857500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Alegerea Corectă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6286500" y="3400425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Opțiunea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"Keep personal files and apps"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inima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upgrade.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Aceasta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asigură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continuitatea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fluxului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lucru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43" name="Google Shape;243;p25"/>
          <p:cNvSpPr txBox="1"/>
          <p:nvPr/>
        </p:nvSpPr>
        <p:spPr>
          <a:xfrm>
            <a:off x="6286500" y="4895210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opțiunea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versiunile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 nu sunt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(ex: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arhitectură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32-bit la 64-bit).</a:t>
            </a:r>
            <a:endParaRPr sz="1800" dirty="0"/>
          </a:p>
        </p:txBody>
      </p:sp>
      <p:sp>
        <p:nvSpPr>
          <p:cNvPr id="244" name="Google Shape;244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Opțiunile de Upgrade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050"/>
            <a:ext cx="1104900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14775"/>
            <a:ext cx="110490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/>
        </p:nvSpPr>
        <p:spPr>
          <a:xfrm>
            <a:off x="819150" y="2552700"/>
            <a:ext cx="110813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In-place Upgrade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819150" y="3095625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Modificarea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actual.</a:t>
            </a:r>
            <a:endParaRPr sz="1800" dirty="0"/>
          </a:p>
        </p:txBody>
      </p:sp>
      <p:sp>
        <p:nvSpPr>
          <p:cNvPr id="255" name="Google Shape;255;p26"/>
          <p:cNvSpPr txBox="1"/>
          <p:nvPr/>
        </p:nvSpPr>
        <p:spPr>
          <a:xfrm>
            <a:off x="819150" y="4162425"/>
            <a:ext cx="110813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Side-by-side Migration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819150" y="4705350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unelte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(ex: USMT)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muta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un hardware nou.</a:t>
            </a:r>
            <a:endParaRPr sz="1800" dirty="0"/>
          </a:p>
        </p:txBody>
      </p:sp>
      <p:sp>
        <p:nvSpPr>
          <p:cNvPr id="257" name="Google Shape;257;p2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Migrarea vs Înlocuirea</a:t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95687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571500" y="2212181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moșteni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erori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stabilitate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"bloatware".</a:t>
            </a:r>
            <a:endParaRPr sz="1800" dirty="0"/>
          </a:p>
        </p:txBody>
      </p:sp>
      <p:sp>
        <p:nvSpPr>
          <p:cNvPr id="266" name="Google Shape;266;p27"/>
          <p:cNvSpPr txBox="1"/>
          <p:nvPr/>
        </p:nvSpPr>
        <p:spPr>
          <a:xfrm>
            <a:off x="857250" y="3843337"/>
            <a:ext cx="10515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Atenție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cauza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ecrane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albastre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(BSOD)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67" name="Google Shape;267;p2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Riscurile Sistemelor Vechi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/>
          <p:nvPr/>
        </p:nvSpPr>
        <p:spPr>
          <a:xfrm>
            <a:off x="5619750" y="3024187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295275" y="32623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03. Instalarea Multi-Boot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571500" y="359568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Coexistența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universuri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software</a:t>
            </a:r>
            <a:endParaRPr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514"/>
            <a:ext cx="11049000" cy="121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571500" y="1630018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două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separate ale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aceluiași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disc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84" name="Google Shape;284;p29"/>
          <p:cNvSpPr txBox="1"/>
          <p:nvPr/>
        </p:nvSpPr>
        <p:spPr>
          <a:xfrm>
            <a:off x="819150" y="2410164"/>
            <a:ext cx="105537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pornirea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alege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intermediul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meniu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boot care SO să fie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încărcat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85" name="Google Shape;285;p2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Conceptul Dual sau Multi-Boot</a:t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4" name="Picture 6" descr="Multi-booting - Wikipedia">
            <a:extLst>
              <a:ext uri="{FF2B5EF4-FFF2-40B4-BE49-F238E27FC236}">
                <a16:creationId xmlns:a16="http://schemas.microsoft.com/office/drawing/2014/main" id="{AD83435F-C333-BC38-93A0-6E2F5AAEB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355" y="3488811"/>
            <a:ext cx="5961289" cy="313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478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/>
        </p:nvSpPr>
        <p:spPr>
          <a:xfrm>
            <a:off x="6286500" y="220027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Separarea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Fizică</a:t>
            </a:r>
            <a:endParaRPr dirty="0"/>
          </a:p>
        </p:txBody>
      </p:sp>
      <p:sp>
        <p:nvSpPr>
          <p:cNvPr id="295" name="Google Shape;295;p30"/>
          <p:cNvSpPr txBox="1"/>
          <p:nvPr/>
        </p:nvSpPr>
        <p:spPr>
          <a:xfrm>
            <a:off x="6286500" y="2620015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Fiecare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 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nevoie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propria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primară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Windows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preferă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NTFS,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timp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Linux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obicei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EXT4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Swap.</a:t>
            </a:r>
            <a:endParaRPr sz="1800" dirty="0"/>
          </a:p>
        </p:txBody>
      </p:sp>
      <p:sp>
        <p:nvSpPr>
          <p:cNvPr id="296" name="Google Shape;296;p30"/>
          <p:cNvSpPr txBox="1"/>
          <p:nvPr/>
        </p:nvSpPr>
        <p:spPr>
          <a:xfrm>
            <a:off x="6286500" y="4257675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vital ca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nu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încerce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aceleași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sectoare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97" name="Google Shape;297;p3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Organizarea Partițiilor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571500" y="1478176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program mic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încărcat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BIOS/UEFI care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oferă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selecție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06" name="Google Shape;306;p31"/>
          <p:cNvSpPr txBox="1"/>
          <p:nvPr/>
        </p:nvSpPr>
        <p:spPr>
          <a:xfrm>
            <a:off x="952500" y="2283279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GRUB: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Linux,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capabil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detecteze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Windows.</a:t>
            </a:r>
            <a:endParaRPr sz="1800" dirty="0"/>
          </a:p>
        </p:txBody>
      </p:sp>
      <p:sp>
        <p:nvSpPr>
          <p:cNvPr id="308" name="Google Shape;308;p31"/>
          <p:cNvSpPr txBox="1"/>
          <p:nvPr/>
        </p:nvSpPr>
        <p:spPr>
          <a:xfrm>
            <a:off x="952500" y="2904224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Windows Boot Manager: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Gestionează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versiunile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Windows.</a:t>
            </a:r>
            <a:endParaRPr sz="1800" dirty="0"/>
          </a:p>
        </p:txBody>
      </p:sp>
      <p:sp>
        <p:nvSpPr>
          <p:cNvPr id="310" name="Google Shape;310;p31"/>
          <p:cNvSpPr txBox="1"/>
          <p:nvPr/>
        </p:nvSpPr>
        <p:spPr>
          <a:xfrm>
            <a:off x="952500" y="3599769"/>
            <a:ext cx="10668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BCDEdit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Unealta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boot-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Windows.</a:t>
            </a:r>
            <a:endParaRPr sz="1800" dirty="0"/>
          </a:p>
        </p:txBody>
      </p:sp>
      <p:sp>
        <p:nvSpPr>
          <p:cNvPr id="311" name="Google Shape;311;p3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Managerul de Boot</a:t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478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2"/>
          <p:cNvSpPr txBox="1"/>
          <p:nvPr/>
        </p:nvSpPr>
        <p:spPr>
          <a:xfrm>
            <a:off x="6286500" y="202882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Interacțiunea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Utilizatorului</a:t>
            </a:r>
            <a:endParaRPr dirty="0"/>
          </a:p>
        </p:txBody>
      </p:sp>
      <p:sp>
        <p:nvSpPr>
          <p:cNvPr id="321" name="Google Shape;321;p32"/>
          <p:cNvSpPr txBox="1"/>
          <p:nvPr/>
        </p:nvSpPr>
        <p:spPr>
          <a:xfrm>
            <a:off x="6286500" y="2705740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Aici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decide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lucru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Meniul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obicei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timer care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încarcă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implicit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după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număr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secunde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22" name="Google Shape;322;p32"/>
          <p:cNvSpPr txBox="1"/>
          <p:nvPr/>
        </p:nvSpPr>
        <p:spPr>
          <a:xfrm>
            <a:off x="6286499" y="4257675"/>
            <a:ext cx="58769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Atenție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Windows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după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Linux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suprascrie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GRUB-ul,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făcând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Linux-ul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inaccesibil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fără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reparații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23" name="Google Shape;323;p3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Meniul de Selecție la Start</a:t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71812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571500" y="4186237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scenarii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(UEFI),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coexista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pașnic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partiția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EFI,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managementul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ordinii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boot din BIOS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rămâne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crucial.</a:t>
            </a:r>
            <a:endParaRPr sz="1800" dirty="0"/>
          </a:p>
        </p:txBody>
      </p:sp>
      <p:sp>
        <p:nvSpPr>
          <p:cNvPr id="332" name="Google Shape;332;p33"/>
          <p:cNvSpPr txBox="1"/>
          <p:nvPr/>
        </p:nvSpPr>
        <p:spPr>
          <a:xfrm>
            <a:off x="819150" y="3319462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recomandă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apoi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cel nou.</a:t>
            </a:r>
            <a:endParaRPr sz="1800" dirty="0"/>
          </a:p>
        </p:txBody>
      </p:sp>
      <p:sp>
        <p:nvSpPr>
          <p:cNvPr id="333" name="Google Shape;333;p3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Ordinea Sistemelor</a:t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/>
          <p:nvPr/>
        </p:nvSpPr>
        <p:spPr>
          <a:xfrm>
            <a:off x="5619750" y="3024187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295275" y="32623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04. Instalarea în Mod Automat</a:t>
            </a:r>
            <a:endParaRPr/>
          </a:p>
        </p:txBody>
      </p:sp>
      <p:sp>
        <p:nvSpPr>
          <p:cNvPr id="342" name="Google Shape;342;p34"/>
          <p:cNvSpPr txBox="1"/>
          <p:nvPr/>
        </p:nvSpPr>
        <p:spPr>
          <a:xfrm>
            <a:off x="571500" y="359568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Eficiență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intervenției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umane</a:t>
            </a:r>
            <a:endParaRPr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4851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5"/>
          <p:cNvSpPr txBox="1"/>
          <p:nvPr/>
        </p:nvSpPr>
        <p:spPr>
          <a:xfrm>
            <a:off x="571500" y="1270426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fără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răspundă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întrebările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regiune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800" dirty="0"/>
          </a:p>
        </p:txBody>
      </p:sp>
      <p:sp>
        <p:nvSpPr>
          <p:cNvPr id="350" name="Google Shape;350;p35"/>
          <p:cNvSpPr txBox="1"/>
          <p:nvPr/>
        </p:nvSpPr>
        <p:spPr>
          <a:xfrm>
            <a:off x="819150" y="2632501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răspunsurile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sunt pre-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stocate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într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special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citit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51" name="Google Shape;351;p3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Instalarea Unattended</a:t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8" name="Picture 6" descr="Unattended Installation - an overview | ScienceDirect Topics">
            <a:extLst>
              <a:ext uri="{FF2B5EF4-FFF2-40B4-BE49-F238E27FC236}">
                <a16:creationId xmlns:a16="http://schemas.microsoft.com/office/drawing/2014/main" id="{19C11321-7EA5-2753-6D3A-3C5AEEF26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602" y="3429000"/>
            <a:ext cx="240982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478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6"/>
          <p:cNvSpPr txBox="1"/>
          <p:nvPr/>
        </p:nvSpPr>
        <p:spPr>
          <a:xfrm>
            <a:off x="6286500" y="2057400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Unattend.xml</a:t>
            </a:r>
            <a:endParaRPr dirty="0"/>
          </a:p>
        </p:txBody>
      </p:sp>
      <p:sp>
        <p:nvSpPr>
          <p:cNvPr id="361" name="Google Shape;361;p36"/>
          <p:cNvSpPr txBox="1"/>
          <p:nvPr/>
        </p:nvSpPr>
        <p:spPr>
          <a:xfrm>
            <a:off x="6286500" y="2596842"/>
            <a:ext cx="5334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Acest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XML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definește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parametrii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instalației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setări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rețea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administrator.</a:t>
            </a:r>
            <a:endParaRPr sz="1800" dirty="0"/>
          </a:p>
        </p:txBody>
      </p:sp>
      <p:sp>
        <p:nvSpPr>
          <p:cNvPr id="362" name="Google Shape;362;p36"/>
          <p:cNvSpPr txBox="1"/>
          <p:nvPr/>
        </p:nvSpPr>
        <p:spPr>
          <a:xfrm>
            <a:off x="6286500" y="4114800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masiv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Enterprise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consistența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configurațiilor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Structura Fișierului de Răspuns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571500" y="1478176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Pregătește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Windows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duplicare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imagine (imaging).</a:t>
            </a:r>
            <a:endParaRPr sz="1800" dirty="0"/>
          </a:p>
        </p:txBody>
      </p:sp>
      <p:pic>
        <p:nvPicPr>
          <p:cNvPr id="371" name="Google Shape;371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" y="3619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7"/>
          <p:cNvSpPr txBox="1"/>
          <p:nvPr/>
        </p:nvSpPr>
        <p:spPr>
          <a:xfrm>
            <a:off x="819150" y="4067175"/>
            <a:ext cx="10553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informațiile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specifice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computerului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(SID),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permițând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aceeași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imagine să fie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aplicată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 mii de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mașini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diferite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373" name="Google Shape;373;p3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Unelta Sysprep</a:t>
            </a:r>
            <a:endParaRPr/>
          </a:p>
        </p:txBody>
      </p:sp>
      <p:sp>
        <p:nvSpPr>
          <p:cNvPr id="374" name="Google Shape;374;p37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7037"/>
            <a:ext cx="35559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967037"/>
            <a:ext cx="35559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67037"/>
            <a:ext cx="3556099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8"/>
          <p:cNvSpPr txBox="1"/>
          <p:nvPr/>
        </p:nvSpPr>
        <p:spPr>
          <a:xfrm>
            <a:off x="819150" y="3214687"/>
            <a:ext cx="321368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Consistență</a:t>
            </a:r>
            <a:endParaRPr/>
          </a:p>
        </p:txBody>
      </p:sp>
      <p:sp>
        <p:nvSpPr>
          <p:cNvPr id="384" name="Google Shape;384;p38"/>
          <p:cNvSpPr txBox="1"/>
          <p:nvPr/>
        </p:nvSpPr>
        <p:spPr>
          <a:xfrm>
            <a:off x="819150" y="3757612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PC-urile au exact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aceleași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setări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85" name="Google Shape;385;p38"/>
          <p:cNvSpPr txBox="1"/>
          <p:nvPr/>
        </p:nvSpPr>
        <p:spPr>
          <a:xfrm>
            <a:off x="4565600" y="3214687"/>
            <a:ext cx="321368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Timp</a:t>
            </a:r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4565600" y="3757612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tehnician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poate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50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instalări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simultan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87" name="Google Shape;387;p38"/>
          <p:cNvSpPr txBox="1"/>
          <p:nvPr/>
        </p:nvSpPr>
        <p:spPr>
          <a:xfrm>
            <a:off x="8312050" y="3214687"/>
            <a:ext cx="321383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Erori</a:t>
            </a:r>
            <a:endParaRPr/>
          </a:p>
        </p:txBody>
      </p:sp>
      <p:sp>
        <p:nvSpPr>
          <p:cNvPr id="388" name="Google Shape;388;p38"/>
          <p:cNvSpPr txBox="1"/>
          <p:nvPr/>
        </p:nvSpPr>
        <p:spPr>
          <a:xfrm>
            <a:off x="8312050" y="3757612"/>
            <a:ext cx="30607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erorile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umane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introducerea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89" name="Google Shape;389;p3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Beneficii pentru Companii</a:t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/>
          <p:nvPr/>
        </p:nvSpPr>
        <p:spPr>
          <a:xfrm>
            <a:off x="5619750" y="3024187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9"/>
          <p:cNvSpPr txBox="1"/>
          <p:nvPr/>
        </p:nvSpPr>
        <p:spPr>
          <a:xfrm>
            <a:off x="295275" y="32623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05. Instalarea la Distanță</a:t>
            </a:r>
            <a:endParaRPr/>
          </a:p>
        </p:txBody>
      </p:sp>
      <p:sp>
        <p:nvSpPr>
          <p:cNvPr id="398" name="Google Shape;398;p39"/>
          <p:cNvSpPr txBox="1"/>
          <p:nvPr/>
        </p:nvSpPr>
        <p:spPr>
          <a:xfrm>
            <a:off x="571500" y="3595687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infrastructura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rețea</a:t>
            </a:r>
            <a:endParaRPr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38562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0"/>
          <p:cNvSpPr txBox="1"/>
          <p:nvPr/>
        </p:nvSpPr>
        <p:spPr>
          <a:xfrm>
            <a:off x="619125" y="1796683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Pre-Execution Environment (PXE)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computerului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să boot-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eze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de pe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placa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rețea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primind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fișierele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instalare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un server central.</a:t>
            </a:r>
            <a:endParaRPr sz="1800" dirty="0"/>
          </a:p>
        </p:txBody>
      </p:sp>
      <p:sp>
        <p:nvSpPr>
          <p:cNvPr id="406" name="Google Shape;406;p40"/>
          <p:cNvSpPr txBox="1"/>
          <p:nvPr/>
        </p:nvSpPr>
        <p:spPr>
          <a:xfrm>
            <a:off x="819150" y="3986212"/>
            <a:ext cx="10553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nevoie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stick-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USB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DVD-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fizice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407" name="Google Shape;407;p4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Tehnologia PXE</a:t>
            </a:r>
            <a:endParaRPr/>
          </a:p>
        </p:txBody>
      </p:sp>
      <p:sp>
        <p:nvSpPr>
          <p:cNvPr id="408" name="Google Shape;408;p40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4786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1"/>
          <p:cNvSpPr txBox="1"/>
          <p:nvPr/>
        </p:nvSpPr>
        <p:spPr>
          <a:xfrm>
            <a:off x="6286500" y="2000250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DHCP </a:t>
            </a:r>
            <a:r>
              <a:rPr lang="en-US" sz="21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și</a:t>
            </a:r>
            <a:r>
              <a:rPr lang="en-US" sz="21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TFTP</a:t>
            </a:r>
            <a:endParaRPr dirty="0"/>
          </a:p>
        </p:txBody>
      </p:sp>
      <p:sp>
        <p:nvSpPr>
          <p:cNvPr id="417" name="Google Shape;417;p41"/>
          <p:cNvSpPr txBox="1"/>
          <p:nvPr/>
        </p:nvSpPr>
        <p:spPr>
          <a:xfrm>
            <a:off x="6286500" y="2598003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client cere o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adresă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IP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DHCP,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apoi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descarcă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imaginea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boot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protocolul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TFTP.</a:t>
            </a:r>
            <a:endParaRPr sz="1800" dirty="0"/>
          </a:p>
        </p:txBody>
      </p:sp>
      <p:sp>
        <p:nvSpPr>
          <p:cNvPr id="418" name="Google Shape;418;p41"/>
          <p:cNvSpPr txBox="1"/>
          <p:nvPr/>
        </p:nvSpPr>
        <p:spPr>
          <a:xfrm>
            <a:off x="6286500" y="4114800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standard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laboratoarele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informatică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corporații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419" name="Google Shape;419;p4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Ecranul de Boot prin Rețea</a:t>
            </a:r>
            <a:endParaRPr/>
          </a:p>
        </p:txBody>
      </p:sp>
      <p:sp>
        <p:nvSpPr>
          <p:cNvPr id="420" name="Google Shape;420;p41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2"/>
          <p:cNvSpPr txBox="1"/>
          <p:nvPr/>
        </p:nvSpPr>
        <p:spPr>
          <a:xfrm>
            <a:off x="571500" y="555307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Vă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mulțumesc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atenție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! </a:t>
            </a:r>
            <a:r>
              <a:rPr lang="en-US" sz="1800" b="1" i="0" u="none" strike="noStrike" cap="none" dirty="0" err="1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Întrebări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800" dirty="0"/>
          </a:p>
        </p:txBody>
      </p:sp>
      <p:sp>
        <p:nvSpPr>
          <p:cNvPr id="427" name="Google Shape;427;p42"/>
          <p:cNvSpPr txBox="1"/>
          <p:nvPr/>
        </p:nvSpPr>
        <p:spPr>
          <a:xfrm>
            <a:off x="457200" y="1704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28" name="Google Shape;428;p42"/>
          <p:cNvSpPr txBox="1"/>
          <p:nvPr/>
        </p:nvSpPr>
        <p:spPr>
          <a:xfrm>
            <a:off x="571500" y="1649600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Multi-Boot</a:t>
            </a:r>
            <a:endParaRPr lang="en-US" sz="1800" dirty="0"/>
          </a:p>
        </p:txBody>
      </p:sp>
      <p:sp>
        <p:nvSpPr>
          <p:cNvPr id="429" name="Google Shape;429;p42"/>
          <p:cNvSpPr txBox="1"/>
          <p:nvPr/>
        </p:nvSpPr>
        <p:spPr>
          <a:xfrm>
            <a:off x="457200" y="1990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30" name="Google Shape;430;p42"/>
          <p:cNvSpPr txBox="1"/>
          <p:nvPr/>
        </p:nvSpPr>
        <p:spPr>
          <a:xfrm>
            <a:off x="571500" y="19907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 / Remote</a:t>
            </a:r>
            <a:endParaRPr sz="1800" dirty="0"/>
          </a:p>
        </p:txBody>
      </p:sp>
      <p:graphicFrame>
        <p:nvGraphicFramePr>
          <p:cNvPr id="431" name="Google Shape;431;p42"/>
          <p:cNvGraphicFramePr/>
          <p:nvPr>
            <p:extLst>
              <p:ext uri="{D42A27DB-BD31-4B8C-83A1-F6EECF244321}">
                <p14:modId xmlns:p14="http://schemas.microsoft.com/office/powerpoint/2010/main" val="4173184420"/>
              </p:ext>
            </p:extLst>
          </p:nvPr>
        </p:nvGraphicFramePr>
        <p:xfrm>
          <a:off x="571500" y="2466975"/>
          <a:ext cx="11049000" cy="2895625"/>
        </p:xfrm>
        <a:graphic>
          <a:graphicData uri="http://schemas.openxmlformats.org/drawingml/2006/table">
            <a:tbl>
              <a:tblPr firstRow="1" bandRow="1">
                <a:noFill/>
                <a:tableStyleId>{F6F63582-3DD2-46D1-A017-C592B8935500}</a:tableStyleId>
              </a:tblPr>
              <a:tblGrid>
                <a:gridCol w="432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Metodă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Când o folosim?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Efort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 Install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Sistem nou / Performanță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Upgrade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Păstrare date utilizator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Testare / Software variat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Testare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Ridicat</a:t>
                      </a:r>
                      <a:endParaRPr sz="180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Zeci/Sute de PC-uri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Automatizat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Ridicat</a:t>
                      </a:r>
                      <a:endParaRPr sz="180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2" name="Google Shape;432;p42"/>
          <p:cNvSpPr/>
          <p:nvPr/>
        </p:nvSpPr>
        <p:spPr>
          <a:xfrm>
            <a:off x="571500" y="3605212"/>
            <a:ext cx="4328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2"/>
          <p:cNvSpPr/>
          <p:nvPr/>
        </p:nvSpPr>
        <p:spPr>
          <a:xfrm>
            <a:off x="4900314" y="3605212"/>
            <a:ext cx="44661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2"/>
          <p:cNvSpPr/>
          <p:nvPr/>
        </p:nvSpPr>
        <p:spPr>
          <a:xfrm>
            <a:off x="9366498" y="3605212"/>
            <a:ext cx="2254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571500" y="4186237"/>
            <a:ext cx="4328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2"/>
          <p:cNvSpPr/>
          <p:nvPr/>
        </p:nvSpPr>
        <p:spPr>
          <a:xfrm>
            <a:off x="4900314" y="4186237"/>
            <a:ext cx="44661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2"/>
          <p:cNvSpPr/>
          <p:nvPr/>
        </p:nvSpPr>
        <p:spPr>
          <a:xfrm>
            <a:off x="9366498" y="4186237"/>
            <a:ext cx="2254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2"/>
          <p:cNvSpPr/>
          <p:nvPr/>
        </p:nvSpPr>
        <p:spPr>
          <a:xfrm>
            <a:off x="571500" y="4767262"/>
            <a:ext cx="4328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2"/>
          <p:cNvSpPr/>
          <p:nvPr/>
        </p:nvSpPr>
        <p:spPr>
          <a:xfrm>
            <a:off x="4900314" y="4767262"/>
            <a:ext cx="44661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571500" y="5348287"/>
            <a:ext cx="4328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2"/>
          <p:cNvSpPr/>
          <p:nvPr/>
        </p:nvSpPr>
        <p:spPr>
          <a:xfrm>
            <a:off x="4900314" y="5348287"/>
            <a:ext cx="44661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Sinteză și Concluzii</a:t>
            </a:r>
            <a:endParaRPr/>
          </a:p>
        </p:txBody>
      </p:sp>
      <p:sp>
        <p:nvSpPr>
          <p:cNvPr id="443" name="Google Shape;443;p42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1045</Words>
  <Application>Microsoft Office PowerPoint</Application>
  <PresentationFormat>Widescreen</PresentationFormat>
  <Paragraphs>141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Poppins</vt:lpstr>
      <vt:lpstr>Calibri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58</cp:revision>
  <dcterms:modified xsi:type="dcterms:W3CDTF">2026-01-29T12:04:05Z</dcterms:modified>
</cp:coreProperties>
</file>