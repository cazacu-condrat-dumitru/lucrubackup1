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5" r:id="rId29"/>
  </p:sldIdLst>
  <p:sldSz cx="12192000" cy="6858000"/>
  <p:notesSz cx="6858000" cy="9144000"/>
  <p:embeddedFontLst>
    <p:embeddedFont>
      <p:font typeface="DM Sans" pitchFamily="2" charset="0"/>
      <p:regular r:id="rId31"/>
      <p:bold r:id="rId32"/>
      <p:italic r:id="rId33"/>
      <p:boldItalic r:id="rId34"/>
    </p:embeddedFont>
    <p:embeddedFont>
      <p:font typeface="Urbanist" panose="020B0604020202020204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5961CC1-CF2A-4C1A-918D-BD70BCA09AB9}">
  <a:tblStyle styleId="{95961CC1-CF2A-4C1A-918D-BD70BCA09AB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260" y="2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gif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gi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8.png"/><Relationship Id="rId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742950"/>
            <a:ext cx="1104900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818CF8"/>
                </a:solidFill>
                <a:latin typeface="Urbanist"/>
                <a:ea typeface="Urbanist"/>
                <a:cs typeface="Urbanist"/>
                <a:sym typeface="Urbanist"/>
              </a:rPr>
              <a:t>PROMOVAREA PRODUSELOR SOFTWARE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295275" y="1171575"/>
            <a:ext cx="11601450" cy="670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Crearea </a:t>
            </a:r>
            <a:r>
              <a:rPr lang="en-US" sz="4800" b="1" i="0" u="none" strike="noStrike" cap="none">
                <a:solidFill>
                  <a:srgbClr val="818CF8"/>
                </a:solidFill>
                <a:latin typeface="DM Sans"/>
                <a:ea typeface="DM Sans"/>
                <a:cs typeface="DM Sans"/>
                <a:sym typeface="DM Sans"/>
              </a:rPr>
              <a:t>Produsului</a:t>
            </a:r>
            <a:r>
              <a:rPr lang="en-US" sz="4800" b="1" i="0" u="none" strike="noStrike" cap="non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 Publicitar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2070645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 la Mediul de Publicitate la Strategia Creativă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2794545"/>
            <a:ext cx="1104900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Cazacu-Condrat Dumitru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86062"/>
            <a:ext cx="3555950" cy="2456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786062"/>
            <a:ext cx="3555950" cy="2456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786061"/>
            <a:ext cx="3556099" cy="2456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3081337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866775" y="3529012"/>
            <a:ext cx="311367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818CF8"/>
                </a:solidFill>
                <a:latin typeface="DM Sans"/>
                <a:ea typeface="DM Sans"/>
                <a:cs typeface="DM Sans"/>
                <a:sym typeface="DM Sans"/>
              </a:rPr>
              <a:t>Anatomia </a:t>
            </a:r>
            <a:r>
              <a:rPr lang="en-US" sz="1800" b="1" i="0" u="none" strike="noStrike" cap="none" dirty="0" err="1">
                <a:solidFill>
                  <a:srgbClr val="818CF8"/>
                </a:solidFill>
                <a:latin typeface="DM Sans"/>
                <a:ea typeface="DM Sans"/>
                <a:cs typeface="DM Sans"/>
                <a:sym typeface="DM Sans"/>
              </a:rPr>
              <a:t>Reclamei</a:t>
            </a:r>
            <a:endParaRPr dirty="0"/>
          </a:p>
        </p:txBody>
      </p:sp>
      <p:sp>
        <p:nvSpPr>
          <p:cNvPr id="99" name="Google Shape;99;p14"/>
          <p:cNvSpPr txBox="1"/>
          <p:nvPr/>
        </p:nvSpPr>
        <p:spPr>
          <a:xfrm>
            <a:off x="866775" y="3995737"/>
            <a:ext cx="2965400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Identificarea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componentelor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esențiale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mediu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suport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mesaj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ax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și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slogan.</a:t>
            </a:r>
            <a:endParaRPr sz="2000" dirty="0"/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13225" y="3081337"/>
            <a:ext cx="2286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4613225" y="3529012"/>
            <a:ext cx="311367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818CF8"/>
                </a:solidFill>
                <a:latin typeface="DM Sans"/>
                <a:ea typeface="DM Sans"/>
                <a:cs typeface="DM Sans"/>
                <a:sym typeface="DM Sans"/>
              </a:rPr>
              <a:t>Gândire Creativă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4613225" y="3995737"/>
            <a:ext cx="2965400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Înțelegerea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modului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aplicare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strategiilor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creative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în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industria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IT.</a:t>
            </a:r>
            <a:endParaRPr sz="2000" dirty="0"/>
          </a:p>
        </p:txBody>
      </p:sp>
      <p:pic>
        <p:nvPicPr>
          <p:cNvPr id="103" name="Google Shape;103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59675" y="3081337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8359675" y="3529012"/>
            <a:ext cx="3113826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818CF8"/>
                </a:solidFill>
                <a:latin typeface="DM Sans"/>
                <a:ea typeface="DM Sans"/>
                <a:cs typeface="DM Sans"/>
                <a:sym typeface="DM Sans"/>
              </a:rPr>
              <a:t>Implementare</a:t>
            </a:r>
            <a:endParaRPr dirty="0"/>
          </a:p>
        </p:txBody>
      </p:sp>
      <p:sp>
        <p:nvSpPr>
          <p:cNvPr id="105" name="Google Shape;105;p14"/>
          <p:cNvSpPr txBox="1"/>
          <p:nvPr/>
        </p:nvSpPr>
        <p:spPr>
          <a:xfrm>
            <a:off x="8359675" y="3995737"/>
            <a:ext cx="2965549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Capacitatea de a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schița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un brief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creativ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pentru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un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produs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software nou.</a:t>
            </a:r>
            <a:endParaRPr sz="2000" dirty="0"/>
          </a:p>
        </p:txBody>
      </p:sp>
      <p:sp>
        <p:nvSpPr>
          <p:cNvPr id="106" name="Google Shape;106;p14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Obiectivele Sesiunii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08814" y="1894397"/>
            <a:ext cx="4578311" cy="387494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571500" y="1894398"/>
            <a:ext cx="5286375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Crearea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unui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produs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publicitar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nu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este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un act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artă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pură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ci o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știință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comunicării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aplicate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Pentru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software,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acest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proces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trebuie să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traducă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"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codul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"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în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"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beneficii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".</a:t>
            </a:r>
            <a:endParaRPr sz="2000" dirty="0"/>
          </a:p>
        </p:txBody>
      </p:sp>
      <p:sp>
        <p:nvSpPr>
          <p:cNvPr id="116" name="Google Shape;116;p15"/>
          <p:cNvSpPr txBox="1"/>
          <p:nvPr/>
        </p:nvSpPr>
        <p:spPr>
          <a:xfrm>
            <a:off x="904875" y="3720163"/>
            <a:ext cx="4953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Transformarea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caracteristicilor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tehnice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în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soluții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umane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117" name="Google Shape;117;p15"/>
          <p:cNvSpPr txBox="1"/>
          <p:nvPr/>
        </p:nvSpPr>
        <p:spPr>
          <a:xfrm>
            <a:off x="904875" y="4725360"/>
            <a:ext cx="542925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Sincronizarea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elementelor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vizuale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cu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cele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textuale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118" name="Google Shape;118;p15"/>
          <p:cNvSpPr txBox="1"/>
          <p:nvPr/>
        </p:nvSpPr>
        <p:spPr>
          <a:xfrm>
            <a:off x="904875" y="5423367"/>
            <a:ext cx="4953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Optimizarea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mesajului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pentru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platforma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livrare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119" name="Google Shape;119;p15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Procesul de Creație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862387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842385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5545931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A96BF8-2233-7F1F-C3D7-BC88615483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8815" y="1955431"/>
            <a:ext cx="4536994" cy="38139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81187"/>
            <a:ext cx="5286375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890712"/>
            <a:ext cx="5267325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6334125" y="2209800"/>
            <a:ext cx="5286375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Definiție</a:t>
            </a:r>
            <a:r>
              <a:rPr lang="en-US" sz="18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Grupul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mijloace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comunicare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cu o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natură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similară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capabile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să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transmită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mesaje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publicitare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către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un public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larg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132" name="Google Shape;132;p16"/>
          <p:cNvSpPr txBox="1"/>
          <p:nvPr/>
        </p:nvSpPr>
        <p:spPr>
          <a:xfrm>
            <a:off x="6334125" y="3838575"/>
            <a:ext cx="5286375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În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industria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software,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mediul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este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selectat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în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funcție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locul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unde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"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trăiește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"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utilizatorul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(ex: LinkedIn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pentru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B2B, TikTok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pentru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aplicații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divertisment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).</a:t>
            </a:r>
            <a:endParaRPr sz="2000" dirty="0"/>
          </a:p>
        </p:txBody>
      </p:sp>
      <p:sp>
        <p:nvSpPr>
          <p:cNvPr id="133" name="Google Shape;133;p16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1. Mediul de Publicitate</a:t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57475"/>
            <a:ext cx="3555950" cy="2871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657475"/>
            <a:ext cx="3555950" cy="2871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657475"/>
            <a:ext cx="3556099" cy="2871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952750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866775" y="3400425"/>
            <a:ext cx="311367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818CF8"/>
                </a:solidFill>
                <a:latin typeface="DM Sans"/>
                <a:ea typeface="DM Sans"/>
                <a:cs typeface="DM Sans"/>
                <a:sym typeface="DM Sans"/>
              </a:rPr>
              <a:t>Mediul Online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866775" y="3867150"/>
            <a:ext cx="2965400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Internetul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rețelele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sociale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motoarele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căutare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(cel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eficient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mediu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pentru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software).</a:t>
            </a:r>
            <a:endParaRPr sz="2000" dirty="0"/>
          </a:p>
        </p:txBody>
      </p:sp>
      <p:pic>
        <p:nvPicPr>
          <p:cNvPr id="146" name="Google Shape;146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13225" y="2952750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4613225" y="3400425"/>
            <a:ext cx="311367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818CF8"/>
                </a:solidFill>
                <a:latin typeface="DM Sans"/>
                <a:ea typeface="DM Sans"/>
                <a:cs typeface="DM Sans"/>
                <a:sym typeface="DM Sans"/>
              </a:rPr>
              <a:t>Audio-Vizual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4613225" y="3867150"/>
            <a:ext cx="2965400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Televiziunea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și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radioul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folosite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pentru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produse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software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larg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consum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).</a:t>
            </a:r>
            <a:endParaRPr sz="2000" dirty="0"/>
          </a:p>
        </p:txBody>
      </p:sp>
      <p:pic>
        <p:nvPicPr>
          <p:cNvPr id="149" name="Google Shape;149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59675" y="295275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8359675" y="3400425"/>
            <a:ext cx="3113826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818CF8"/>
                </a:solidFill>
                <a:latin typeface="DM Sans"/>
                <a:ea typeface="DM Sans"/>
                <a:cs typeface="DM Sans"/>
                <a:sym typeface="DM Sans"/>
              </a:rPr>
              <a:t>Presa Scrisă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8359675" y="3867150"/>
            <a:ext cx="2965549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Reviste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specialitate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(ex: Forbes, TechCrunch)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pentru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decidenții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IT.</a:t>
            </a:r>
            <a:endParaRPr sz="2000" dirty="0"/>
          </a:p>
        </p:txBody>
      </p:sp>
      <p:sp>
        <p:nvSpPr>
          <p:cNvPr id="152" name="Google Shape;152;p17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Principalele Medii IT</a:t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571500" y="2241977"/>
            <a:ext cx="11049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Criterii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selecție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pentru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promovarea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software:</a:t>
            </a:r>
            <a:endParaRPr sz="2000" dirty="0"/>
          </a:p>
        </p:txBody>
      </p:sp>
      <p:sp>
        <p:nvSpPr>
          <p:cNvPr id="160" name="Google Shape;160;p18"/>
          <p:cNvSpPr txBox="1"/>
          <p:nvPr/>
        </p:nvSpPr>
        <p:spPr>
          <a:xfrm>
            <a:off x="904875" y="3322384"/>
            <a:ext cx="107156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Obiectivele</a:t>
            </a:r>
            <a:r>
              <a:rPr lang="en-US" sz="18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campaniei</a:t>
            </a:r>
            <a:r>
              <a:rPr lang="en-US" sz="18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Notorietate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vs.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Conversie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161" name="Google Shape;161;p18"/>
          <p:cNvSpPr txBox="1"/>
          <p:nvPr/>
        </p:nvSpPr>
        <p:spPr>
          <a:xfrm>
            <a:off x="904875" y="3829050"/>
            <a:ext cx="107156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Bugetul</a:t>
            </a:r>
            <a:r>
              <a:rPr lang="en-US" sz="18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disponibil</a:t>
            </a:r>
            <a:r>
              <a:rPr lang="en-US" sz="18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Social Media Ads vs. TV Spot.</a:t>
            </a:r>
            <a:endParaRPr sz="2000" dirty="0"/>
          </a:p>
        </p:txBody>
      </p:sp>
      <p:sp>
        <p:nvSpPr>
          <p:cNvPr id="162" name="Google Shape;162;p18"/>
          <p:cNvSpPr txBox="1"/>
          <p:nvPr/>
        </p:nvSpPr>
        <p:spPr>
          <a:xfrm>
            <a:off x="904875" y="4200525"/>
            <a:ext cx="107156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Profilul</a:t>
            </a:r>
            <a:r>
              <a:rPr lang="en-US" sz="18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utilizatorului</a:t>
            </a:r>
            <a:r>
              <a:rPr lang="en-US" sz="18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Unde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petrece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timpul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clientul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nostru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ideal?</a:t>
            </a:r>
            <a:endParaRPr sz="2000" dirty="0"/>
          </a:p>
        </p:txBody>
      </p:sp>
      <p:sp>
        <p:nvSpPr>
          <p:cNvPr id="163" name="Google Shape;163;p18"/>
          <p:cNvSpPr txBox="1"/>
          <p:nvPr/>
        </p:nvSpPr>
        <p:spPr>
          <a:xfrm>
            <a:off x="904875" y="4572000"/>
            <a:ext cx="1071562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Complexitatea</a:t>
            </a:r>
            <a:r>
              <a:rPr lang="en-US" sz="18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produsului</a:t>
            </a:r>
            <a:r>
              <a:rPr lang="en-US" sz="18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Produsele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complexe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necesită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medii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care permit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explicații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detaliate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(ex: YouTube,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Bloguri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).</a:t>
            </a:r>
            <a:endParaRPr sz="2000" dirty="0"/>
          </a:p>
        </p:txBody>
      </p:sp>
      <p:sp>
        <p:nvSpPr>
          <p:cNvPr id="164" name="Google Shape;164;p18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Selectarea Mediului</a:t>
            </a:r>
            <a:endParaRPr/>
          </a:p>
        </p:txBody>
      </p:sp>
      <p:sp>
        <p:nvSpPr>
          <p:cNvPr id="165" name="Google Shape;165;p18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" name="Google Shape;16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457575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3250" y="3946311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344559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0862" y="4742807"/>
            <a:ext cx="1047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881187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571500" y="2019299"/>
            <a:ext cx="528637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Definiție</a:t>
            </a:r>
            <a:r>
              <a:rPr lang="en-US" sz="18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Vehiculul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specific care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transportă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mesajul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în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cadrul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unui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mediu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publicitate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177" name="Google Shape;177;p19"/>
          <p:cNvSpPr txBox="1"/>
          <p:nvPr/>
        </p:nvSpPr>
        <p:spPr>
          <a:xfrm>
            <a:off x="571500" y="3150972"/>
            <a:ext cx="5286375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Dacă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mediul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este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"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Internetul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",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suportul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poate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fi "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Pagina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Facebook a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firmei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"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sau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"Un banner pe un site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știri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".</a:t>
            </a:r>
            <a:endParaRPr sz="2000" dirty="0"/>
          </a:p>
        </p:txBody>
      </p:sp>
      <p:sp>
        <p:nvSpPr>
          <p:cNvPr id="178" name="Google Shape;178;p19"/>
          <p:cNvSpPr txBox="1"/>
          <p:nvPr/>
        </p:nvSpPr>
        <p:spPr>
          <a:xfrm>
            <a:off x="571500" y="4934548"/>
            <a:ext cx="528637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În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software,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suportul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trebuie să fie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cât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aproape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punctul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instalare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(ex: App Store).</a:t>
            </a:r>
            <a:endParaRPr sz="2000" dirty="0"/>
          </a:p>
        </p:txBody>
      </p:sp>
      <p:pic>
        <p:nvPicPr>
          <p:cNvPr id="179" name="Google Shape;179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890712"/>
            <a:ext cx="5267325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2. Suportul Publicitar</a:t>
            </a:r>
            <a:endParaRPr/>
          </a:p>
        </p:txBody>
      </p:sp>
      <p:sp>
        <p:nvSpPr>
          <p:cNvPr id="181" name="Google Shape;181;p19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7" name="Google Shape;187;p20"/>
          <p:cNvGraphicFramePr/>
          <p:nvPr>
            <p:extLst>
              <p:ext uri="{D42A27DB-BD31-4B8C-83A1-F6EECF244321}">
                <p14:modId xmlns:p14="http://schemas.microsoft.com/office/powerpoint/2010/main" val="116500423"/>
              </p:ext>
            </p:extLst>
          </p:nvPr>
        </p:nvGraphicFramePr>
        <p:xfrm>
          <a:off x="571500" y="2495550"/>
          <a:ext cx="11049000" cy="2771750"/>
        </p:xfrm>
        <a:graphic>
          <a:graphicData uri="http://schemas.openxmlformats.org/drawingml/2006/table">
            <a:tbl>
              <a:tblPr firstRow="1" bandRow="1">
                <a:noFill/>
                <a:tableStyleId>{95961CC1-CF2A-4C1A-918D-BD70BCA09AB9}</a:tableStyleId>
              </a:tblPr>
              <a:tblGrid>
                <a:gridCol w="3228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2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 err="1">
                          <a:solidFill>
                            <a:schemeClr val="bg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Mediu</a:t>
                      </a:r>
                      <a:r>
                        <a:rPr lang="en-US" sz="1800" b="1" i="0" u="none" strike="noStrike" cap="none" dirty="0">
                          <a:solidFill>
                            <a:schemeClr val="bg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800" b="1" i="0" u="none" strike="noStrike" cap="none" dirty="0" err="1">
                          <a:solidFill>
                            <a:schemeClr val="bg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Publicitar</a:t>
                      </a:r>
                      <a:endParaRPr sz="2000"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18C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 err="1">
                          <a:solidFill>
                            <a:schemeClr val="bg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Suport</a:t>
                      </a:r>
                      <a:r>
                        <a:rPr lang="en-US" sz="1800" b="1" i="0" u="none" strike="noStrike" cap="none" dirty="0">
                          <a:solidFill>
                            <a:schemeClr val="bg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800" b="1" i="0" u="none" strike="noStrike" cap="none" dirty="0" err="1">
                          <a:solidFill>
                            <a:schemeClr val="bg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Publicitar</a:t>
                      </a:r>
                      <a:r>
                        <a:rPr lang="en-US" sz="1800" b="1" i="0" u="none" strike="noStrike" cap="none" dirty="0">
                          <a:solidFill>
                            <a:schemeClr val="bg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(</a:t>
                      </a:r>
                      <a:r>
                        <a:rPr lang="en-US" sz="1800" b="1" i="0" u="none" strike="noStrike" cap="none" dirty="0" err="1">
                          <a:solidFill>
                            <a:schemeClr val="bg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Exemple</a:t>
                      </a:r>
                      <a:r>
                        <a:rPr lang="en-US" sz="1800" b="1" i="0" u="none" strike="noStrike" cap="none" dirty="0">
                          <a:solidFill>
                            <a:schemeClr val="bg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IT)</a:t>
                      </a:r>
                      <a:endParaRPr sz="2000"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18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Internet</a:t>
                      </a:r>
                      <a:endParaRPr sz="20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Google Search, LinkedIn Ads, Newsletter, In-App Banner</a:t>
                      </a:r>
                      <a:endParaRPr sz="20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Publicitate Exterioară</a:t>
                      </a:r>
                      <a:endParaRPr sz="20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Panou digital în Hub-uri Tehnologice, Roll-up la conferințe</a:t>
                      </a:r>
                      <a:endParaRPr sz="20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Presă</a:t>
                      </a:r>
                      <a:endParaRPr sz="20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Revista "Magazin IT", Ziarul de Business</a:t>
                      </a:r>
                      <a:endParaRPr sz="20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Evenimente</a:t>
                      </a:r>
                      <a:endParaRPr sz="20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Hackathon, Workshop, Webinar</a:t>
                      </a:r>
                      <a:endParaRPr sz="20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8" name="Google Shape;188;p20"/>
          <p:cNvSpPr/>
          <p:nvPr/>
        </p:nvSpPr>
        <p:spPr>
          <a:xfrm>
            <a:off x="571500" y="3028950"/>
            <a:ext cx="3228082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3799582" y="3028950"/>
            <a:ext cx="7820917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571500" y="3595687"/>
            <a:ext cx="322808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3799582" y="3595687"/>
            <a:ext cx="782091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571500" y="4148137"/>
            <a:ext cx="322808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3799582" y="4148137"/>
            <a:ext cx="782091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571500" y="4700587"/>
            <a:ext cx="322808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3799582" y="4700587"/>
            <a:ext cx="782091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571500" y="5253037"/>
            <a:ext cx="322808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3799582" y="5253037"/>
            <a:ext cx="782091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Mediu vs. Suport</a:t>
            </a:r>
            <a:endParaRPr/>
          </a:p>
        </p:txBody>
      </p:sp>
      <p:sp>
        <p:nvSpPr>
          <p:cNvPr id="199" name="Google Shape;199;p20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81187"/>
            <a:ext cx="5286375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890712"/>
            <a:ext cx="5267325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 txBox="1"/>
          <p:nvPr/>
        </p:nvSpPr>
        <p:spPr>
          <a:xfrm>
            <a:off x="6334125" y="2051476"/>
            <a:ext cx="528637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Suportul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publicitar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în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software trebuie să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respecte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experiența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utilizatorului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(User Experience).</a:t>
            </a:r>
            <a:endParaRPr sz="2000" dirty="0"/>
          </a:p>
        </p:txBody>
      </p:sp>
      <p:sp>
        <p:nvSpPr>
          <p:cNvPr id="208" name="Google Shape;208;p21"/>
          <p:cNvSpPr txBox="1"/>
          <p:nvPr/>
        </p:nvSpPr>
        <p:spPr>
          <a:xfrm>
            <a:off x="6334125" y="3838575"/>
            <a:ext cx="5286375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Publicitatea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invazivă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(pop-up-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uri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agresive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) pe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suporturi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nepotrivite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poate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o imagine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negativă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produsului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indiferent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cât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bun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este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codul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sursă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209" name="Google Shape;209;p21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Suportul și UX</a:t>
            </a:r>
            <a:endParaRPr/>
          </a:p>
        </p:txBody>
      </p:sp>
      <p:sp>
        <p:nvSpPr>
          <p:cNvPr id="210" name="Google Shape;210;p21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881187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2"/>
          <p:cNvSpPr txBox="1"/>
          <p:nvPr/>
        </p:nvSpPr>
        <p:spPr>
          <a:xfrm>
            <a:off x="571500" y="2026444"/>
            <a:ext cx="5286375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Definiție</a:t>
            </a:r>
            <a:r>
              <a:rPr lang="en-US" sz="18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Ansamblul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semne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cuvinte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imagini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sunete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)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prin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care se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comunică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beneficiile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produsului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software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către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public.</a:t>
            </a:r>
            <a:endParaRPr sz="2000" dirty="0"/>
          </a:p>
        </p:txBody>
      </p:sp>
      <p:sp>
        <p:nvSpPr>
          <p:cNvPr id="218" name="Google Shape;218;p22"/>
          <p:cNvSpPr txBox="1"/>
          <p:nvPr/>
        </p:nvSpPr>
        <p:spPr>
          <a:xfrm>
            <a:off x="571500" y="3967162"/>
            <a:ext cx="528637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Acesta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este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elementul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care face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legătura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emoțională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și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rațională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cu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utilizatorul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pic>
        <p:nvPicPr>
          <p:cNvPr id="219" name="Google Shape;219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890712"/>
            <a:ext cx="5267325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3. Mesajul Publicitar</a:t>
            </a:r>
            <a:endParaRPr/>
          </a:p>
        </p:txBody>
      </p:sp>
      <p:sp>
        <p:nvSpPr>
          <p:cNvPr id="221" name="Google Shape;221;p22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57475"/>
            <a:ext cx="3555950" cy="2871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657475"/>
            <a:ext cx="3555950" cy="2871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657475"/>
            <a:ext cx="3556099" cy="2871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952750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3"/>
          <p:cNvSpPr txBox="1"/>
          <p:nvPr/>
        </p:nvSpPr>
        <p:spPr>
          <a:xfrm>
            <a:off x="866775" y="3400425"/>
            <a:ext cx="311367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818CF8"/>
                </a:solidFill>
                <a:latin typeface="DM Sans"/>
                <a:ea typeface="DM Sans"/>
                <a:cs typeface="DM Sans"/>
                <a:sym typeface="DM Sans"/>
              </a:rPr>
              <a:t>Titlul (Headline)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866775" y="3867150"/>
            <a:ext cx="2965400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Atrage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atenția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instant. Trebuie să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promită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o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soluție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la o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problemă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software (ex: "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Fără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erori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").</a:t>
            </a:r>
            <a:endParaRPr sz="2000" dirty="0"/>
          </a:p>
        </p:txBody>
      </p:sp>
      <p:pic>
        <p:nvPicPr>
          <p:cNvPr id="233" name="Google Shape;233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13225" y="2952750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3"/>
          <p:cNvSpPr txBox="1"/>
          <p:nvPr/>
        </p:nvSpPr>
        <p:spPr>
          <a:xfrm>
            <a:off x="4613225" y="3400425"/>
            <a:ext cx="311367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818CF8"/>
                </a:solidFill>
                <a:latin typeface="DM Sans"/>
                <a:ea typeface="DM Sans"/>
                <a:cs typeface="DM Sans"/>
                <a:sym typeface="DM Sans"/>
              </a:rPr>
              <a:t>Textul (Body Copy)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4613225" y="3867150"/>
            <a:ext cx="2965400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Explică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argumentele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tehnice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și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beneficiile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într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-un mod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ușor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înțeles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pic>
        <p:nvPicPr>
          <p:cNvPr id="236" name="Google Shape;236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59675" y="2952750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3"/>
          <p:cNvSpPr txBox="1"/>
          <p:nvPr/>
        </p:nvSpPr>
        <p:spPr>
          <a:xfrm>
            <a:off x="8359675" y="3400425"/>
            <a:ext cx="3113826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818CF8"/>
                </a:solidFill>
                <a:latin typeface="DM Sans"/>
                <a:ea typeface="DM Sans"/>
                <a:cs typeface="DM Sans"/>
                <a:sym typeface="DM Sans"/>
              </a:rPr>
              <a:t>CTA (Call to Action)</a:t>
            </a:r>
            <a:endParaRPr/>
          </a:p>
        </p:txBody>
      </p:sp>
      <p:sp>
        <p:nvSpPr>
          <p:cNvPr id="238" name="Google Shape;238;p23"/>
          <p:cNvSpPr txBox="1"/>
          <p:nvPr/>
        </p:nvSpPr>
        <p:spPr>
          <a:xfrm>
            <a:off x="8359675" y="3867150"/>
            <a:ext cx="2965549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Îndeamnă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la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acțiune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 "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Descarcă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acum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", "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Încearcă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Demo", "Cere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oferta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".</a:t>
            </a:r>
            <a:endParaRPr sz="2000" dirty="0"/>
          </a:p>
        </p:txBody>
      </p:sp>
      <p:sp>
        <p:nvSpPr>
          <p:cNvPr id="239" name="Google Shape;239;p23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Structura Mesajului</a:t>
            </a:r>
            <a:endParaRPr/>
          </a:p>
        </p:txBody>
      </p:sp>
      <p:sp>
        <p:nvSpPr>
          <p:cNvPr id="240" name="Google Shape;240;p23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86087"/>
            <a:ext cx="5286375" cy="2056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73641" y="3016703"/>
            <a:ext cx="5286375" cy="2025504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4"/>
          <p:cNvSpPr txBox="1"/>
          <p:nvPr/>
        </p:nvSpPr>
        <p:spPr>
          <a:xfrm>
            <a:off x="866775" y="3328987"/>
            <a:ext cx="4930616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818CF8"/>
                </a:solidFill>
                <a:latin typeface="DM Sans"/>
                <a:ea typeface="DM Sans"/>
                <a:cs typeface="DM Sans"/>
                <a:sym typeface="DM Sans"/>
              </a:rPr>
              <a:t>Apel </a:t>
            </a:r>
            <a:r>
              <a:rPr lang="en-US" sz="1800" b="1" i="0" u="none" strike="noStrike" cap="none" dirty="0" err="1">
                <a:solidFill>
                  <a:srgbClr val="818CF8"/>
                </a:solidFill>
                <a:latin typeface="DM Sans"/>
                <a:ea typeface="DM Sans"/>
                <a:cs typeface="DM Sans"/>
                <a:sym typeface="DM Sans"/>
              </a:rPr>
              <a:t>Rațional</a:t>
            </a:r>
            <a:endParaRPr dirty="0"/>
          </a:p>
        </p:txBody>
      </p:sp>
      <p:sp>
        <p:nvSpPr>
          <p:cNvPr id="249" name="Google Shape;249;p24"/>
          <p:cNvSpPr txBox="1"/>
          <p:nvPr/>
        </p:nvSpPr>
        <p:spPr>
          <a:xfrm>
            <a:off x="866775" y="3795712"/>
            <a:ext cx="4695825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bazează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cifre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specificații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tehnice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viteză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procesare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securitate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(Ex: "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Criptare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pe 256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biți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").</a:t>
            </a:r>
            <a:endParaRPr sz="2000" dirty="0"/>
          </a:p>
        </p:txBody>
      </p:sp>
      <p:sp>
        <p:nvSpPr>
          <p:cNvPr id="250" name="Google Shape;250;p24"/>
          <p:cNvSpPr txBox="1"/>
          <p:nvPr/>
        </p:nvSpPr>
        <p:spPr>
          <a:xfrm>
            <a:off x="6629400" y="3328987"/>
            <a:ext cx="4930616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818CF8"/>
                </a:solidFill>
                <a:latin typeface="DM Sans"/>
                <a:ea typeface="DM Sans"/>
                <a:cs typeface="DM Sans"/>
                <a:sym typeface="DM Sans"/>
              </a:rPr>
              <a:t>Apel Emoțional</a:t>
            </a:r>
            <a:endParaRPr/>
          </a:p>
        </p:txBody>
      </p:sp>
      <p:sp>
        <p:nvSpPr>
          <p:cNvPr id="251" name="Google Shape;251;p24"/>
          <p:cNvSpPr txBox="1"/>
          <p:nvPr/>
        </p:nvSpPr>
        <p:spPr>
          <a:xfrm>
            <a:off x="6629400" y="3795712"/>
            <a:ext cx="4695825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bazează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sentimentul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siguranță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economisirea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timpului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pentru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familie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creativitate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(Ex: "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Eliberează-ți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geniul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").</a:t>
            </a:r>
            <a:endParaRPr sz="2000" dirty="0"/>
          </a:p>
        </p:txBody>
      </p:sp>
      <p:sp>
        <p:nvSpPr>
          <p:cNvPr id="252" name="Google Shape;252;p24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Tipuri de Apeluri</a:t>
            </a:r>
            <a:endParaRPr/>
          </a:p>
        </p:txBody>
      </p:sp>
      <p:sp>
        <p:nvSpPr>
          <p:cNvPr id="253" name="Google Shape;253;p24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5"/>
          <p:cNvSpPr txBox="1"/>
          <p:nvPr/>
        </p:nvSpPr>
        <p:spPr>
          <a:xfrm>
            <a:off x="571500" y="1756202"/>
            <a:ext cx="11049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Cum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vorbim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despre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software? Tonul trebuie să fie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consecvent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endParaRPr sz="2000" dirty="0"/>
          </a:p>
        </p:txBody>
      </p:sp>
      <p:sp>
        <p:nvSpPr>
          <p:cNvPr id="260" name="Google Shape;260;p25"/>
          <p:cNvSpPr txBox="1"/>
          <p:nvPr/>
        </p:nvSpPr>
        <p:spPr>
          <a:xfrm>
            <a:off x="904875" y="2821201"/>
            <a:ext cx="107156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Profesional</a:t>
            </a:r>
            <a:r>
              <a:rPr lang="en-US" sz="18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/Expert: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Potrivit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pentru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soluții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securitate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sau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baze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date.</a:t>
            </a:r>
            <a:endParaRPr sz="2000" dirty="0"/>
          </a:p>
        </p:txBody>
      </p:sp>
      <p:sp>
        <p:nvSpPr>
          <p:cNvPr id="261" name="Google Shape;261;p25"/>
          <p:cNvSpPr txBox="1"/>
          <p:nvPr/>
        </p:nvSpPr>
        <p:spPr>
          <a:xfrm>
            <a:off x="904875" y="3523569"/>
            <a:ext cx="107156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Prietenos</a:t>
            </a:r>
            <a:r>
              <a:rPr lang="en-US" sz="18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/Uman: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Ideal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pentru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aplicații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productivitate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sau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social media.</a:t>
            </a:r>
            <a:endParaRPr sz="2000" dirty="0"/>
          </a:p>
        </p:txBody>
      </p:sp>
      <p:sp>
        <p:nvSpPr>
          <p:cNvPr id="262" name="Google Shape;262;p25"/>
          <p:cNvSpPr txBox="1"/>
          <p:nvPr/>
        </p:nvSpPr>
        <p:spPr>
          <a:xfrm>
            <a:off x="904875" y="4200525"/>
            <a:ext cx="107156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Inovator</a:t>
            </a:r>
            <a:r>
              <a:rPr lang="en-US" sz="18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/Futurist: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Recomandat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pentru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AI, Blockchain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sau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tehnologii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noi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263" name="Google Shape;263;p25"/>
          <p:cNvSpPr txBox="1"/>
          <p:nvPr/>
        </p:nvSpPr>
        <p:spPr>
          <a:xfrm>
            <a:off x="904875" y="4877481"/>
            <a:ext cx="107156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Minimalist: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Specific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produselor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Apple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sau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Notion,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unde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"less is more".</a:t>
            </a:r>
            <a:endParaRPr sz="2000" dirty="0"/>
          </a:p>
        </p:txBody>
      </p:sp>
      <p:sp>
        <p:nvSpPr>
          <p:cNvPr id="264" name="Google Shape;264;p25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Tonul Comunicării</a:t>
            </a:r>
            <a:endParaRPr/>
          </a:p>
        </p:txBody>
      </p:sp>
      <p:sp>
        <p:nvSpPr>
          <p:cNvPr id="265" name="Google Shape;265;p25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6" name="Google Shape;266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499" y="3005137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499" y="3671889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499" y="4338641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9435" y="5011316"/>
            <a:ext cx="1047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81187"/>
            <a:ext cx="5286375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890712"/>
            <a:ext cx="5267325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6"/>
          <p:cNvSpPr txBox="1"/>
          <p:nvPr/>
        </p:nvSpPr>
        <p:spPr>
          <a:xfrm>
            <a:off x="6334125" y="1972315"/>
            <a:ext cx="5286375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Definiție</a:t>
            </a:r>
            <a:r>
              <a:rPr lang="en-US" sz="18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Ideea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centrală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"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coloana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vertebrală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" a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campaniei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promovare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 Este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acea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promisiune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unică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(USP) pe care se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construiește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tot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mesajul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278" name="Google Shape;278;p26"/>
          <p:cNvSpPr txBox="1"/>
          <p:nvPr/>
        </p:nvSpPr>
        <p:spPr>
          <a:xfrm>
            <a:off x="6334125" y="4095750"/>
            <a:ext cx="528637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Axul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promoțional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răspunde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la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întrebarea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lang="en-US" sz="1800" b="0" i="1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"De </a:t>
            </a:r>
            <a:r>
              <a:rPr lang="en-US" sz="1800" b="0" i="1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ce</a:t>
            </a:r>
            <a:r>
              <a:rPr lang="en-US" sz="1800" b="0" i="1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1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aș</a:t>
            </a:r>
            <a:r>
              <a:rPr lang="en-US" sz="1800" b="0" i="1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1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alege</a:t>
            </a:r>
            <a:r>
              <a:rPr lang="en-US" sz="1800" b="0" i="1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1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acest</a:t>
            </a:r>
            <a:r>
              <a:rPr lang="en-US" sz="1800" b="0" i="1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software </a:t>
            </a:r>
            <a:r>
              <a:rPr lang="en-US" sz="1800" b="0" i="1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în</a:t>
            </a:r>
            <a:r>
              <a:rPr lang="en-US" sz="1800" b="0" i="1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1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locul</a:t>
            </a:r>
            <a:r>
              <a:rPr lang="en-US" sz="1800" b="0" i="1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1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concurenței</a:t>
            </a:r>
            <a:r>
              <a:rPr lang="en-US" sz="1800" b="0" i="1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?"</a:t>
            </a:r>
            <a:endParaRPr sz="2000" dirty="0"/>
          </a:p>
        </p:txBody>
      </p:sp>
      <p:sp>
        <p:nvSpPr>
          <p:cNvPr id="279" name="Google Shape;279;p26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4. Axul Promoțional</a:t>
            </a:r>
            <a:endParaRPr/>
          </a:p>
        </p:txBody>
      </p:sp>
      <p:sp>
        <p:nvSpPr>
          <p:cNvPr id="280" name="Google Shape;280;p26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86062"/>
            <a:ext cx="3555950" cy="219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786062"/>
            <a:ext cx="3555950" cy="219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786062"/>
            <a:ext cx="3556099" cy="219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3081337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7"/>
          <p:cNvSpPr txBox="1"/>
          <p:nvPr/>
        </p:nvSpPr>
        <p:spPr>
          <a:xfrm>
            <a:off x="866775" y="3529012"/>
            <a:ext cx="311367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818CF8"/>
                </a:solidFill>
                <a:latin typeface="DM Sans"/>
                <a:ea typeface="DM Sans"/>
                <a:cs typeface="DM Sans"/>
                <a:sym typeface="DM Sans"/>
              </a:rPr>
              <a:t>Performanță</a:t>
            </a:r>
            <a:endParaRPr/>
          </a:p>
        </p:txBody>
      </p:sp>
      <p:sp>
        <p:nvSpPr>
          <p:cNvPr id="291" name="Google Shape;291;p27"/>
          <p:cNvSpPr txBox="1"/>
          <p:nvPr/>
        </p:nvSpPr>
        <p:spPr>
          <a:xfrm>
            <a:off x="866775" y="3995737"/>
            <a:ext cx="29654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Software-ul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nostru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este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cel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rapid de pe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piață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pic>
        <p:nvPicPr>
          <p:cNvPr id="292" name="Google Shape;292;p2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13225" y="3081337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7"/>
          <p:cNvSpPr txBox="1"/>
          <p:nvPr/>
        </p:nvSpPr>
        <p:spPr>
          <a:xfrm>
            <a:off x="4613225" y="3529012"/>
            <a:ext cx="311367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818CF8"/>
                </a:solidFill>
                <a:latin typeface="DM Sans"/>
                <a:ea typeface="DM Sans"/>
                <a:cs typeface="DM Sans"/>
                <a:sym typeface="DM Sans"/>
              </a:rPr>
              <a:t>Siguranță</a:t>
            </a:r>
            <a:endParaRPr/>
          </a:p>
        </p:txBody>
      </p:sp>
      <p:sp>
        <p:nvSpPr>
          <p:cNvPr id="294" name="Google Shape;294;p27"/>
          <p:cNvSpPr txBox="1"/>
          <p:nvPr/>
        </p:nvSpPr>
        <p:spPr>
          <a:xfrm>
            <a:off x="4613225" y="3995737"/>
            <a:ext cx="29654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Datele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tale sunt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inviolabile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cu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soluția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noastră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pic>
        <p:nvPicPr>
          <p:cNvPr id="295" name="Google Shape;295;p2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59675" y="3081337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7"/>
          <p:cNvSpPr txBox="1"/>
          <p:nvPr/>
        </p:nvSpPr>
        <p:spPr>
          <a:xfrm>
            <a:off x="8359675" y="3529012"/>
            <a:ext cx="3113826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818CF8"/>
                </a:solidFill>
                <a:latin typeface="DM Sans"/>
                <a:ea typeface="DM Sans"/>
                <a:cs typeface="DM Sans"/>
                <a:sym typeface="DM Sans"/>
              </a:rPr>
              <a:t>Economie</a:t>
            </a:r>
            <a:endParaRPr/>
          </a:p>
        </p:txBody>
      </p:sp>
      <p:sp>
        <p:nvSpPr>
          <p:cNvPr id="297" name="Google Shape;297;p27"/>
          <p:cNvSpPr txBox="1"/>
          <p:nvPr/>
        </p:nvSpPr>
        <p:spPr>
          <a:xfrm>
            <a:off x="8359675" y="3995737"/>
            <a:ext cx="2965549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Cea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ieftină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licență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pentru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funcții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premium.</a:t>
            </a:r>
            <a:endParaRPr sz="2000" dirty="0"/>
          </a:p>
        </p:txBody>
      </p:sp>
      <p:sp>
        <p:nvSpPr>
          <p:cNvPr id="298" name="Google Shape;298;p27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Identificarea Axului</a:t>
            </a:r>
            <a:endParaRPr/>
          </a:p>
        </p:txBody>
      </p:sp>
      <p:sp>
        <p:nvSpPr>
          <p:cNvPr id="299" name="Google Shape;299;p27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681412"/>
            <a:ext cx="11049000" cy="1297722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8"/>
          <p:cNvSpPr txBox="1"/>
          <p:nvPr/>
        </p:nvSpPr>
        <p:spPr>
          <a:xfrm>
            <a:off x="571500" y="2269271"/>
            <a:ext cx="11049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eroare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comună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este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încercarea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a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promova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multe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axe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simultan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(Ex: cel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rapid, cel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ieftin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și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cel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sigur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).</a:t>
            </a:r>
            <a:endParaRPr sz="2000" dirty="0"/>
          </a:p>
        </p:txBody>
      </p:sp>
      <p:sp>
        <p:nvSpPr>
          <p:cNvPr id="307" name="Google Shape;307;p28"/>
          <p:cNvSpPr txBox="1"/>
          <p:nvPr/>
        </p:nvSpPr>
        <p:spPr>
          <a:xfrm>
            <a:off x="914400" y="4148137"/>
            <a:ext cx="1041082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Regulă</a:t>
            </a:r>
            <a:r>
              <a:rPr lang="en-US" sz="18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aur: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Selectați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un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singur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ax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promoțional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dominant.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Publicul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reține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o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singură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idee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majoră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dintr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-o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reclamă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308" name="Google Shape;308;p28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Concentrarea Efortului</a:t>
            </a:r>
            <a:endParaRPr/>
          </a:p>
        </p:txBody>
      </p:sp>
      <p:sp>
        <p:nvSpPr>
          <p:cNvPr id="309" name="Google Shape;309;p28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881187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571500" y="1908021"/>
            <a:ext cx="5286375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Definiție</a:t>
            </a:r>
            <a:r>
              <a:rPr lang="en-US" sz="18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O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formulă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scurtă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memorabilă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și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percutantă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care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sintetizează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filosofia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brandului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sau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axul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promoțional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317" name="Google Shape;317;p29"/>
          <p:cNvSpPr txBox="1"/>
          <p:nvPr/>
        </p:nvSpPr>
        <p:spPr>
          <a:xfrm>
            <a:off x="571500" y="3967162"/>
            <a:ext cx="528637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În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software,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sloganul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trebuie să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sugereze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acțiune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sau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un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viitor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bun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prin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tehnologie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pic>
        <p:nvPicPr>
          <p:cNvPr id="318" name="Google Shape;318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890712"/>
            <a:ext cx="5267325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9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5. Sloganul</a:t>
            </a:r>
            <a:endParaRPr/>
          </a:p>
        </p:txBody>
      </p:sp>
      <p:sp>
        <p:nvSpPr>
          <p:cNvPr id="320" name="Google Shape;320;p29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09900"/>
            <a:ext cx="3555950" cy="174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3009900"/>
            <a:ext cx="3555950" cy="174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3009900"/>
            <a:ext cx="3556099" cy="174307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0"/>
          <p:cNvSpPr txBox="1"/>
          <p:nvPr/>
        </p:nvSpPr>
        <p:spPr>
          <a:xfrm>
            <a:off x="866775" y="3305175"/>
            <a:ext cx="311367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818CF8"/>
                </a:solidFill>
                <a:latin typeface="DM Sans"/>
                <a:ea typeface="DM Sans"/>
                <a:cs typeface="DM Sans"/>
                <a:sym typeface="DM Sans"/>
              </a:rPr>
              <a:t>Brevitate</a:t>
            </a:r>
            <a:endParaRPr/>
          </a:p>
        </p:txBody>
      </p:sp>
      <p:sp>
        <p:nvSpPr>
          <p:cNvPr id="330" name="Google Shape;330;p30"/>
          <p:cNvSpPr txBox="1"/>
          <p:nvPr/>
        </p:nvSpPr>
        <p:spPr>
          <a:xfrm>
            <a:off x="866775" y="3771900"/>
            <a:ext cx="29654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Ideal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între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2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și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5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cuvinte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331" name="Google Shape;331;p30"/>
          <p:cNvSpPr txBox="1"/>
          <p:nvPr/>
        </p:nvSpPr>
        <p:spPr>
          <a:xfrm>
            <a:off x="4613225" y="3305175"/>
            <a:ext cx="311367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818CF8"/>
                </a:solidFill>
                <a:latin typeface="DM Sans"/>
                <a:ea typeface="DM Sans"/>
                <a:cs typeface="DM Sans"/>
                <a:sym typeface="DM Sans"/>
              </a:rPr>
              <a:t>Muzicalitate</a:t>
            </a:r>
            <a:endParaRPr/>
          </a:p>
        </p:txBody>
      </p:sp>
      <p:sp>
        <p:nvSpPr>
          <p:cNvPr id="332" name="Google Shape;332;p30"/>
          <p:cNvSpPr txBox="1"/>
          <p:nvPr/>
        </p:nvSpPr>
        <p:spPr>
          <a:xfrm>
            <a:off x="4613225" y="3771900"/>
            <a:ext cx="29654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Ușor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pronunțat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și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reținut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333" name="Google Shape;333;p30"/>
          <p:cNvSpPr txBox="1"/>
          <p:nvPr/>
        </p:nvSpPr>
        <p:spPr>
          <a:xfrm>
            <a:off x="8359675" y="3305175"/>
            <a:ext cx="3113826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818CF8"/>
                </a:solidFill>
                <a:latin typeface="DM Sans"/>
                <a:ea typeface="DM Sans"/>
                <a:cs typeface="DM Sans"/>
                <a:sym typeface="DM Sans"/>
              </a:rPr>
              <a:t>Relevanță</a:t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8359675" y="3771900"/>
            <a:ext cx="2965549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Legătură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directă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cu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utilitatea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software-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ului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335" name="Google Shape;335;p30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Calitățile Sloganului</a:t>
            </a:r>
            <a:endParaRPr/>
          </a:p>
        </p:txBody>
      </p:sp>
      <p:sp>
        <p:nvSpPr>
          <p:cNvPr id="336" name="Google Shape;336;p30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42" name="Google Shape;342;p31"/>
          <p:cNvGraphicFramePr/>
          <p:nvPr>
            <p:extLst>
              <p:ext uri="{D42A27DB-BD31-4B8C-83A1-F6EECF244321}">
                <p14:modId xmlns:p14="http://schemas.microsoft.com/office/powerpoint/2010/main" val="1829759996"/>
              </p:ext>
            </p:extLst>
          </p:nvPr>
        </p:nvGraphicFramePr>
        <p:xfrm>
          <a:off x="571500" y="2495550"/>
          <a:ext cx="11049000" cy="2771750"/>
        </p:xfrm>
        <a:graphic>
          <a:graphicData uri="http://schemas.openxmlformats.org/drawingml/2006/table">
            <a:tbl>
              <a:tblPr firstRow="1" bandRow="1">
                <a:noFill/>
                <a:tableStyleId>{95961CC1-CF2A-4C1A-918D-BD70BCA09AB9}</a:tableStyleId>
              </a:tblPr>
              <a:tblGrid>
                <a:gridCol w="237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2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chemeClr val="bg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Brand Software</a:t>
                      </a:r>
                      <a:endParaRPr sz="2000"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18C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chemeClr val="bg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Slogan</a:t>
                      </a:r>
                      <a:endParaRPr sz="2000"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18C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 err="1">
                          <a:solidFill>
                            <a:schemeClr val="bg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Mesaj</a:t>
                      </a:r>
                      <a:r>
                        <a:rPr lang="en-US" sz="1800" b="1" i="0" u="none" strike="noStrike" cap="none" dirty="0">
                          <a:solidFill>
                            <a:schemeClr val="bg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800" b="1" i="0" u="none" strike="noStrike" cap="none" dirty="0" err="1">
                          <a:solidFill>
                            <a:schemeClr val="bg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Subiacent</a:t>
                      </a:r>
                      <a:endParaRPr sz="2000"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18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Apple</a:t>
                      </a:r>
                      <a:endParaRPr sz="20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"Think Different"</a:t>
                      </a:r>
                      <a:endParaRPr sz="20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Creativitate, Inovație, Rebeliune</a:t>
                      </a:r>
                      <a:endParaRPr sz="20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Microsoft</a:t>
                      </a:r>
                      <a:endParaRPr sz="20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"Your potential. Our passion."</a:t>
                      </a:r>
                      <a:endParaRPr sz="20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Productivitate, Parteneriat</a:t>
                      </a:r>
                      <a:endParaRPr sz="20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Slack</a:t>
                      </a:r>
                      <a:endParaRPr sz="20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"Where work happens."</a:t>
                      </a:r>
                      <a:endParaRPr sz="20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Colaborare, Eficiență, Locație Centrală</a:t>
                      </a:r>
                      <a:endParaRPr sz="20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Airbnb</a:t>
                      </a:r>
                      <a:endParaRPr sz="20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"Belong anywhere."</a:t>
                      </a:r>
                      <a:endParaRPr sz="20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 err="1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Comunitate</a:t>
                      </a:r>
                      <a:r>
                        <a:rPr lang="en-US" sz="1800" b="0" i="0" u="none" strike="noStrike" cap="none" dirty="0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, </a:t>
                      </a:r>
                      <a:r>
                        <a:rPr lang="en-US" sz="1800" b="0" i="0" u="none" strike="noStrike" cap="none" dirty="0" err="1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Globalizare</a:t>
                      </a:r>
                      <a:endParaRPr sz="20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43" name="Google Shape;343;p31"/>
          <p:cNvSpPr/>
          <p:nvPr/>
        </p:nvSpPr>
        <p:spPr>
          <a:xfrm>
            <a:off x="571500" y="3028950"/>
            <a:ext cx="2378273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1"/>
          <p:cNvSpPr/>
          <p:nvPr/>
        </p:nvSpPr>
        <p:spPr>
          <a:xfrm>
            <a:off x="2949773" y="3028950"/>
            <a:ext cx="3778299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1"/>
          <p:cNvSpPr/>
          <p:nvPr/>
        </p:nvSpPr>
        <p:spPr>
          <a:xfrm>
            <a:off x="6728073" y="3028950"/>
            <a:ext cx="4892426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1"/>
          <p:cNvSpPr/>
          <p:nvPr/>
        </p:nvSpPr>
        <p:spPr>
          <a:xfrm>
            <a:off x="571500" y="3595687"/>
            <a:ext cx="237827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1"/>
          <p:cNvSpPr/>
          <p:nvPr/>
        </p:nvSpPr>
        <p:spPr>
          <a:xfrm>
            <a:off x="2949773" y="3595687"/>
            <a:ext cx="377829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1"/>
          <p:cNvSpPr/>
          <p:nvPr/>
        </p:nvSpPr>
        <p:spPr>
          <a:xfrm>
            <a:off x="6728073" y="3595687"/>
            <a:ext cx="489242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1"/>
          <p:cNvSpPr/>
          <p:nvPr/>
        </p:nvSpPr>
        <p:spPr>
          <a:xfrm>
            <a:off x="571500" y="4148137"/>
            <a:ext cx="237827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31"/>
          <p:cNvSpPr/>
          <p:nvPr/>
        </p:nvSpPr>
        <p:spPr>
          <a:xfrm>
            <a:off x="2949773" y="4148137"/>
            <a:ext cx="377829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31"/>
          <p:cNvSpPr/>
          <p:nvPr/>
        </p:nvSpPr>
        <p:spPr>
          <a:xfrm>
            <a:off x="6728073" y="4148137"/>
            <a:ext cx="489242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31"/>
          <p:cNvSpPr/>
          <p:nvPr/>
        </p:nvSpPr>
        <p:spPr>
          <a:xfrm>
            <a:off x="571500" y="4700587"/>
            <a:ext cx="237827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31"/>
          <p:cNvSpPr/>
          <p:nvPr/>
        </p:nvSpPr>
        <p:spPr>
          <a:xfrm>
            <a:off x="2949773" y="4700587"/>
            <a:ext cx="377829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1"/>
          <p:cNvSpPr/>
          <p:nvPr/>
        </p:nvSpPr>
        <p:spPr>
          <a:xfrm>
            <a:off x="6728073" y="4700587"/>
            <a:ext cx="489242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31"/>
          <p:cNvSpPr/>
          <p:nvPr/>
        </p:nvSpPr>
        <p:spPr>
          <a:xfrm>
            <a:off x="571500" y="5253037"/>
            <a:ext cx="237827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1"/>
          <p:cNvSpPr/>
          <p:nvPr/>
        </p:nvSpPr>
        <p:spPr>
          <a:xfrm>
            <a:off x="2949773" y="5253037"/>
            <a:ext cx="377829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1"/>
          <p:cNvSpPr/>
          <p:nvPr/>
        </p:nvSpPr>
        <p:spPr>
          <a:xfrm>
            <a:off x="6728073" y="5253037"/>
            <a:ext cx="489242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Analiza Sloganelor</a:t>
            </a:r>
            <a:endParaRPr/>
          </a:p>
        </p:txBody>
      </p:sp>
      <p:sp>
        <p:nvSpPr>
          <p:cNvPr id="359" name="Google Shape;359;p31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32"/>
          <p:cNvSpPr/>
          <p:nvPr/>
        </p:nvSpPr>
        <p:spPr>
          <a:xfrm>
            <a:off x="5619750" y="762000"/>
            <a:ext cx="952500" cy="571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2"/>
          <p:cNvSpPr txBox="1"/>
          <p:nvPr/>
        </p:nvSpPr>
        <p:spPr>
          <a:xfrm>
            <a:off x="295275" y="1009650"/>
            <a:ext cx="11601450" cy="670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Strategia </a:t>
            </a:r>
            <a:r>
              <a:rPr lang="en-US" sz="4800" b="1" i="0" u="none" strike="noStrike" cap="none">
                <a:solidFill>
                  <a:srgbClr val="818CF8"/>
                </a:solidFill>
                <a:latin typeface="DM Sans"/>
                <a:ea typeface="DM Sans"/>
                <a:cs typeface="DM Sans"/>
                <a:sym typeface="DM Sans"/>
              </a:rPr>
              <a:t>Creativă</a:t>
            </a:r>
            <a:endParaRPr/>
          </a:p>
        </p:txBody>
      </p:sp>
      <p:sp>
        <p:nvSpPr>
          <p:cNvPr id="367" name="Google Shape;367;p32"/>
          <p:cNvSpPr txBox="1"/>
          <p:nvPr/>
        </p:nvSpPr>
        <p:spPr>
          <a:xfrm>
            <a:off x="571500" y="1870620"/>
            <a:ext cx="11049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Cum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transformăm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strategia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marketing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în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artă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digitală</a:t>
            </a:r>
            <a:endParaRPr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FA21C2-0FF4-13B5-9968-14AC4B888A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4647" y="2476618"/>
            <a:ext cx="4743450" cy="338137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81187"/>
            <a:ext cx="5286375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890712"/>
            <a:ext cx="5267325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3"/>
          <p:cNvSpPr txBox="1"/>
          <p:nvPr/>
        </p:nvSpPr>
        <p:spPr>
          <a:xfrm>
            <a:off x="6334125" y="2026444"/>
            <a:ext cx="528637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Strategia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creativă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este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planul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care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orientează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dezvoltarea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mesajelor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și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imaginilor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campaniei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376" name="Google Shape;376;p33"/>
          <p:cNvSpPr txBox="1"/>
          <p:nvPr/>
        </p:nvSpPr>
        <p:spPr>
          <a:xfrm>
            <a:off x="6334125" y="3967162"/>
            <a:ext cx="5286375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Nu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este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doar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despre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"cum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arată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" reclama, ci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despre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"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spune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"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și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"cum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rezonează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" cu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psihologia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utilizatorului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software.</a:t>
            </a:r>
            <a:endParaRPr sz="1800" dirty="0"/>
          </a:p>
        </p:txBody>
      </p:sp>
      <p:sp>
        <p:nvSpPr>
          <p:cNvPr id="377" name="Google Shape;377;p33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Definirea Strategiei</a:t>
            </a:r>
            <a:endParaRPr/>
          </a:p>
        </p:txBody>
      </p:sp>
      <p:sp>
        <p:nvSpPr>
          <p:cNvPr id="378" name="Google Shape;378;p33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3" name="Google Shape;383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881187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571500" y="3495675"/>
            <a:ext cx="5286375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Documentul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fundamental care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ghidează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echipa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creație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designeri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copywriteri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).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Fără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un brief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clar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designul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software-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ului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poate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fi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frumos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dar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ineficient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din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punct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vedere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comercial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pic>
        <p:nvPicPr>
          <p:cNvPr id="386" name="Google Shape;386;p3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890712"/>
            <a:ext cx="5267325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34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Brief-ul Creativ</a:t>
            </a:r>
            <a:endParaRPr/>
          </a:p>
        </p:txBody>
      </p:sp>
      <p:sp>
        <p:nvSpPr>
          <p:cNvPr id="388" name="Google Shape;388;p34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3" name="Google Shape;393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35"/>
          <p:cNvSpPr txBox="1"/>
          <p:nvPr/>
        </p:nvSpPr>
        <p:spPr>
          <a:xfrm>
            <a:off x="904875" y="1796783"/>
            <a:ext cx="107156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Obiectiv</a:t>
            </a:r>
            <a:r>
              <a:rPr lang="en-US" sz="18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vrem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să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obținem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? (ex: 1000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descărcări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).</a:t>
            </a:r>
            <a:endParaRPr sz="2000" dirty="0"/>
          </a:p>
        </p:txBody>
      </p:sp>
      <p:sp>
        <p:nvSpPr>
          <p:cNvPr id="395" name="Google Shape;395;p35"/>
          <p:cNvSpPr txBox="1"/>
          <p:nvPr/>
        </p:nvSpPr>
        <p:spPr>
          <a:xfrm>
            <a:off x="904875" y="2498191"/>
            <a:ext cx="107156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Public </a:t>
            </a:r>
            <a:r>
              <a:rPr lang="en-US" sz="18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Țintă</a:t>
            </a:r>
            <a:r>
              <a:rPr lang="en-US" sz="18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Cine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este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utilizatorul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? (ex: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Programatori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Python).</a:t>
            </a:r>
            <a:endParaRPr sz="2000" dirty="0"/>
          </a:p>
        </p:txBody>
      </p:sp>
      <p:sp>
        <p:nvSpPr>
          <p:cNvPr id="396" name="Google Shape;396;p35"/>
          <p:cNvSpPr txBox="1"/>
          <p:nvPr/>
        </p:nvSpPr>
        <p:spPr>
          <a:xfrm>
            <a:off x="904875" y="3074934"/>
            <a:ext cx="107156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Beneficiu</a:t>
            </a:r>
            <a:r>
              <a:rPr lang="en-US" sz="18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Cheie</a:t>
            </a:r>
            <a:r>
              <a:rPr lang="en-US" sz="18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Care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este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avantajul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major?</a:t>
            </a:r>
            <a:endParaRPr sz="2000" dirty="0"/>
          </a:p>
        </p:txBody>
      </p:sp>
      <p:sp>
        <p:nvSpPr>
          <p:cNvPr id="397" name="Google Shape;397;p35"/>
          <p:cNvSpPr txBox="1"/>
          <p:nvPr/>
        </p:nvSpPr>
        <p:spPr>
          <a:xfrm>
            <a:off x="904875" y="3756792"/>
            <a:ext cx="107156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Tonul </a:t>
            </a:r>
            <a:r>
              <a:rPr lang="en-US" sz="18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Vocii</a:t>
            </a:r>
            <a:r>
              <a:rPr lang="en-US" sz="18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Cum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vorbim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?</a:t>
            </a:r>
            <a:endParaRPr sz="2000" dirty="0"/>
          </a:p>
        </p:txBody>
      </p:sp>
      <p:sp>
        <p:nvSpPr>
          <p:cNvPr id="398" name="Google Shape;398;p35"/>
          <p:cNvSpPr txBox="1"/>
          <p:nvPr/>
        </p:nvSpPr>
        <p:spPr>
          <a:xfrm>
            <a:off x="904875" y="4438650"/>
            <a:ext cx="107156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Mandatories: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Elemente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obligatorii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(logo,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culori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brand).</a:t>
            </a:r>
            <a:endParaRPr sz="2000" dirty="0"/>
          </a:p>
        </p:txBody>
      </p:sp>
      <p:sp>
        <p:nvSpPr>
          <p:cNvPr id="399" name="Google Shape;399;p35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Elementele Brief-ului</a:t>
            </a:r>
            <a:endParaRPr/>
          </a:p>
        </p:txBody>
      </p:sp>
      <p:sp>
        <p:nvSpPr>
          <p:cNvPr id="400" name="Google Shape;400;p35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1" name="Google Shape;401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14044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23897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243262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918575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559299"/>
            <a:ext cx="1047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" name="Google Shape;410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33686"/>
            <a:ext cx="5286375" cy="2565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3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881187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36"/>
          <p:cNvSpPr txBox="1"/>
          <p:nvPr/>
        </p:nvSpPr>
        <p:spPr>
          <a:xfrm>
            <a:off x="866775" y="3128962"/>
            <a:ext cx="4930616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818CF8"/>
                </a:solidFill>
                <a:latin typeface="DM Sans"/>
                <a:ea typeface="DM Sans"/>
                <a:cs typeface="DM Sans"/>
                <a:sym typeface="DM Sans"/>
              </a:rPr>
              <a:t>User Persona</a:t>
            </a:r>
            <a:endParaRPr/>
          </a:p>
        </p:txBody>
      </p:sp>
      <p:sp>
        <p:nvSpPr>
          <p:cNvPr id="414" name="Google Shape;414;p36"/>
          <p:cNvSpPr txBox="1"/>
          <p:nvPr/>
        </p:nvSpPr>
        <p:spPr>
          <a:xfrm>
            <a:off x="866775" y="3595687"/>
            <a:ext cx="46958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Creați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un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profil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detaliat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al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utilizatorului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ideal.</a:t>
            </a:r>
            <a:endParaRPr sz="2000" dirty="0"/>
          </a:p>
        </p:txBody>
      </p:sp>
      <p:sp>
        <p:nvSpPr>
          <p:cNvPr id="415" name="Google Shape;415;p36"/>
          <p:cNvSpPr txBox="1"/>
          <p:nvPr/>
        </p:nvSpPr>
        <p:spPr>
          <a:xfrm>
            <a:off x="866775" y="4024312"/>
            <a:ext cx="4695825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Exemplu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 "Andrei, 28 ani,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pasionat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gaming,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caută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o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soluție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software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pentru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optimizarea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latenței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în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rețea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."</a:t>
            </a:r>
            <a:endParaRPr sz="2000" dirty="0"/>
          </a:p>
        </p:txBody>
      </p:sp>
      <p:pic>
        <p:nvPicPr>
          <p:cNvPr id="416" name="Google Shape;416;p3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43650" y="1890712"/>
            <a:ext cx="5267325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6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Publicul Țintă</a:t>
            </a:r>
            <a:endParaRPr/>
          </a:p>
        </p:txBody>
      </p:sp>
      <p:sp>
        <p:nvSpPr>
          <p:cNvPr id="418" name="Google Shape;418;p36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" name="Google Shape;423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452812"/>
            <a:ext cx="3555950" cy="2008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3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3452812"/>
            <a:ext cx="3555950" cy="2008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3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3452812"/>
            <a:ext cx="3556099" cy="2008495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7"/>
          <p:cNvSpPr txBox="1"/>
          <p:nvPr/>
        </p:nvSpPr>
        <p:spPr>
          <a:xfrm>
            <a:off x="571500" y="2738437"/>
            <a:ext cx="11049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Strategia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creativă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include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alegerea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elementelor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vizuale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endParaRPr sz="2000" dirty="0"/>
          </a:p>
        </p:txBody>
      </p:sp>
      <p:sp>
        <p:nvSpPr>
          <p:cNvPr id="428" name="Google Shape;428;p37"/>
          <p:cNvSpPr txBox="1"/>
          <p:nvPr/>
        </p:nvSpPr>
        <p:spPr>
          <a:xfrm>
            <a:off x="866775" y="3748087"/>
            <a:ext cx="311367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818CF8"/>
                </a:solidFill>
                <a:latin typeface="DM Sans"/>
                <a:ea typeface="DM Sans"/>
                <a:cs typeface="DM Sans"/>
                <a:sym typeface="DM Sans"/>
              </a:rPr>
              <a:t>Paleta de Culori</a:t>
            </a:r>
            <a:endParaRPr/>
          </a:p>
        </p:txBody>
      </p:sp>
      <p:sp>
        <p:nvSpPr>
          <p:cNvPr id="429" name="Google Shape;429;p37"/>
          <p:cNvSpPr txBox="1"/>
          <p:nvPr/>
        </p:nvSpPr>
        <p:spPr>
          <a:xfrm>
            <a:off x="866775" y="4214812"/>
            <a:ext cx="2965400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Albastru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pentru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încredere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Verde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pentru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creștere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Negru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pentru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lux/premium.</a:t>
            </a:r>
            <a:endParaRPr sz="2000" dirty="0"/>
          </a:p>
        </p:txBody>
      </p:sp>
      <p:sp>
        <p:nvSpPr>
          <p:cNvPr id="430" name="Google Shape;430;p37"/>
          <p:cNvSpPr txBox="1"/>
          <p:nvPr/>
        </p:nvSpPr>
        <p:spPr>
          <a:xfrm>
            <a:off x="4613225" y="3748087"/>
            <a:ext cx="311367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818CF8"/>
                </a:solidFill>
                <a:latin typeface="DM Sans"/>
                <a:ea typeface="DM Sans"/>
                <a:cs typeface="DM Sans"/>
                <a:sym typeface="DM Sans"/>
              </a:rPr>
              <a:t>Tipografia</a:t>
            </a:r>
            <a:endParaRPr/>
          </a:p>
        </p:txBody>
      </p:sp>
      <p:sp>
        <p:nvSpPr>
          <p:cNvPr id="431" name="Google Shape;431;p37"/>
          <p:cNvSpPr txBox="1"/>
          <p:nvPr/>
        </p:nvSpPr>
        <p:spPr>
          <a:xfrm>
            <a:off x="4613225" y="4214812"/>
            <a:ext cx="2965400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Fonturi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moderne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(Sans-serif)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pentru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sugera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tehnologie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ultimă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oră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432" name="Google Shape;432;p37"/>
          <p:cNvSpPr txBox="1"/>
          <p:nvPr/>
        </p:nvSpPr>
        <p:spPr>
          <a:xfrm>
            <a:off x="8359675" y="3748087"/>
            <a:ext cx="3113826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818CF8"/>
                </a:solidFill>
                <a:latin typeface="DM Sans"/>
                <a:ea typeface="DM Sans"/>
                <a:cs typeface="DM Sans"/>
                <a:sym typeface="DM Sans"/>
              </a:rPr>
              <a:t>Iconografia</a:t>
            </a:r>
            <a:endParaRPr/>
          </a:p>
        </p:txBody>
      </p:sp>
      <p:sp>
        <p:nvSpPr>
          <p:cNvPr id="433" name="Google Shape;433;p37"/>
          <p:cNvSpPr txBox="1"/>
          <p:nvPr/>
        </p:nvSpPr>
        <p:spPr>
          <a:xfrm>
            <a:off x="8359675" y="4214812"/>
            <a:ext cx="2965549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Pictograme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intuitive care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descriu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funcțiile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software-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ului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434" name="Google Shape;434;p37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Identitatea Vizuală</a:t>
            </a:r>
            <a:endParaRPr/>
          </a:p>
        </p:txBody>
      </p:sp>
      <p:sp>
        <p:nvSpPr>
          <p:cNvPr id="435" name="Google Shape;435;p37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" name="Google Shape;440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3276600"/>
            <a:ext cx="5286375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8"/>
          <p:cNvSpPr txBox="1"/>
          <p:nvPr/>
        </p:nvSpPr>
        <p:spPr>
          <a:xfrm>
            <a:off x="571500" y="2070727"/>
            <a:ext cx="528637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Storytelling-ul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transformă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un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produs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arid (cod)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într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-o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experiență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umană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443" name="Google Shape;443;p38"/>
          <p:cNvSpPr txBox="1"/>
          <p:nvPr/>
        </p:nvSpPr>
        <p:spPr>
          <a:xfrm>
            <a:off x="571500" y="3967162"/>
            <a:ext cx="5286375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Exemplu</a:t>
            </a:r>
            <a:r>
              <a:rPr lang="en-US" sz="18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Nu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vindem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o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bază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date,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vindem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liniștea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unui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manager care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știe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informațiile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firmei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sunt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în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siguranță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444" name="Google Shape;444;p38"/>
          <p:cNvSpPr txBox="1"/>
          <p:nvPr/>
        </p:nvSpPr>
        <p:spPr>
          <a:xfrm>
            <a:off x="6638925" y="3752850"/>
            <a:ext cx="467677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"</a:t>
            </a:r>
            <a:r>
              <a:rPr lang="en-US" sz="1800" b="0" i="1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Oamenii</a:t>
            </a:r>
            <a:r>
              <a:rPr lang="en-US" sz="1800" b="0" i="1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nu </a:t>
            </a:r>
            <a:r>
              <a:rPr lang="en-US" sz="1800" b="0" i="1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cumpără</a:t>
            </a:r>
            <a:r>
              <a:rPr lang="en-US" sz="1800" b="0" i="1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1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ce</a:t>
            </a:r>
            <a:r>
              <a:rPr lang="en-US" sz="1800" b="0" i="1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1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faci</a:t>
            </a:r>
            <a:r>
              <a:rPr lang="en-US" sz="1800" b="0" i="1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ci DE CE o </a:t>
            </a:r>
            <a:r>
              <a:rPr lang="en-US" sz="1800" b="0" i="1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faci</a:t>
            </a:r>
            <a:r>
              <a:rPr lang="en-US" sz="1800" b="0" i="1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." - Simon Sinek</a:t>
            </a:r>
            <a:endParaRPr sz="2000" dirty="0"/>
          </a:p>
        </p:txBody>
      </p:sp>
      <p:sp>
        <p:nvSpPr>
          <p:cNvPr id="445" name="Google Shape;445;p38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Puterea Poveștii</a:t>
            </a:r>
            <a:endParaRPr/>
          </a:p>
        </p:txBody>
      </p:sp>
      <p:sp>
        <p:nvSpPr>
          <p:cNvPr id="446" name="Google Shape;446;p38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39"/>
          <p:cNvSpPr txBox="1"/>
          <p:nvPr/>
        </p:nvSpPr>
        <p:spPr>
          <a:xfrm>
            <a:off x="571500" y="2033007"/>
            <a:ext cx="11049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Cum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știm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dacă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strategia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creativă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funcționează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?</a:t>
            </a:r>
            <a:endParaRPr sz="2000" dirty="0"/>
          </a:p>
        </p:txBody>
      </p:sp>
      <p:sp>
        <p:nvSpPr>
          <p:cNvPr id="453" name="Google Shape;453;p39"/>
          <p:cNvSpPr txBox="1"/>
          <p:nvPr/>
        </p:nvSpPr>
        <p:spPr>
          <a:xfrm>
            <a:off x="904875" y="2594111"/>
            <a:ext cx="107156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A/B Testing: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Testarea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două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variante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design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pentru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vedea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care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atrage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mulți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clienți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454" name="Google Shape;454;p39"/>
          <p:cNvSpPr txBox="1"/>
          <p:nvPr/>
        </p:nvSpPr>
        <p:spPr>
          <a:xfrm>
            <a:off x="904875" y="3202754"/>
            <a:ext cx="107156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CTR (Click-Through Rate):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Procentul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oameni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care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dau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click pe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reclamă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455" name="Google Shape;455;p39"/>
          <p:cNvSpPr txBox="1"/>
          <p:nvPr/>
        </p:nvSpPr>
        <p:spPr>
          <a:xfrm>
            <a:off x="904875" y="3811397"/>
            <a:ext cx="107156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Rata de </a:t>
            </a:r>
            <a:r>
              <a:rPr lang="en-US" sz="18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Conversie</a:t>
            </a:r>
            <a:r>
              <a:rPr lang="en-US" sz="18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Câți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dintre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cei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care au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văzut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reclama au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instalat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software-ul.</a:t>
            </a:r>
            <a:endParaRPr sz="2000" dirty="0"/>
          </a:p>
        </p:txBody>
      </p:sp>
      <p:sp>
        <p:nvSpPr>
          <p:cNvPr id="456" name="Google Shape;456;p39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Măsurarea Succesului</a:t>
            </a:r>
            <a:endParaRPr/>
          </a:p>
        </p:txBody>
      </p:sp>
      <p:sp>
        <p:nvSpPr>
          <p:cNvPr id="457" name="Google Shape;457;p39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8" name="Google Shape;458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62238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499" y="3295649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499" y="3958217"/>
            <a:ext cx="1047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2"/>
          <p:cNvSpPr txBox="1"/>
          <p:nvPr/>
        </p:nvSpPr>
        <p:spPr>
          <a:xfrm>
            <a:off x="295275" y="571500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Întrebări?</a:t>
            </a:r>
            <a:endParaRPr/>
          </a:p>
        </p:txBody>
      </p:sp>
      <p:sp>
        <p:nvSpPr>
          <p:cNvPr id="505" name="Google Shape;505;p42"/>
          <p:cNvSpPr txBox="1"/>
          <p:nvPr/>
        </p:nvSpPr>
        <p:spPr>
          <a:xfrm>
            <a:off x="571500" y="1638300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mulțumesc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pentru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creativitate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și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atenție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!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CE5559-DCCF-058B-FC6D-C8A467B878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0200" y="2311400"/>
            <a:ext cx="3622675" cy="35986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1231</Words>
  <Application>Microsoft Office PowerPoint</Application>
  <PresentationFormat>Widescreen</PresentationFormat>
  <Paragraphs>146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DM Sans</vt:lpstr>
      <vt:lpstr>Calibri</vt:lpstr>
      <vt:lpstr>Arial</vt:lpstr>
      <vt:lpstr>Urbanist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Cazacu-Condrat Dumitru</cp:lastModifiedBy>
  <cp:revision>57</cp:revision>
  <dcterms:modified xsi:type="dcterms:W3CDTF">2026-01-21T14:39:22Z</dcterms:modified>
</cp:coreProperties>
</file>