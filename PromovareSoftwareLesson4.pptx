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5" r:id="rId29"/>
  </p:sldIdLst>
  <p:sldSz cx="12192000" cy="6858000"/>
  <p:notesSz cx="6858000" cy="9144000"/>
  <p:embeddedFontLst>
    <p:embeddedFont>
      <p:font typeface="DM Sans" pitchFamily="2" charset="0"/>
      <p:regular r:id="rId31"/>
      <p:bold r:id="rId32"/>
      <p:italic r:id="rId33"/>
      <p:boldItalic r:id="rId34"/>
    </p:embeddedFont>
    <p:embeddedFont>
      <p:font typeface="Urbanist" panose="020B0604020202020204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5961CC1-CF2A-4C1A-918D-BD70BCA09AB9}">
  <a:tblStyle styleId="{95961CC1-CF2A-4C1A-918D-BD70BCA09A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gif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8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742950"/>
            <a:ext cx="11049000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818CF8"/>
                </a:solidFill>
                <a:latin typeface="Urbanist"/>
                <a:ea typeface="Urbanist"/>
                <a:cs typeface="Urbanist"/>
                <a:sym typeface="Urbanist"/>
              </a:rPr>
              <a:t>PROMOVAREA PRODUSELOR SOFTWARE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95275" y="1171575"/>
            <a:ext cx="1160145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10000"/>
              </a:lnSpc>
            </a:pPr>
            <a:r>
              <a:rPr lang="ru-RU" sz="480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Создание</a:t>
            </a:r>
            <a:r>
              <a:rPr lang="ru-RU" sz="4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 Рекламного</a:t>
            </a:r>
            <a:r>
              <a:rPr lang="ru-RU" sz="480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 Продукта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2070645"/>
            <a:ext cx="11049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От рекламной среды до творческой стратегии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2794545"/>
            <a:ext cx="11049000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Cazacu-Condrat Dumitru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86062"/>
            <a:ext cx="3555950" cy="2871668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786062"/>
            <a:ext cx="3555950" cy="2871668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786061"/>
            <a:ext cx="3556099" cy="2871668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3081337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866775" y="3529012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Анатомия Рекламы</a:t>
            </a:r>
            <a:endParaRPr dirty="0"/>
          </a:p>
        </p:txBody>
      </p:sp>
      <p:sp>
        <p:nvSpPr>
          <p:cNvPr id="99" name="Google Shape;99;p14"/>
          <p:cNvSpPr txBox="1"/>
          <p:nvPr/>
        </p:nvSpPr>
        <p:spPr>
          <a:xfrm>
            <a:off x="866774" y="3995737"/>
            <a:ext cx="3174949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Идентификация основных компонентов: окружающая среда, поддержка, сообщение, шпиндель и слоган.</a:t>
            </a:r>
            <a:endParaRPr sz="2000" dirty="0"/>
          </a:p>
        </p:txBody>
      </p:sp>
      <p:pic>
        <p:nvPicPr>
          <p:cNvPr id="100" name="Google Shape;100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13225" y="3081337"/>
            <a:ext cx="2286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4613225" y="3529012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Творческое Мышление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4613225" y="3995737"/>
            <a:ext cx="296540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Понимание того, как применять творческие стратегии в ИТ-индустрии.</a:t>
            </a:r>
            <a:endParaRPr sz="2000" dirty="0"/>
          </a:p>
        </p:txBody>
      </p:sp>
      <p:pic>
        <p:nvPicPr>
          <p:cNvPr id="103" name="Google Shape;103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9675" y="3081337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8359675" y="3529012"/>
            <a:ext cx="311382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Реализация</a:t>
            </a:r>
            <a:endParaRPr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8359675" y="3995737"/>
            <a:ext cx="2965549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Возможность набросать творческий бриф для нового программного продукта.</a:t>
            </a:r>
            <a:endParaRPr sz="2000" dirty="0"/>
          </a:p>
        </p:txBody>
      </p:sp>
      <p:sp>
        <p:nvSpPr>
          <p:cNvPr id="106" name="Google Shape;106;p14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Цели Сессии</a:t>
            </a:r>
            <a:endParaRPr dirty="0"/>
          </a:p>
        </p:txBody>
      </p:sp>
      <p:sp>
        <p:nvSpPr>
          <p:cNvPr id="107" name="Google Shape;107;p14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08814" y="1894397"/>
            <a:ext cx="4578311" cy="387494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571500" y="1894398"/>
            <a:ext cx="5286375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Создание рекламного продукта - это не акт чистого искусства, а наука прикладного общения. Для программного обеспечения этот процесс должен переводить "код"в " преимущества".</a:t>
            </a:r>
            <a:endParaRPr sz="2000" dirty="0"/>
          </a:p>
        </p:txBody>
      </p:sp>
      <p:sp>
        <p:nvSpPr>
          <p:cNvPr id="116" name="Google Shape;116;p15"/>
          <p:cNvSpPr txBox="1"/>
          <p:nvPr/>
        </p:nvSpPr>
        <p:spPr>
          <a:xfrm>
            <a:off x="904875" y="3720163"/>
            <a:ext cx="4953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Превращение технических характеристик в человеческие решения.</a:t>
            </a:r>
            <a:endParaRPr sz="2000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904875" y="4725360"/>
            <a:ext cx="542925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Синхронизация визуальных элементов с текстовыми.</a:t>
            </a:r>
            <a:endParaRPr sz="2000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904875" y="5423367"/>
            <a:ext cx="4953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Оптимизация сообщения для платформы доставки.</a:t>
            </a:r>
            <a:endParaRPr sz="2000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Процесс создания</a:t>
            </a:r>
            <a:endParaRPr dirty="0"/>
          </a:p>
        </p:txBody>
      </p:sp>
      <p:sp>
        <p:nvSpPr>
          <p:cNvPr id="120" name="Google Shape;120;p15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Google Shape;12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862387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842385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5545931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A96BF8-2233-7F1F-C3D7-BC88615483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8815" y="1955431"/>
            <a:ext cx="4536994" cy="38139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81187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8907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6334125" y="1890712"/>
            <a:ext cx="5286375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Определение: группа средств массовой информации аналогичного характера, способных передавать рекламные сообщения широкой аудитории.</a:t>
            </a:r>
            <a:endParaRPr sz="2000" dirty="0"/>
          </a:p>
        </p:txBody>
      </p:sp>
      <p:sp>
        <p:nvSpPr>
          <p:cNvPr id="132" name="Google Shape;132;p16"/>
          <p:cNvSpPr txBox="1"/>
          <p:nvPr/>
        </p:nvSpPr>
        <p:spPr>
          <a:xfrm>
            <a:off x="6334125" y="3838575"/>
            <a:ext cx="5286375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В индустрии программного обеспечения среда выбирается в зависимости от того, где "живет" пользователь (например, LinkedIn для B2B, TikTok для развлекательных приложений).</a:t>
            </a:r>
            <a:endParaRPr sz="2000" dirty="0"/>
          </a:p>
        </p:txBody>
      </p:sp>
      <p:sp>
        <p:nvSpPr>
          <p:cNvPr id="133" name="Google Shape;133;p16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150" b="1" i="0" u="none" strike="noStrike" cap="none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Рекламная среда</a:t>
            </a:r>
            <a:endParaRPr dirty="0"/>
          </a:p>
        </p:txBody>
      </p:sp>
      <p:sp>
        <p:nvSpPr>
          <p:cNvPr id="134" name="Google Shape;134;p16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57475"/>
            <a:ext cx="3555950" cy="32871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657475"/>
            <a:ext cx="3555950" cy="32871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657474"/>
            <a:ext cx="3556099" cy="32871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952750"/>
            <a:ext cx="3810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7"/>
          <p:cNvSpPr txBox="1"/>
          <p:nvPr/>
        </p:nvSpPr>
        <p:spPr>
          <a:xfrm>
            <a:off x="866775" y="3400425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Онлайн-Среда</a:t>
            </a:r>
            <a:endParaRPr dirty="0"/>
          </a:p>
        </p:txBody>
      </p:sp>
      <p:sp>
        <p:nvSpPr>
          <p:cNvPr id="145" name="Google Shape;145;p17"/>
          <p:cNvSpPr txBox="1"/>
          <p:nvPr/>
        </p:nvSpPr>
        <p:spPr>
          <a:xfrm>
            <a:off x="866774" y="3867150"/>
            <a:ext cx="3174949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Интернет, социальные сети, поисковые системы (наиболее эффективная среда для программного обеспечения).</a:t>
            </a:r>
            <a:endParaRPr sz="2000" dirty="0"/>
          </a:p>
        </p:txBody>
      </p:sp>
      <p:pic>
        <p:nvPicPr>
          <p:cNvPr id="146" name="Google Shape;146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13225" y="2952750"/>
            <a:ext cx="3810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7"/>
          <p:cNvSpPr txBox="1"/>
          <p:nvPr/>
        </p:nvSpPr>
        <p:spPr>
          <a:xfrm>
            <a:off x="4613225" y="3400425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Аудио-Визуальный</a:t>
            </a:r>
            <a:endParaRPr dirty="0"/>
          </a:p>
        </p:txBody>
      </p:sp>
      <p:sp>
        <p:nvSpPr>
          <p:cNvPr id="148" name="Google Shape;148;p17"/>
          <p:cNvSpPr txBox="1"/>
          <p:nvPr/>
        </p:nvSpPr>
        <p:spPr>
          <a:xfrm>
            <a:off x="4613225" y="3867150"/>
            <a:ext cx="29654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Телевидение и радио (используется для потребительских программных продуктов).</a:t>
            </a:r>
            <a:endParaRPr sz="2000" dirty="0"/>
          </a:p>
        </p:txBody>
      </p:sp>
      <p:pic>
        <p:nvPicPr>
          <p:cNvPr id="149" name="Google Shape;149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9675" y="2952750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/>
          <p:cNvSpPr txBox="1"/>
          <p:nvPr/>
        </p:nvSpPr>
        <p:spPr>
          <a:xfrm>
            <a:off x="8359675" y="3400425"/>
            <a:ext cx="311382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Печатные СМИ</a:t>
            </a:r>
            <a:endParaRPr dirty="0"/>
          </a:p>
        </p:txBody>
      </p:sp>
      <p:sp>
        <p:nvSpPr>
          <p:cNvPr id="151" name="Google Shape;151;p17"/>
          <p:cNvSpPr txBox="1"/>
          <p:nvPr/>
        </p:nvSpPr>
        <p:spPr>
          <a:xfrm>
            <a:off x="8359675" y="3867150"/>
            <a:ext cx="3113826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Специализированные журналы (например, Forbes, TechCrunch) для лиц, принимающих решения в области ИТ.</a:t>
            </a:r>
            <a:endParaRPr sz="2000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Основные ИТ-среды</a:t>
            </a:r>
            <a:endParaRPr dirty="0"/>
          </a:p>
        </p:txBody>
      </p:sp>
      <p:sp>
        <p:nvSpPr>
          <p:cNvPr id="153" name="Google Shape;153;p17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8"/>
          <p:cNvSpPr txBox="1"/>
          <p:nvPr/>
        </p:nvSpPr>
        <p:spPr>
          <a:xfrm>
            <a:off x="571500" y="2241977"/>
            <a:ext cx="11049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Критерии выбора для продвижения программного обеспечения:</a:t>
            </a:r>
            <a:endParaRPr sz="2000" dirty="0"/>
          </a:p>
        </p:txBody>
      </p:sp>
      <p:sp>
        <p:nvSpPr>
          <p:cNvPr id="160" name="Google Shape;160;p18"/>
          <p:cNvSpPr txBox="1"/>
          <p:nvPr/>
        </p:nvSpPr>
        <p:spPr>
          <a:xfrm>
            <a:off x="904875" y="3322384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Цели кампании </a:t>
            </a: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Известность против Преобразование.</a:t>
            </a:r>
            <a:endParaRPr sz="2000" dirty="0"/>
          </a:p>
        </p:txBody>
      </p:sp>
      <p:sp>
        <p:nvSpPr>
          <p:cNvPr id="161" name="Google Shape;161;p18"/>
          <p:cNvSpPr txBox="1"/>
          <p:nvPr/>
        </p:nvSpPr>
        <p:spPr>
          <a:xfrm>
            <a:off x="904875" y="3829050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Доступный бюджет </a:t>
            </a: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Реклама в социальных сетях против Телевизионный ролик.</a:t>
            </a:r>
            <a:endParaRPr sz="2000" dirty="0"/>
          </a:p>
        </p:txBody>
      </p:sp>
      <p:sp>
        <p:nvSpPr>
          <p:cNvPr id="162" name="Google Shape;162;p18"/>
          <p:cNvSpPr txBox="1"/>
          <p:nvPr/>
        </p:nvSpPr>
        <p:spPr>
          <a:xfrm>
            <a:off x="904875" y="4200525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Профиль пользователя </a:t>
            </a: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Где наш идеальный клиент проводит время?</a:t>
            </a:r>
            <a:endParaRPr sz="2000" dirty="0"/>
          </a:p>
        </p:txBody>
      </p:sp>
      <p:sp>
        <p:nvSpPr>
          <p:cNvPr id="163" name="Google Shape;163;p18"/>
          <p:cNvSpPr txBox="1"/>
          <p:nvPr/>
        </p:nvSpPr>
        <p:spPr>
          <a:xfrm>
            <a:off x="904875" y="4572000"/>
            <a:ext cx="10715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Сложность продукта</a:t>
            </a: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Сложные продукты требуют средств массовой информации, которые позволяют подробные объяснения (например, YouTube, блоги).</a:t>
            </a:r>
            <a:endParaRPr sz="2000" dirty="0"/>
          </a:p>
        </p:txBody>
      </p:sp>
      <p:sp>
        <p:nvSpPr>
          <p:cNvPr id="164" name="Google Shape;164;p18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Выбор Среды</a:t>
            </a:r>
            <a:endParaRPr dirty="0"/>
          </a:p>
        </p:txBody>
      </p:sp>
      <p:sp>
        <p:nvSpPr>
          <p:cNvPr id="165" name="Google Shape;165;p18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57575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3250" y="3946311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44559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0862" y="4742807"/>
            <a:ext cx="10477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81187"/>
            <a:ext cx="5286375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/>
        </p:nvSpPr>
        <p:spPr>
          <a:xfrm>
            <a:off x="571500" y="2019299"/>
            <a:ext cx="528637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Определение: конкретный автомобиль, несущий сообщение в рекламной среде.</a:t>
            </a:r>
            <a:endParaRPr sz="2000" dirty="0"/>
          </a:p>
        </p:txBody>
      </p:sp>
      <p:sp>
        <p:nvSpPr>
          <p:cNvPr id="177" name="Google Shape;177;p19"/>
          <p:cNvSpPr txBox="1"/>
          <p:nvPr/>
        </p:nvSpPr>
        <p:spPr>
          <a:xfrm>
            <a:off x="571500" y="3150972"/>
            <a:ext cx="528637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Если средой является "интернет", поддержкой может быть" страница компании в Facebook "или"баннер на новостном сайте".</a:t>
            </a:r>
            <a:endParaRPr sz="2000" dirty="0"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4934548"/>
            <a:ext cx="528637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В программном обеспечении носитель должен быть как можно ближе к точке установки (например, App Store).</a:t>
            </a:r>
            <a:endParaRPr sz="2000" dirty="0"/>
          </a:p>
        </p:txBody>
      </p:sp>
      <p:pic>
        <p:nvPicPr>
          <p:cNvPr id="179" name="Google Shape;179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8907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9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2. Поддержка Рекламы</a:t>
            </a:r>
            <a:endParaRPr dirty="0"/>
          </a:p>
        </p:txBody>
      </p:sp>
      <p:sp>
        <p:nvSpPr>
          <p:cNvPr id="181" name="Google Shape;181;p19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7" name="Google Shape;187;p20"/>
          <p:cNvGraphicFramePr/>
          <p:nvPr>
            <p:extLst>
              <p:ext uri="{D42A27DB-BD31-4B8C-83A1-F6EECF244321}">
                <p14:modId xmlns:p14="http://schemas.microsoft.com/office/powerpoint/2010/main" val="2650536378"/>
              </p:ext>
            </p:extLst>
          </p:nvPr>
        </p:nvGraphicFramePr>
        <p:xfrm>
          <a:off x="571500" y="2495550"/>
          <a:ext cx="11049000" cy="2771750"/>
        </p:xfrm>
        <a:graphic>
          <a:graphicData uri="http://schemas.openxmlformats.org/drawingml/2006/table">
            <a:tbl>
              <a:tblPr firstRow="1" bandRow="1">
                <a:noFill/>
                <a:tableStyleId>{95961CC1-CF2A-4C1A-918D-BD70BCA09AB9}</a:tableStyleId>
              </a:tblPr>
              <a:tblGrid>
                <a:gridCol w="3228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Mediu</a:t>
                      </a:r>
                      <a:r>
                        <a:rPr lang="en-US" sz="1800" b="1" i="0" u="none" strike="noStrike" cap="none" dirty="0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800" b="1" i="0" u="none" strike="noStrike" cap="none" dirty="0" err="1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Publicitar</a:t>
                      </a:r>
                      <a:endParaRPr sz="2000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Suport</a:t>
                      </a:r>
                      <a:r>
                        <a:rPr lang="en-US" sz="1800" b="1" i="0" u="none" strike="noStrike" cap="none" dirty="0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800" b="1" i="0" u="none" strike="noStrike" cap="none" dirty="0" err="1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Publicitar</a:t>
                      </a:r>
                      <a:r>
                        <a:rPr lang="en-US" sz="1800" b="1" i="0" u="none" strike="noStrike" cap="none" dirty="0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(</a:t>
                      </a:r>
                      <a:r>
                        <a:rPr lang="en-US" sz="1800" b="1" i="0" u="none" strike="noStrike" cap="none" dirty="0" err="1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Exemple</a:t>
                      </a:r>
                      <a:r>
                        <a:rPr lang="en-US" sz="1800" b="1" i="0" u="none" strike="noStrike" cap="none" dirty="0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IT)</a:t>
                      </a:r>
                      <a:endParaRPr sz="2000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18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0" i="0" u="none" strike="noStrike" cap="none" dirty="0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Интернет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Google Search, LinkedIn Ads, Newsletter, In-App Banner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0" i="0" u="none" strike="noStrike" cap="none" dirty="0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Наружная Реклама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Panou digital în Hub-uri Tehnologice, Roll-up la conferințe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0" i="0" u="none" strike="noStrike" cap="none" dirty="0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пресса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Revista "Magazin IT", Ziarul de Business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0" i="0" u="none" strike="noStrike" cap="none" dirty="0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События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Hackathon, Workshop, Webinar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8" name="Google Shape;188;p20"/>
          <p:cNvSpPr/>
          <p:nvPr/>
        </p:nvSpPr>
        <p:spPr>
          <a:xfrm>
            <a:off x="571500" y="3028950"/>
            <a:ext cx="3228082" cy="1905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/>
          <p:nvPr/>
        </p:nvSpPr>
        <p:spPr>
          <a:xfrm>
            <a:off x="3799582" y="3028950"/>
            <a:ext cx="7820917" cy="1905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0"/>
          <p:cNvSpPr/>
          <p:nvPr/>
        </p:nvSpPr>
        <p:spPr>
          <a:xfrm>
            <a:off x="571500" y="3595687"/>
            <a:ext cx="3228082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0"/>
          <p:cNvSpPr/>
          <p:nvPr/>
        </p:nvSpPr>
        <p:spPr>
          <a:xfrm>
            <a:off x="3799582" y="3595687"/>
            <a:ext cx="782091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/>
          <p:nvPr/>
        </p:nvSpPr>
        <p:spPr>
          <a:xfrm>
            <a:off x="571500" y="4148137"/>
            <a:ext cx="3228082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/>
          <p:nvPr/>
        </p:nvSpPr>
        <p:spPr>
          <a:xfrm>
            <a:off x="3799582" y="4148137"/>
            <a:ext cx="782091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571500" y="4700587"/>
            <a:ext cx="3228082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3799582" y="4700587"/>
            <a:ext cx="782091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0"/>
          <p:cNvSpPr/>
          <p:nvPr/>
        </p:nvSpPr>
        <p:spPr>
          <a:xfrm>
            <a:off x="571500" y="5253037"/>
            <a:ext cx="3228082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3799582" y="5253037"/>
            <a:ext cx="782091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Mediu</a:t>
            </a:r>
            <a:r>
              <a:rPr lang="en-US" sz="3150" b="1" i="0" u="none" strike="noStrike" cap="none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 vs. </a:t>
            </a:r>
            <a:r>
              <a:rPr lang="en-US" sz="3150" b="1" i="0" u="none" strike="noStrike" cap="none" dirty="0" err="1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Suport</a:t>
            </a:r>
            <a:endParaRPr dirty="0"/>
          </a:p>
        </p:txBody>
      </p:sp>
      <p:sp>
        <p:nvSpPr>
          <p:cNvPr id="199" name="Google Shape;199;p20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81187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8907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1"/>
          <p:cNvSpPr txBox="1"/>
          <p:nvPr/>
        </p:nvSpPr>
        <p:spPr>
          <a:xfrm>
            <a:off x="6334125" y="2051476"/>
            <a:ext cx="528637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Поддержка рекламы в программном обеспечении должна соответствовать пользовательскому опыту (User Experience).</a:t>
            </a:r>
            <a:endParaRPr sz="2000" dirty="0"/>
          </a:p>
        </p:txBody>
      </p:sp>
      <p:sp>
        <p:nvSpPr>
          <p:cNvPr id="208" name="Google Shape;208;p21"/>
          <p:cNvSpPr txBox="1"/>
          <p:nvPr/>
        </p:nvSpPr>
        <p:spPr>
          <a:xfrm>
            <a:off x="6334125" y="3838575"/>
            <a:ext cx="5286375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Инвазивная реклама (агрессивные всплывающие окна) на неподходящих носителях может создать негативный имидж продукта, независимо от того, насколько хорош исходный код.</a:t>
            </a:r>
            <a:endParaRPr sz="2000" dirty="0"/>
          </a:p>
        </p:txBody>
      </p:sp>
      <p:sp>
        <p:nvSpPr>
          <p:cNvPr id="209" name="Google Shape;209;p21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Поддержка и </a:t>
            </a:r>
            <a:r>
              <a:rPr lang="en-US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UX</a:t>
            </a:r>
            <a:endParaRPr dirty="0"/>
          </a:p>
        </p:txBody>
      </p:sp>
      <p:sp>
        <p:nvSpPr>
          <p:cNvPr id="210" name="Google Shape;210;p21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81187"/>
            <a:ext cx="5286375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2"/>
          <p:cNvSpPr txBox="1"/>
          <p:nvPr/>
        </p:nvSpPr>
        <p:spPr>
          <a:xfrm>
            <a:off x="571500" y="2026444"/>
            <a:ext cx="528637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Определение: набор знаков (слов, изображений, звуков), с помощью которых преимущества программного продукта передаются аудитории.</a:t>
            </a:r>
            <a:endParaRPr sz="2000" dirty="0"/>
          </a:p>
        </p:txBody>
      </p:sp>
      <p:sp>
        <p:nvSpPr>
          <p:cNvPr id="218" name="Google Shape;218;p22"/>
          <p:cNvSpPr txBox="1"/>
          <p:nvPr/>
        </p:nvSpPr>
        <p:spPr>
          <a:xfrm>
            <a:off x="571500" y="3967162"/>
            <a:ext cx="528637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Это элемент, который делает эмоциональную и рациональную связь с пользователем.</a:t>
            </a:r>
            <a:endParaRPr sz="2000" dirty="0"/>
          </a:p>
        </p:txBody>
      </p:sp>
      <p:pic>
        <p:nvPicPr>
          <p:cNvPr id="219" name="Google Shape;21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8907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3. Рекламное Сообщение</a:t>
            </a:r>
            <a:endParaRPr dirty="0"/>
          </a:p>
        </p:txBody>
      </p:sp>
      <p:sp>
        <p:nvSpPr>
          <p:cNvPr id="221" name="Google Shape;221;p22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57474"/>
            <a:ext cx="3555950" cy="328716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657475"/>
            <a:ext cx="3555950" cy="32871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549" y="2657473"/>
            <a:ext cx="3556099" cy="3287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952750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3"/>
          <p:cNvSpPr txBox="1"/>
          <p:nvPr/>
        </p:nvSpPr>
        <p:spPr>
          <a:xfrm>
            <a:off x="866775" y="3400425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Название (Заголовок)</a:t>
            </a:r>
            <a:endParaRPr dirty="0"/>
          </a:p>
        </p:txBody>
      </p:sp>
      <p:sp>
        <p:nvSpPr>
          <p:cNvPr id="232" name="Google Shape;232;p23"/>
          <p:cNvSpPr txBox="1"/>
          <p:nvPr/>
        </p:nvSpPr>
        <p:spPr>
          <a:xfrm>
            <a:off x="866775" y="3867150"/>
            <a:ext cx="2965400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Мгновенно привлекает внимание. Я должен обещать решение проблемы программного обеспечения (например: "без ошибок").</a:t>
            </a:r>
            <a:endParaRPr sz="2000" dirty="0"/>
          </a:p>
        </p:txBody>
      </p:sp>
      <p:pic>
        <p:nvPicPr>
          <p:cNvPr id="233" name="Google Shape;233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13225" y="2952750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3"/>
          <p:cNvSpPr txBox="1"/>
          <p:nvPr/>
        </p:nvSpPr>
        <p:spPr>
          <a:xfrm>
            <a:off x="4613225" y="3400425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Текст (</a:t>
            </a:r>
            <a:r>
              <a:rPr lang="en-US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Body Copy)</a:t>
            </a:r>
            <a:endParaRPr dirty="0"/>
          </a:p>
        </p:txBody>
      </p:sp>
      <p:sp>
        <p:nvSpPr>
          <p:cNvPr id="235" name="Google Shape;235;p23"/>
          <p:cNvSpPr txBox="1"/>
          <p:nvPr/>
        </p:nvSpPr>
        <p:spPr>
          <a:xfrm>
            <a:off x="4613225" y="3867150"/>
            <a:ext cx="296540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Объясняет технические аргументы и преимущества в понятной форме.</a:t>
            </a:r>
            <a:endParaRPr sz="2000" dirty="0"/>
          </a:p>
        </p:txBody>
      </p:sp>
      <p:pic>
        <p:nvPicPr>
          <p:cNvPr id="236" name="Google Shape;236;p2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9675" y="2952750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3"/>
          <p:cNvSpPr txBox="1"/>
          <p:nvPr/>
        </p:nvSpPr>
        <p:spPr>
          <a:xfrm>
            <a:off x="8359675" y="3400425"/>
            <a:ext cx="3113826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CTA (Call to Action)</a:t>
            </a:r>
            <a:endParaRPr dirty="0"/>
          </a:p>
        </p:txBody>
      </p:sp>
      <p:sp>
        <p:nvSpPr>
          <p:cNvPr id="238" name="Google Shape;238;p23"/>
          <p:cNvSpPr txBox="1"/>
          <p:nvPr/>
        </p:nvSpPr>
        <p:spPr>
          <a:xfrm>
            <a:off x="8359675" y="3867150"/>
            <a:ext cx="2965549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Призывает к действию:" Скачать сейчас"," попробовать демо","запросить предложение".</a:t>
            </a:r>
            <a:endParaRPr sz="2000" dirty="0"/>
          </a:p>
        </p:txBody>
      </p:sp>
      <p:sp>
        <p:nvSpPr>
          <p:cNvPr id="239" name="Google Shape;239;p23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Структура Сообщения</a:t>
            </a:r>
            <a:endParaRPr dirty="0"/>
          </a:p>
        </p:txBody>
      </p:sp>
      <p:sp>
        <p:nvSpPr>
          <p:cNvPr id="240" name="Google Shape;240;p23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86087"/>
            <a:ext cx="5286375" cy="24716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73641" y="3016703"/>
            <a:ext cx="5286375" cy="244100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4"/>
          <p:cNvSpPr txBox="1"/>
          <p:nvPr/>
        </p:nvSpPr>
        <p:spPr>
          <a:xfrm>
            <a:off x="866775" y="3328987"/>
            <a:ext cx="493061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Рациональный Звонок</a:t>
            </a:r>
            <a:endParaRPr dirty="0"/>
          </a:p>
        </p:txBody>
      </p:sp>
      <p:sp>
        <p:nvSpPr>
          <p:cNvPr id="249" name="Google Shape;249;p24"/>
          <p:cNvSpPr txBox="1"/>
          <p:nvPr/>
        </p:nvSpPr>
        <p:spPr>
          <a:xfrm>
            <a:off x="866775" y="3795712"/>
            <a:ext cx="4695825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Он основан на цифрах, технических характеристиках, скорости обработки, безопасности (например, "256-битное шифрование").</a:t>
            </a:r>
            <a:endParaRPr sz="2000" dirty="0"/>
          </a:p>
        </p:txBody>
      </p:sp>
      <p:sp>
        <p:nvSpPr>
          <p:cNvPr id="250" name="Google Shape;250;p24"/>
          <p:cNvSpPr txBox="1"/>
          <p:nvPr/>
        </p:nvSpPr>
        <p:spPr>
          <a:xfrm>
            <a:off x="6629400" y="3328987"/>
            <a:ext cx="493061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Эмоциональный Звонок</a:t>
            </a:r>
            <a:endParaRPr dirty="0"/>
          </a:p>
        </p:txBody>
      </p:sp>
      <p:sp>
        <p:nvSpPr>
          <p:cNvPr id="251" name="Google Shape;251;p24"/>
          <p:cNvSpPr txBox="1"/>
          <p:nvPr/>
        </p:nvSpPr>
        <p:spPr>
          <a:xfrm>
            <a:off x="6629400" y="3795712"/>
            <a:ext cx="469582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Он основан на чувстве безопасности, экономии времени для семьи, творчестве (например, "освободи своего гения").</a:t>
            </a:r>
            <a:endParaRPr sz="2000" dirty="0"/>
          </a:p>
        </p:txBody>
      </p:sp>
      <p:sp>
        <p:nvSpPr>
          <p:cNvPr id="252" name="Google Shape;252;p24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Типы звонков</a:t>
            </a:r>
            <a:endParaRPr dirty="0"/>
          </a:p>
        </p:txBody>
      </p:sp>
      <p:sp>
        <p:nvSpPr>
          <p:cNvPr id="253" name="Google Shape;253;p24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5"/>
          <p:cNvSpPr txBox="1"/>
          <p:nvPr/>
        </p:nvSpPr>
        <p:spPr>
          <a:xfrm>
            <a:off x="571500" y="1756202"/>
            <a:ext cx="11049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Как мы говорим о программном обеспечении? Тон должен быть последовательным:</a:t>
            </a:r>
            <a:endParaRPr sz="2000" dirty="0"/>
          </a:p>
        </p:txBody>
      </p:sp>
      <p:sp>
        <p:nvSpPr>
          <p:cNvPr id="260" name="Google Shape;260;p25"/>
          <p:cNvSpPr txBox="1"/>
          <p:nvPr/>
        </p:nvSpPr>
        <p:spPr>
          <a:xfrm>
            <a:off x="904875" y="2821201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Профессиональный / Эксперт</a:t>
            </a: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Подходит для решений безопасности или баз данных.</a:t>
            </a:r>
            <a:endParaRPr sz="2000" dirty="0"/>
          </a:p>
        </p:txBody>
      </p:sp>
      <p:sp>
        <p:nvSpPr>
          <p:cNvPr id="261" name="Google Shape;261;p25"/>
          <p:cNvSpPr txBox="1"/>
          <p:nvPr/>
        </p:nvSpPr>
        <p:spPr>
          <a:xfrm>
            <a:off x="904875" y="3437365"/>
            <a:ext cx="10715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Дружелюбный /Человек </a:t>
            </a: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Идеально подходит для приложений для повышения производительности или социальных сетей.</a:t>
            </a:r>
            <a:endParaRPr sz="2000" dirty="0"/>
          </a:p>
        </p:txBody>
      </p:sp>
      <p:sp>
        <p:nvSpPr>
          <p:cNvPr id="262" name="Google Shape;262;p25"/>
          <p:cNvSpPr txBox="1"/>
          <p:nvPr/>
        </p:nvSpPr>
        <p:spPr>
          <a:xfrm>
            <a:off x="904875" y="4323953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Инновационный /Футуристический </a:t>
            </a: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Рекомендуется для ИИ, блокчейна или новых технологий.</a:t>
            </a:r>
            <a:endParaRPr sz="2000" dirty="0"/>
          </a:p>
        </p:txBody>
      </p:sp>
      <p:sp>
        <p:nvSpPr>
          <p:cNvPr id="263" name="Google Shape;263;p25"/>
          <p:cNvSpPr txBox="1"/>
          <p:nvPr/>
        </p:nvSpPr>
        <p:spPr>
          <a:xfrm>
            <a:off x="904875" y="4877481"/>
            <a:ext cx="10715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Минималистский </a:t>
            </a: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Специфическая концепция производителя Apple sau, согласно которой "меньше значит больше".</a:t>
            </a:r>
            <a:endParaRPr sz="2000" dirty="0"/>
          </a:p>
        </p:txBody>
      </p:sp>
      <p:sp>
        <p:nvSpPr>
          <p:cNvPr id="264" name="Google Shape;264;p25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Тон Общения</a:t>
            </a:r>
            <a:endParaRPr dirty="0"/>
          </a:p>
        </p:txBody>
      </p:sp>
      <p:sp>
        <p:nvSpPr>
          <p:cNvPr id="265" name="Google Shape;265;p25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6" name="Google Shape;266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3005137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3671889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4338641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9435" y="5011316"/>
            <a:ext cx="10477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Google Shape;274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81187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8907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6"/>
          <p:cNvSpPr txBox="1"/>
          <p:nvPr/>
        </p:nvSpPr>
        <p:spPr>
          <a:xfrm>
            <a:off x="6334125" y="1972315"/>
            <a:ext cx="528637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Определение: центральная идея," основа " рекламной кампании. Это то уникальное обещание (USP), на котором строится все сообщение.</a:t>
            </a:r>
            <a:endParaRPr sz="2000" dirty="0"/>
          </a:p>
        </p:txBody>
      </p:sp>
      <p:sp>
        <p:nvSpPr>
          <p:cNvPr id="278" name="Google Shape;278;p26"/>
          <p:cNvSpPr txBox="1"/>
          <p:nvPr/>
        </p:nvSpPr>
        <p:spPr>
          <a:xfrm>
            <a:off x="6334125" y="4095750"/>
            <a:ext cx="528637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Рекламный вал отвечает на вопрос: "Зачем мне выбирать это программное обеспечение вместо конкурентов?"</a:t>
            </a:r>
            <a:endParaRPr sz="2000" dirty="0"/>
          </a:p>
        </p:txBody>
      </p:sp>
      <p:sp>
        <p:nvSpPr>
          <p:cNvPr id="279" name="Google Shape;279;p26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150" b="1" i="0" u="none" strike="noStrike" cap="none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4. </a:t>
            </a:r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Рекламный Вал</a:t>
            </a:r>
            <a:endParaRPr dirty="0"/>
          </a:p>
        </p:txBody>
      </p:sp>
      <p:sp>
        <p:nvSpPr>
          <p:cNvPr id="280" name="Google Shape;280;p26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86062"/>
            <a:ext cx="3555950" cy="24561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786061"/>
            <a:ext cx="3555950" cy="24561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786062"/>
            <a:ext cx="3556099" cy="2456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3081337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7"/>
          <p:cNvSpPr txBox="1"/>
          <p:nvPr/>
        </p:nvSpPr>
        <p:spPr>
          <a:xfrm>
            <a:off x="866775" y="3529012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Производительность</a:t>
            </a:r>
            <a:endParaRPr dirty="0"/>
          </a:p>
        </p:txBody>
      </p:sp>
      <p:sp>
        <p:nvSpPr>
          <p:cNvPr id="291" name="Google Shape;291;p27"/>
          <p:cNvSpPr txBox="1"/>
          <p:nvPr/>
        </p:nvSpPr>
        <p:spPr>
          <a:xfrm>
            <a:off x="866775" y="3995737"/>
            <a:ext cx="296540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Наше программное обеспечение является самым быстрым на рынке.</a:t>
            </a:r>
            <a:endParaRPr sz="2000" dirty="0"/>
          </a:p>
        </p:txBody>
      </p:sp>
      <p:pic>
        <p:nvPicPr>
          <p:cNvPr id="292" name="Google Shape;292;p2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13225" y="3081337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7"/>
          <p:cNvSpPr txBox="1"/>
          <p:nvPr/>
        </p:nvSpPr>
        <p:spPr>
          <a:xfrm>
            <a:off x="4613225" y="3529012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Безопасность</a:t>
            </a:r>
            <a:endParaRPr dirty="0"/>
          </a:p>
        </p:txBody>
      </p:sp>
      <p:sp>
        <p:nvSpPr>
          <p:cNvPr id="294" name="Google Shape;294;p27"/>
          <p:cNvSpPr txBox="1"/>
          <p:nvPr/>
        </p:nvSpPr>
        <p:spPr>
          <a:xfrm>
            <a:off x="4613225" y="3995737"/>
            <a:ext cx="296540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Ваши данные неприкосновенны с нашим решением.</a:t>
            </a:r>
            <a:endParaRPr sz="2000" dirty="0"/>
          </a:p>
        </p:txBody>
      </p:sp>
      <p:pic>
        <p:nvPicPr>
          <p:cNvPr id="295" name="Google Shape;295;p2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9675" y="3081337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27"/>
          <p:cNvSpPr txBox="1"/>
          <p:nvPr/>
        </p:nvSpPr>
        <p:spPr>
          <a:xfrm>
            <a:off x="8359675" y="3529012"/>
            <a:ext cx="311382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Экономика</a:t>
            </a:r>
            <a:endParaRPr dirty="0"/>
          </a:p>
        </p:txBody>
      </p:sp>
      <p:sp>
        <p:nvSpPr>
          <p:cNvPr id="297" name="Google Shape;297;p27"/>
          <p:cNvSpPr txBox="1"/>
          <p:nvPr/>
        </p:nvSpPr>
        <p:spPr>
          <a:xfrm>
            <a:off x="8359675" y="3995737"/>
            <a:ext cx="2965549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Самая дешевая лицензия на премиум-функции.</a:t>
            </a:r>
            <a:endParaRPr sz="2000" dirty="0"/>
          </a:p>
        </p:txBody>
      </p:sp>
      <p:sp>
        <p:nvSpPr>
          <p:cNvPr id="298" name="Google Shape;298;p27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Идентификация Шпинделя</a:t>
            </a:r>
            <a:endParaRPr dirty="0"/>
          </a:p>
        </p:txBody>
      </p:sp>
      <p:sp>
        <p:nvSpPr>
          <p:cNvPr id="299" name="Google Shape;299;p27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81412"/>
            <a:ext cx="11049000" cy="1297722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8"/>
          <p:cNvSpPr txBox="1"/>
          <p:nvPr/>
        </p:nvSpPr>
        <p:spPr>
          <a:xfrm>
            <a:off x="571500" y="2269271"/>
            <a:ext cx="11049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Распространенной ошибкой является попытка продвигать слишком много осей одновременно (например, самый быстрый, самый дешевый и самый безопасный).</a:t>
            </a:r>
            <a:endParaRPr sz="2000" dirty="0"/>
          </a:p>
        </p:txBody>
      </p:sp>
      <p:sp>
        <p:nvSpPr>
          <p:cNvPr id="307" name="Google Shape;307;p28"/>
          <p:cNvSpPr txBox="1"/>
          <p:nvPr/>
        </p:nvSpPr>
        <p:spPr>
          <a:xfrm>
            <a:off x="914400" y="4148137"/>
            <a:ext cx="104108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Золотое правило: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Выберите один доминирующий рекламный вал. Аудитория сдерживает одну важную идею из рекламы.</a:t>
            </a:r>
            <a:endParaRPr sz="2000" dirty="0"/>
          </a:p>
        </p:txBody>
      </p:sp>
      <p:sp>
        <p:nvSpPr>
          <p:cNvPr id="308" name="Google Shape;308;p28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Сосредоточение Усилий</a:t>
            </a:r>
            <a:endParaRPr dirty="0"/>
          </a:p>
        </p:txBody>
      </p:sp>
      <p:sp>
        <p:nvSpPr>
          <p:cNvPr id="309" name="Google Shape;309;p28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4" name="Google Shape;314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81187"/>
            <a:ext cx="5286375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9"/>
          <p:cNvSpPr txBox="1"/>
          <p:nvPr/>
        </p:nvSpPr>
        <p:spPr>
          <a:xfrm>
            <a:off x="571500" y="1908021"/>
            <a:ext cx="528637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Определение: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короткая, запоминающаяся и перкуссионная формула, которая синтезирует философию бренда или рекламный топор.</a:t>
            </a:r>
            <a:endParaRPr sz="2000" dirty="0"/>
          </a:p>
        </p:txBody>
      </p:sp>
      <p:sp>
        <p:nvSpPr>
          <p:cNvPr id="317" name="Google Shape;317;p29"/>
          <p:cNvSpPr txBox="1"/>
          <p:nvPr/>
        </p:nvSpPr>
        <p:spPr>
          <a:xfrm>
            <a:off x="571500" y="3967162"/>
            <a:ext cx="528637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В программном обеспечении слоган должен предлагать лучшие действия или будущее с помощью технологий.</a:t>
            </a:r>
            <a:endParaRPr sz="2000" dirty="0"/>
          </a:p>
        </p:txBody>
      </p:sp>
      <p:pic>
        <p:nvPicPr>
          <p:cNvPr id="318" name="Google Shape;318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8907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9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150" b="1" i="0" u="none" strike="noStrike" cap="none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5. </a:t>
            </a:r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Слоган</a:t>
            </a:r>
            <a:endParaRPr dirty="0"/>
          </a:p>
        </p:txBody>
      </p:sp>
      <p:sp>
        <p:nvSpPr>
          <p:cNvPr id="320" name="Google Shape;320;p29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Google Shape;325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09900"/>
            <a:ext cx="3555950" cy="1743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3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3009900"/>
            <a:ext cx="3555950" cy="1743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3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3009900"/>
            <a:ext cx="3556099" cy="174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30"/>
          <p:cNvSpPr txBox="1"/>
          <p:nvPr/>
        </p:nvSpPr>
        <p:spPr>
          <a:xfrm>
            <a:off x="866775" y="3305175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Краткость</a:t>
            </a:r>
            <a:endParaRPr dirty="0"/>
          </a:p>
        </p:txBody>
      </p:sp>
      <p:sp>
        <p:nvSpPr>
          <p:cNvPr id="330" name="Google Shape;330;p30"/>
          <p:cNvSpPr txBox="1"/>
          <p:nvPr/>
        </p:nvSpPr>
        <p:spPr>
          <a:xfrm>
            <a:off x="866775" y="3771900"/>
            <a:ext cx="29654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Идеально от 2 до 5 слов.</a:t>
            </a:r>
            <a:endParaRPr sz="2000" dirty="0"/>
          </a:p>
        </p:txBody>
      </p:sp>
      <p:sp>
        <p:nvSpPr>
          <p:cNvPr id="331" name="Google Shape;331;p30"/>
          <p:cNvSpPr txBox="1"/>
          <p:nvPr/>
        </p:nvSpPr>
        <p:spPr>
          <a:xfrm>
            <a:off x="4613225" y="3305175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Музыкальность</a:t>
            </a:r>
            <a:endParaRPr dirty="0"/>
          </a:p>
        </p:txBody>
      </p:sp>
      <p:sp>
        <p:nvSpPr>
          <p:cNvPr id="332" name="Google Shape;332;p30"/>
          <p:cNvSpPr txBox="1"/>
          <p:nvPr/>
        </p:nvSpPr>
        <p:spPr>
          <a:xfrm>
            <a:off x="4613225" y="3771900"/>
            <a:ext cx="29654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Легко произносить и запоминать.</a:t>
            </a:r>
            <a:endParaRPr sz="2000" dirty="0"/>
          </a:p>
        </p:txBody>
      </p:sp>
      <p:sp>
        <p:nvSpPr>
          <p:cNvPr id="333" name="Google Shape;333;p30"/>
          <p:cNvSpPr txBox="1"/>
          <p:nvPr/>
        </p:nvSpPr>
        <p:spPr>
          <a:xfrm>
            <a:off x="8359675" y="3305175"/>
            <a:ext cx="311382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Актуальность</a:t>
            </a:r>
            <a:endParaRPr dirty="0"/>
          </a:p>
        </p:txBody>
      </p:sp>
      <p:sp>
        <p:nvSpPr>
          <p:cNvPr id="334" name="Google Shape;334;p30"/>
          <p:cNvSpPr txBox="1"/>
          <p:nvPr/>
        </p:nvSpPr>
        <p:spPr>
          <a:xfrm>
            <a:off x="8359675" y="3771900"/>
            <a:ext cx="2965549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Прямая связь с полезностью программного обеспечения.</a:t>
            </a:r>
            <a:endParaRPr sz="2000" dirty="0"/>
          </a:p>
        </p:txBody>
      </p:sp>
      <p:sp>
        <p:nvSpPr>
          <p:cNvPr id="335" name="Google Shape;335;p30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Качества Слогана</a:t>
            </a:r>
            <a:endParaRPr dirty="0"/>
          </a:p>
        </p:txBody>
      </p:sp>
      <p:sp>
        <p:nvSpPr>
          <p:cNvPr id="336" name="Google Shape;336;p30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42" name="Google Shape;342;p31"/>
          <p:cNvGraphicFramePr/>
          <p:nvPr>
            <p:extLst>
              <p:ext uri="{D42A27DB-BD31-4B8C-83A1-F6EECF244321}">
                <p14:modId xmlns:p14="http://schemas.microsoft.com/office/powerpoint/2010/main" val="348348616"/>
              </p:ext>
            </p:extLst>
          </p:nvPr>
        </p:nvGraphicFramePr>
        <p:xfrm>
          <a:off x="571500" y="2495550"/>
          <a:ext cx="11049000" cy="2816840"/>
        </p:xfrm>
        <a:graphic>
          <a:graphicData uri="http://schemas.openxmlformats.org/drawingml/2006/table">
            <a:tbl>
              <a:tblPr firstRow="1" bandRow="1">
                <a:noFill/>
                <a:tableStyleId>{95961CC1-CF2A-4C1A-918D-BD70BCA09AB9}</a:tableStyleId>
              </a:tblPr>
              <a:tblGrid>
                <a:gridCol w="237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2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Brand Software</a:t>
                      </a:r>
                      <a:endParaRPr sz="2000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1" i="0" u="none" strike="noStrike" cap="none" dirty="0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Слоган</a:t>
                      </a:r>
                      <a:endParaRPr sz="2000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1" i="0" u="none" strike="noStrike" cap="none" dirty="0">
                          <a:solidFill>
                            <a:schemeClr val="bg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Базовое Сообщение</a:t>
                      </a:r>
                      <a:endParaRPr sz="2000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18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Apple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"Think Different"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0" i="0" u="none" strike="noStrike" cap="none" dirty="0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Творчество, Инновации, Бунт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Microsoft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"Your potential. Our passion."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0" i="0" u="none" strike="noStrike" cap="none" dirty="0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Производительность, Партнерство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Slack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"Where work happens."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0" i="0" u="none" strike="noStrike" cap="none" dirty="0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Сотрудничество, Эффективность, Центральное Расположение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Airbnb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"Belong anywhere."</a:t>
                      </a:r>
                      <a:endParaRPr sz="20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 b="0" i="0" u="none" strike="noStrike" cap="none" dirty="0">
                          <a:solidFill>
                            <a:srgbClr val="DAFFDE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Сообщество, Глобализация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3" name="Google Shape;343;p31"/>
          <p:cNvSpPr/>
          <p:nvPr/>
        </p:nvSpPr>
        <p:spPr>
          <a:xfrm>
            <a:off x="571500" y="3028950"/>
            <a:ext cx="2378273" cy="1905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31"/>
          <p:cNvSpPr/>
          <p:nvPr/>
        </p:nvSpPr>
        <p:spPr>
          <a:xfrm>
            <a:off x="2949773" y="3028950"/>
            <a:ext cx="3778299" cy="1905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1"/>
          <p:cNvSpPr/>
          <p:nvPr/>
        </p:nvSpPr>
        <p:spPr>
          <a:xfrm>
            <a:off x="6728073" y="3028950"/>
            <a:ext cx="4892426" cy="1905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31"/>
          <p:cNvSpPr/>
          <p:nvPr/>
        </p:nvSpPr>
        <p:spPr>
          <a:xfrm>
            <a:off x="571500" y="3595687"/>
            <a:ext cx="237827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31"/>
          <p:cNvSpPr/>
          <p:nvPr/>
        </p:nvSpPr>
        <p:spPr>
          <a:xfrm>
            <a:off x="2949773" y="3595687"/>
            <a:ext cx="3778299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1"/>
          <p:cNvSpPr/>
          <p:nvPr/>
        </p:nvSpPr>
        <p:spPr>
          <a:xfrm>
            <a:off x="6728073" y="3595687"/>
            <a:ext cx="489242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31"/>
          <p:cNvSpPr/>
          <p:nvPr/>
        </p:nvSpPr>
        <p:spPr>
          <a:xfrm>
            <a:off x="571500" y="4148137"/>
            <a:ext cx="237827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31"/>
          <p:cNvSpPr/>
          <p:nvPr/>
        </p:nvSpPr>
        <p:spPr>
          <a:xfrm>
            <a:off x="2949773" y="4148137"/>
            <a:ext cx="3778299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31"/>
          <p:cNvSpPr/>
          <p:nvPr/>
        </p:nvSpPr>
        <p:spPr>
          <a:xfrm>
            <a:off x="6728073" y="4148137"/>
            <a:ext cx="489242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31"/>
          <p:cNvSpPr/>
          <p:nvPr/>
        </p:nvSpPr>
        <p:spPr>
          <a:xfrm>
            <a:off x="571500" y="4700587"/>
            <a:ext cx="237827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31"/>
          <p:cNvSpPr/>
          <p:nvPr/>
        </p:nvSpPr>
        <p:spPr>
          <a:xfrm>
            <a:off x="2949773" y="4700587"/>
            <a:ext cx="3778299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1"/>
          <p:cNvSpPr/>
          <p:nvPr/>
        </p:nvSpPr>
        <p:spPr>
          <a:xfrm>
            <a:off x="6728073" y="4700587"/>
            <a:ext cx="489242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31"/>
          <p:cNvSpPr/>
          <p:nvPr/>
        </p:nvSpPr>
        <p:spPr>
          <a:xfrm>
            <a:off x="571500" y="5253037"/>
            <a:ext cx="237827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31"/>
          <p:cNvSpPr/>
          <p:nvPr/>
        </p:nvSpPr>
        <p:spPr>
          <a:xfrm>
            <a:off x="2949773" y="5253037"/>
            <a:ext cx="3778299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31"/>
          <p:cNvSpPr/>
          <p:nvPr/>
        </p:nvSpPr>
        <p:spPr>
          <a:xfrm>
            <a:off x="6728073" y="5253037"/>
            <a:ext cx="489242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31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Анализ Лозунгов</a:t>
            </a:r>
            <a:endParaRPr dirty="0"/>
          </a:p>
        </p:txBody>
      </p:sp>
      <p:sp>
        <p:nvSpPr>
          <p:cNvPr id="359" name="Google Shape;359;p31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Google Shape;364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32"/>
          <p:cNvSpPr/>
          <p:nvPr/>
        </p:nvSpPr>
        <p:spPr>
          <a:xfrm>
            <a:off x="5619750" y="762000"/>
            <a:ext cx="952500" cy="5715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2"/>
          <p:cNvSpPr txBox="1"/>
          <p:nvPr/>
        </p:nvSpPr>
        <p:spPr>
          <a:xfrm>
            <a:off x="295275" y="1009650"/>
            <a:ext cx="1160145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10000"/>
              </a:lnSpc>
            </a:pPr>
            <a:r>
              <a:rPr lang="ru-RU" sz="480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Творческая </a:t>
            </a:r>
            <a:r>
              <a:rPr lang="ru-RU" sz="4800" b="1" i="0" u="none" strike="noStrike" cap="none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Стратегия</a:t>
            </a:r>
            <a:endParaRPr dirty="0"/>
          </a:p>
        </p:txBody>
      </p:sp>
      <p:sp>
        <p:nvSpPr>
          <p:cNvPr id="367" name="Google Shape;367;p32"/>
          <p:cNvSpPr txBox="1"/>
          <p:nvPr/>
        </p:nvSpPr>
        <p:spPr>
          <a:xfrm>
            <a:off x="571500" y="1870620"/>
            <a:ext cx="11049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Как превратить маркетинговую стратегию в цифровое искусство</a:t>
            </a:r>
            <a:endParaRPr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FA21C2-0FF4-13B5-9968-14AC4B88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4647" y="2476618"/>
            <a:ext cx="4743450" cy="338137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81187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8907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33"/>
          <p:cNvSpPr txBox="1"/>
          <p:nvPr/>
        </p:nvSpPr>
        <p:spPr>
          <a:xfrm>
            <a:off x="6334125" y="2026444"/>
            <a:ext cx="528637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Креативная стратегия-это план, который направляет разработку сообщений и изображений кампании.</a:t>
            </a:r>
            <a:endParaRPr sz="2000" dirty="0"/>
          </a:p>
        </p:txBody>
      </p:sp>
      <p:sp>
        <p:nvSpPr>
          <p:cNvPr id="376" name="Google Shape;376;p33"/>
          <p:cNvSpPr txBox="1"/>
          <p:nvPr/>
        </p:nvSpPr>
        <p:spPr>
          <a:xfrm>
            <a:off x="6334125" y="3967162"/>
            <a:ext cx="5286375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Речь идет не только о том, "как выглядит" реклама, но и о том, "что она говорит" и "как она резонирует" с психологией пользователя программного обеспечения.</a:t>
            </a:r>
            <a:endParaRPr sz="1800" dirty="0"/>
          </a:p>
        </p:txBody>
      </p:sp>
      <p:sp>
        <p:nvSpPr>
          <p:cNvPr id="377" name="Google Shape;377;p33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Определение Стратегии</a:t>
            </a:r>
            <a:endParaRPr dirty="0"/>
          </a:p>
        </p:txBody>
      </p:sp>
      <p:sp>
        <p:nvSpPr>
          <p:cNvPr id="378" name="Google Shape;378;p33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3" name="Google Shape;383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81187"/>
            <a:ext cx="5286375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34"/>
          <p:cNvSpPr txBox="1"/>
          <p:nvPr/>
        </p:nvSpPr>
        <p:spPr>
          <a:xfrm>
            <a:off x="571500" y="3495675"/>
            <a:ext cx="5286375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Фундаментальный документ, которым руководит творческая команда (дизайнеры, копирайтеры). Без четкого брифа дизайн программного обеспечения может быть красивым, но коммерчески неэффективным.</a:t>
            </a:r>
            <a:endParaRPr sz="2000" dirty="0"/>
          </a:p>
        </p:txBody>
      </p:sp>
      <p:pic>
        <p:nvPicPr>
          <p:cNvPr id="386" name="Google Shape;386;p3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8907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34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Творческий бриф</a:t>
            </a:r>
            <a:endParaRPr dirty="0"/>
          </a:p>
        </p:txBody>
      </p:sp>
      <p:sp>
        <p:nvSpPr>
          <p:cNvPr id="388" name="Google Shape;388;p34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5"/>
          <p:cNvSpPr txBox="1"/>
          <p:nvPr/>
        </p:nvSpPr>
        <p:spPr>
          <a:xfrm>
            <a:off x="904875" y="1796783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Цель : Чего мы хотим достичь? (пример: 1000 загрузок).</a:t>
            </a:r>
            <a:endParaRPr sz="2000" dirty="0"/>
          </a:p>
        </p:txBody>
      </p:sp>
      <p:sp>
        <p:nvSpPr>
          <p:cNvPr id="395" name="Google Shape;395;p35"/>
          <p:cNvSpPr txBox="1"/>
          <p:nvPr/>
        </p:nvSpPr>
        <p:spPr>
          <a:xfrm>
            <a:off x="904875" y="2498191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Целевая Аудитория : Кто пользователь? (например: программисты Python).</a:t>
            </a:r>
            <a:endParaRPr sz="2000" dirty="0"/>
          </a:p>
        </p:txBody>
      </p:sp>
      <p:sp>
        <p:nvSpPr>
          <p:cNvPr id="396" name="Google Shape;396;p35"/>
          <p:cNvSpPr txBox="1"/>
          <p:nvPr/>
        </p:nvSpPr>
        <p:spPr>
          <a:xfrm>
            <a:off x="904875" y="3058405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Ключевое преимущество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 в чем главное преимущество?</a:t>
            </a:r>
            <a:endParaRPr sz="2000" dirty="0"/>
          </a:p>
        </p:txBody>
      </p:sp>
      <p:sp>
        <p:nvSpPr>
          <p:cNvPr id="397" name="Google Shape;397;p35"/>
          <p:cNvSpPr txBox="1"/>
          <p:nvPr/>
        </p:nvSpPr>
        <p:spPr>
          <a:xfrm>
            <a:off x="904875" y="3756792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Тон голоса: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как мы говорим?</a:t>
            </a:r>
            <a:endParaRPr sz="2000" dirty="0"/>
          </a:p>
        </p:txBody>
      </p:sp>
      <p:sp>
        <p:nvSpPr>
          <p:cNvPr id="398" name="Google Shape;398;p35"/>
          <p:cNvSpPr txBox="1"/>
          <p:nvPr/>
        </p:nvSpPr>
        <p:spPr>
          <a:xfrm>
            <a:off x="904875" y="4438650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Мандатории: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обязательные элементы (логотип, фирменные цвета).</a:t>
            </a:r>
            <a:endParaRPr sz="2000" dirty="0"/>
          </a:p>
        </p:txBody>
      </p:sp>
      <p:sp>
        <p:nvSpPr>
          <p:cNvPr id="399" name="Google Shape;399;p35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Элементы краткого изложения</a:t>
            </a:r>
            <a:endParaRPr dirty="0"/>
          </a:p>
        </p:txBody>
      </p:sp>
      <p:sp>
        <p:nvSpPr>
          <p:cNvPr id="400" name="Google Shape;400;p35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1" name="Google Shape;401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14044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23897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43262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18575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559299"/>
            <a:ext cx="10477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Google Shape;410;p3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1" name="Google Shape;411;p3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40430"/>
            <a:ext cx="5286375" cy="3058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3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881187"/>
            <a:ext cx="5286375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36"/>
          <p:cNvSpPr txBox="1"/>
          <p:nvPr/>
        </p:nvSpPr>
        <p:spPr>
          <a:xfrm>
            <a:off x="866775" y="2663599"/>
            <a:ext cx="4930616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User Persona</a:t>
            </a:r>
            <a:endParaRPr dirty="0"/>
          </a:p>
        </p:txBody>
      </p:sp>
      <p:sp>
        <p:nvSpPr>
          <p:cNvPr id="414" name="Google Shape;414;p36"/>
          <p:cNvSpPr txBox="1"/>
          <p:nvPr/>
        </p:nvSpPr>
        <p:spPr>
          <a:xfrm>
            <a:off x="866775" y="3126126"/>
            <a:ext cx="46958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Создайте подробный профиль идеального пользователя.</a:t>
            </a:r>
            <a:endParaRPr sz="2000" dirty="0"/>
          </a:p>
        </p:txBody>
      </p:sp>
      <p:sp>
        <p:nvSpPr>
          <p:cNvPr id="415" name="Google Shape;415;p36"/>
          <p:cNvSpPr txBox="1"/>
          <p:nvPr/>
        </p:nvSpPr>
        <p:spPr>
          <a:xfrm>
            <a:off x="866775" y="4024312"/>
            <a:ext cx="469582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Пример: "Андрей, 28 лет, энтузиаст игр, ищет программное решение для оптимизации задержки в сети."</a:t>
            </a:r>
            <a:endParaRPr sz="2000" dirty="0"/>
          </a:p>
        </p:txBody>
      </p:sp>
      <p:pic>
        <p:nvPicPr>
          <p:cNvPr id="416" name="Google Shape;416;p3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43650" y="18907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36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Целевая Аудитория</a:t>
            </a:r>
            <a:endParaRPr dirty="0"/>
          </a:p>
        </p:txBody>
      </p:sp>
      <p:sp>
        <p:nvSpPr>
          <p:cNvPr id="418" name="Google Shape;418;p36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Google Shape;423;p3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52812"/>
            <a:ext cx="3555950" cy="2008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3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3452812"/>
            <a:ext cx="3555950" cy="2008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Google Shape;426;p3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3452812"/>
            <a:ext cx="3556099" cy="2008495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37"/>
          <p:cNvSpPr txBox="1"/>
          <p:nvPr/>
        </p:nvSpPr>
        <p:spPr>
          <a:xfrm>
            <a:off x="571500" y="2738437"/>
            <a:ext cx="11049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Креативная стратегия включает в себя выбор визуальных элементов:</a:t>
            </a:r>
            <a:endParaRPr sz="2000" dirty="0"/>
          </a:p>
        </p:txBody>
      </p:sp>
      <p:sp>
        <p:nvSpPr>
          <p:cNvPr id="428" name="Google Shape;428;p37"/>
          <p:cNvSpPr txBox="1"/>
          <p:nvPr/>
        </p:nvSpPr>
        <p:spPr>
          <a:xfrm>
            <a:off x="866775" y="3748087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Цветовая палитра</a:t>
            </a:r>
            <a:endParaRPr dirty="0"/>
          </a:p>
        </p:txBody>
      </p:sp>
      <p:sp>
        <p:nvSpPr>
          <p:cNvPr id="429" name="Google Shape;429;p37"/>
          <p:cNvSpPr txBox="1"/>
          <p:nvPr/>
        </p:nvSpPr>
        <p:spPr>
          <a:xfrm>
            <a:off x="866775" y="4214812"/>
            <a:ext cx="296540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Синий для уверенности, зеленый для роста, черный для роскоши/премиум.</a:t>
            </a:r>
            <a:endParaRPr sz="2000" dirty="0"/>
          </a:p>
        </p:txBody>
      </p:sp>
      <p:sp>
        <p:nvSpPr>
          <p:cNvPr id="430" name="Google Shape;430;p37"/>
          <p:cNvSpPr txBox="1"/>
          <p:nvPr/>
        </p:nvSpPr>
        <p:spPr>
          <a:xfrm>
            <a:off x="4613225" y="3748087"/>
            <a:ext cx="311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Типография</a:t>
            </a:r>
            <a:endParaRPr dirty="0"/>
          </a:p>
        </p:txBody>
      </p:sp>
      <p:sp>
        <p:nvSpPr>
          <p:cNvPr id="431" name="Google Shape;431;p37"/>
          <p:cNvSpPr txBox="1"/>
          <p:nvPr/>
        </p:nvSpPr>
        <p:spPr>
          <a:xfrm>
            <a:off x="4613225" y="4214812"/>
            <a:ext cx="296540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Современные шрифты (без засечек), чтобы предложить передовые технологии.</a:t>
            </a:r>
            <a:endParaRPr sz="2000" dirty="0"/>
          </a:p>
        </p:txBody>
      </p:sp>
      <p:sp>
        <p:nvSpPr>
          <p:cNvPr id="432" name="Google Shape;432;p37"/>
          <p:cNvSpPr txBox="1"/>
          <p:nvPr/>
        </p:nvSpPr>
        <p:spPr>
          <a:xfrm>
            <a:off x="8359675" y="3748087"/>
            <a:ext cx="311382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1800" b="1" dirty="0">
                <a:solidFill>
                  <a:srgbClr val="818CF8"/>
                </a:solidFill>
                <a:latin typeface="DM Sans"/>
                <a:ea typeface="DM Sans"/>
                <a:cs typeface="DM Sans"/>
                <a:sym typeface="DM Sans"/>
              </a:rPr>
              <a:t>Иконография</a:t>
            </a:r>
            <a:endParaRPr dirty="0"/>
          </a:p>
        </p:txBody>
      </p:sp>
      <p:sp>
        <p:nvSpPr>
          <p:cNvPr id="433" name="Google Shape;433;p37"/>
          <p:cNvSpPr txBox="1"/>
          <p:nvPr/>
        </p:nvSpPr>
        <p:spPr>
          <a:xfrm>
            <a:off x="8359675" y="4214812"/>
            <a:ext cx="2965549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Интуитивно понятные значки, описывающие функции программного обеспечения.</a:t>
            </a:r>
            <a:endParaRPr sz="2000" dirty="0"/>
          </a:p>
        </p:txBody>
      </p:sp>
      <p:sp>
        <p:nvSpPr>
          <p:cNvPr id="434" name="Google Shape;434;p37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Визуальная Идентичность</a:t>
            </a:r>
            <a:endParaRPr dirty="0"/>
          </a:p>
        </p:txBody>
      </p:sp>
      <p:sp>
        <p:nvSpPr>
          <p:cNvPr id="435" name="Google Shape;435;p37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0" name="Google Shape;440;p3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1" name="Google Shape;441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276600"/>
            <a:ext cx="5286375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8"/>
          <p:cNvSpPr txBox="1"/>
          <p:nvPr/>
        </p:nvSpPr>
        <p:spPr>
          <a:xfrm>
            <a:off x="571500" y="2070727"/>
            <a:ext cx="528637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Рассказывание историй превращает засушливый продукт (код) в человеческий опыт.</a:t>
            </a:r>
            <a:endParaRPr sz="2000" dirty="0"/>
          </a:p>
        </p:txBody>
      </p:sp>
      <p:sp>
        <p:nvSpPr>
          <p:cNvPr id="443" name="Google Shape;443;p38"/>
          <p:cNvSpPr txBox="1"/>
          <p:nvPr/>
        </p:nvSpPr>
        <p:spPr>
          <a:xfrm>
            <a:off x="571500" y="3967162"/>
            <a:ext cx="5286375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Пример: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мы не продаем базу данных, мы продаем спокойствие менеджеру, который знает, что информация о фирме безопасна.</a:t>
            </a:r>
            <a:endParaRPr sz="2000" dirty="0"/>
          </a:p>
        </p:txBody>
      </p:sp>
      <p:sp>
        <p:nvSpPr>
          <p:cNvPr id="444" name="Google Shape;444;p38"/>
          <p:cNvSpPr txBox="1"/>
          <p:nvPr/>
        </p:nvSpPr>
        <p:spPr>
          <a:xfrm>
            <a:off x="6638925" y="3752850"/>
            <a:ext cx="467677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i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"Люди покупают не то, что вы делаете, а то, почему вы это делаете.- Саймон Синек</a:t>
            </a:r>
            <a:endParaRPr sz="2000" dirty="0"/>
          </a:p>
        </p:txBody>
      </p:sp>
      <p:sp>
        <p:nvSpPr>
          <p:cNvPr id="445" name="Google Shape;445;p38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Сила Истории</a:t>
            </a:r>
            <a:endParaRPr dirty="0"/>
          </a:p>
        </p:txBody>
      </p:sp>
      <p:sp>
        <p:nvSpPr>
          <p:cNvPr id="446" name="Google Shape;446;p38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1" name="Google Shape;451;p3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39"/>
          <p:cNvSpPr txBox="1"/>
          <p:nvPr/>
        </p:nvSpPr>
        <p:spPr>
          <a:xfrm>
            <a:off x="571500" y="2033007"/>
            <a:ext cx="11049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Как мы узнаем, работает ли творческая стратегия?</a:t>
            </a:r>
            <a:endParaRPr sz="2000" dirty="0"/>
          </a:p>
        </p:txBody>
      </p:sp>
      <p:sp>
        <p:nvSpPr>
          <p:cNvPr id="453" name="Google Shape;453;p39"/>
          <p:cNvSpPr txBox="1"/>
          <p:nvPr/>
        </p:nvSpPr>
        <p:spPr>
          <a:xfrm>
            <a:off x="904875" y="2594111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A/B Testing: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Тестирование двух вариантов дизайна, чтобы увидеть, что привлекает больше клиентов.</a:t>
            </a:r>
            <a:endParaRPr sz="2000" dirty="0"/>
          </a:p>
        </p:txBody>
      </p:sp>
      <p:sp>
        <p:nvSpPr>
          <p:cNvPr id="454" name="Google Shape;454;p39"/>
          <p:cNvSpPr txBox="1"/>
          <p:nvPr/>
        </p:nvSpPr>
        <p:spPr>
          <a:xfrm>
            <a:off x="904875" y="3202754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CTR (Click-Through Rate</a:t>
            </a: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):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Процент людей, которые нажимают на рекламу</a:t>
            </a: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2000" dirty="0"/>
          </a:p>
        </p:txBody>
      </p:sp>
      <p:sp>
        <p:nvSpPr>
          <p:cNvPr id="455" name="Google Shape;455;p39"/>
          <p:cNvSpPr txBox="1"/>
          <p:nvPr/>
        </p:nvSpPr>
        <p:spPr>
          <a:xfrm>
            <a:off x="904875" y="3811397"/>
            <a:ext cx="107156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Коэффициент конверсии: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сколько из тех, кто видел рекламу, установили программное обеспечение</a:t>
            </a:r>
            <a:r>
              <a:rPr lang="ru-RU" sz="18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2000" dirty="0"/>
          </a:p>
        </p:txBody>
      </p:sp>
      <p:sp>
        <p:nvSpPr>
          <p:cNvPr id="456" name="Google Shape;456;p39"/>
          <p:cNvSpPr txBox="1"/>
          <p:nvPr/>
        </p:nvSpPr>
        <p:spPr>
          <a:xfrm>
            <a:off x="762000" y="57150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ru-RU" sz="315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Измерение Успеха</a:t>
            </a:r>
            <a:endParaRPr dirty="0"/>
          </a:p>
        </p:txBody>
      </p:sp>
      <p:sp>
        <p:nvSpPr>
          <p:cNvPr id="457" name="Google Shape;457;p39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8" name="Google Shape;458;p3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62238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p3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3295649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" name="Google Shape;460;p3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3958217"/>
            <a:ext cx="10477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3" name="Google Shape;503;p4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42"/>
          <p:cNvSpPr txBox="1"/>
          <p:nvPr/>
        </p:nvSpPr>
        <p:spPr>
          <a:xfrm>
            <a:off x="295275" y="571500"/>
            <a:ext cx="1160145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10000"/>
              </a:lnSpc>
            </a:pPr>
            <a:r>
              <a:rPr lang="ru-RU" sz="6000" b="1" dirty="0">
                <a:solidFill>
                  <a:srgbClr val="F5F5F5"/>
                </a:solidFill>
                <a:latin typeface="DM Sans"/>
                <a:ea typeface="DM Sans"/>
                <a:cs typeface="DM Sans"/>
                <a:sym typeface="DM Sans"/>
              </a:rPr>
              <a:t>Вопросы?</a:t>
            </a:r>
            <a:endParaRPr dirty="0"/>
          </a:p>
        </p:txBody>
      </p:sp>
      <p:sp>
        <p:nvSpPr>
          <p:cNvPr id="505" name="Google Shape;505;p42"/>
          <p:cNvSpPr txBox="1"/>
          <p:nvPr/>
        </p:nvSpPr>
        <p:spPr>
          <a:xfrm>
            <a:off x="571500" y="1638300"/>
            <a:ext cx="11049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18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Спасибо за </a:t>
            </a:r>
            <a:r>
              <a:rPr lang="ru-RU" sz="18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внимание!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CE5559-DCCF-058B-FC6D-C8A467B87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0200" y="2311400"/>
            <a:ext cx="3622675" cy="35986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1164</Words>
  <Application>Microsoft Office PowerPoint</Application>
  <PresentationFormat>Widescreen</PresentationFormat>
  <Paragraphs>146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Urbanist</vt:lpstr>
      <vt:lpstr>DM Sans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Cazacu-Condrat Dumitru</cp:lastModifiedBy>
  <cp:revision>106</cp:revision>
  <dcterms:modified xsi:type="dcterms:W3CDTF">2026-01-26T08:14:07Z</dcterms:modified>
</cp:coreProperties>
</file>