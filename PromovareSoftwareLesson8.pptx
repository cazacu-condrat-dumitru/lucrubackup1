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4" r:id="rId27"/>
    <p:sldId id="285" r:id="rId28"/>
  </p:sldIdLst>
  <p:sldSz cx="12192000" cy="6858000"/>
  <p:notesSz cx="6858000" cy="9144000"/>
  <p:embeddedFontLst>
    <p:embeddedFont>
      <p:font typeface="Inter" panose="020B0604020202020204" charset="0"/>
      <p:regular r:id="rId30"/>
      <p:bold r:id="rId31"/>
      <p:italic r:id="rId32"/>
      <p:boldItalic r:id="rId33"/>
    </p:embeddedFont>
    <p:embeddedFont>
      <p:font typeface="Inter ExtraBold" panose="020B0604020202020204" charset="0"/>
      <p:bold r:id="rId34"/>
      <p:boldItalic r:id="rId35"/>
    </p:embeddedFont>
    <p:embeddedFont>
      <p:font typeface="Inter SemiBold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A22BA1-882F-4E6C-8CDB-B2260D0B7CBA}">
  <a:tblStyle styleId="{2AA22BA1-882F-4E6C-8CDB-B2260D0B7CB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1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80010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PROMOVAREA PRODUSELOR SOFTWARE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24584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Managementul Proiectului </a:t>
            </a:r>
            <a:r>
              <a:rPr lang="en-US" sz="4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CRM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10681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Lecția</a:t>
            </a:r>
            <a:r>
              <a:rPr lang="en-US" sz="180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7: </a:t>
            </a:r>
            <a:r>
              <a:rPr lang="en-US" sz="1800" b="0" i="0" u="none" strike="noStrike" cap="none" dirty="0" err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Etape</a:t>
            </a:r>
            <a:r>
              <a:rPr lang="en-US" sz="180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800" b="0" i="0" u="none" strike="noStrike" cap="none" dirty="0" err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Implementare</a:t>
            </a:r>
            <a:r>
              <a:rPr lang="en-US" sz="180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și</a:t>
            </a:r>
            <a:r>
              <a:rPr lang="en-US" sz="180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Complexitate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853481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Cazacu-Condrat Dumitru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22215"/>
            <a:ext cx="3492400" cy="2982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722214"/>
            <a:ext cx="3492549" cy="2982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801" y="2682255"/>
            <a:ext cx="3492400" cy="30224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Obiectivele Lecției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0174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66775" y="3512790"/>
            <a:ext cx="3046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Etapele</a:t>
            </a:r>
            <a:r>
              <a:rPr lang="en-US" sz="1800" b="1" i="0" u="none" strike="noStrike" cap="none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Proiectului</a:t>
            </a:r>
            <a:endParaRPr sz="160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3931890"/>
            <a:ext cx="290185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Identificarea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fazelor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critice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ale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implementării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unui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sistem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CRM, de la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strategie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mentenanță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30174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644925" y="3512790"/>
            <a:ext cx="30470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Complexitate</a:t>
            </a:r>
            <a:endParaRPr sz="160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4644925" y="3931890"/>
            <a:ext cx="290199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Înțelegerea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provocărilor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tehnice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și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organizaționale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care pot duce la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eșecul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proiectului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3225" y="301749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423225" y="3512790"/>
            <a:ext cx="3046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Factorul</a:t>
            </a:r>
            <a:r>
              <a:rPr lang="en-US" sz="1800" b="1" i="0" u="none" strike="noStrike" cap="none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 Uman</a:t>
            </a:r>
            <a:endParaRPr sz="1600"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8423225" y="3931890"/>
            <a:ext cx="290185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Rolul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managementului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schimbării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(Change Management)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în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adopția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software-</a:t>
            </a:r>
            <a:r>
              <a:rPr lang="en-US" sz="180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ului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669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CRM: Proiect, nu doar Software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239747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greșeală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comună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este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considerarea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implementării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CRM ca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fiind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strict o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problemă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 IT.</a:t>
            </a:r>
            <a:endParaRPr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20764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238250" y="3375719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Este un </a:t>
            </a:r>
            <a:r>
              <a:rPr lang="en-US" sz="1350" b="1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proiect</a:t>
            </a:r>
            <a:r>
              <a:rPr lang="en-US" sz="1350" b="1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 Business: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Scopul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este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creșterea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profitului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și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satisfacția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clientului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1238250" y="4067175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Implică Schimbare: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Modifică modul în care angajații lucrează zilnic.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238250" y="4758630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Necesită Strategie: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Software-ul este doar unealta care susține strategia.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37571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0671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75863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22215"/>
            <a:ext cx="3492400" cy="249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722215"/>
            <a:ext cx="3492549" cy="249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722215"/>
            <a:ext cx="3492400" cy="249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Triunghiul Proiectului CRM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0174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66775" y="3512790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Timp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3931890"/>
            <a:ext cx="2901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Durata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implementării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 Un CRM complex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poate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dura 6-12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luni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până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la Go-Live.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301749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4644925" y="3512790"/>
            <a:ext cx="304709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Cost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644925" y="393189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Bugetul pentru licențe, consultanță, migrare de date și training.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3225" y="30174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8423225" y="3512790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Arie (Scope)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423225" y="3931890"/>
            <a:ext cx="2901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Funcționalitățile incluse. "Scope creep" (extinderea necontrolată) este un risc major.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3230909"/>
            <a:ext cx="5286375" cy="148203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Etapa 1: Pregătirea (Discovery)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292997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Înainte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 a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cumpăra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orice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licență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compania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trebuie să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definească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"De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ce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?".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6667500" y="3697634"/>
            <a:ext cx="46577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"Dacă digitalizezi un proces ineficient, obții doar un proces ineficient automatizat."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238250" y="3650009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Audit Intern: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Cum arată procesele actuale de vânzare?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238250" y="4067175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Definirea KPI: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Ce vrem să îmbunătățim? (ex: scurtarea ciclului de vânzare cu 20%).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238250" y="475863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Bugetare: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Alocarea resurselor financiare și umane.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65000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0671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75863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Echipa de Proiect (Stakeholders)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18"/>
          <p:cNvGraphicFramePr/>
          <p:nvPr/>
        </p:nvGraphicFramePr>
        <p:xfrm>
          <a:off x="571500" y="2543175"/>
          <a:ext cx="11049000" cy="2857375"/>
        </p:xfrm>
        <a:graphic>
          <a:graphicData uri="http://schemas.openxmlformats.org/drawingml/2006/table">
            <a:tbl>
              <a:tblPr firstRow="1" bandRow="1">
                <a:noFill/>
                <a:tableStyleId>{2AA22BA1-882F-4E6C-8CDB-B2260D0B7CBA}</a:tableStyleId>
              </a:tblPr>
              <a:tblGrid>
                <a:gridCol w="271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Responsabilitate în Proiect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Sponsor Executiv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Directorul (CEO/CSO) care finanțează proiectul și impune viziunea.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Manager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Coordonează resursele, termenele și riscurile.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Administrator CRM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Persoana tehnică ce va configura sistemul.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Users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Utilizatori experți din fiecare departament care vor testa primii.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Google Shape;167;p18"/>
          <p:cNvSpPr/>
          <p:nvPr/>
        </p:nvSpPr>
        <p:spPr>
          <a:xfrm>
            <a:off x="571500" y="3093690"/>
            <a:ext cx="2713732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285232" y="3093690"/>
            <a:ext cx="8335267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3677542"/>
            <a:ext cx="271373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3285232" y="3677542"/>
            <a:ext cx="83352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1500" y="4247108"/>
            <a:ext cx="271373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285232" y="4247108"/>
            <a:ext cx="83352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71500" y="4816673"/>
            <a:ext cx="271373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285232" y="4816673"/>
            <a:ext cx="83352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71500" y="5386238"/>
            <a:ext cx="271373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285232" y="5386238"/>
            <a:ext cx="83352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668762"/>
            <a:ext cx="2655093" cy="1604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9468" y="3668762"/>
            <a:ext cx="2655093" cy="1604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7437" y="3668762"/>
            <a:ext cx="2655093" cy="1604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5406" y="3668762"/>
            <a:ext cx="2655093" cy="16045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Etapa 2: Selecția Soluției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2842021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Procesul de alegere a software-ului potrivit (Vendor Selection):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05147" y="4099917"/>
            <a:ext cx="238779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1. Cerințe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4442817"/>
            <a:ext cx="22740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Lista funcțiilor obligatorii (Must-have).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3503116" y="4099917"/>
            <a:ext cx="238779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2. RFP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3559968" y="4442817"/>
            <a:ext cx="22740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Request for Proposal trimis către furnizori.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301085" y="4099917"/>
            <a:ext cx="238779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3. Demo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357937" y="4442817"/>
            <a:ext cx="22740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Prezentări live pe scenarii reale.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099053" y="4099917"/>
            <a:ext cx="238779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4. Decizie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155906" y="4442817"/>
            <a:ext cx="22740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Analiza cost-beneficiu și compatibilitate.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Etapa 3: Design (Blueprinting)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334125" y="2792759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Transpunerea proceselor de business în logica software-ului.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000875" y="3238500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Maparea Proceselor: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Desenarea fluxurilor de lucru (Workflows).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7000875" y="3929955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Modelarea Datelor: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Ce câmpuri sunt necesare? (Nume, Email, Industrie etc.)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7000875" y="4621410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Gap Analysis: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Ce oferă standard softul vs. ce trebuie personalizat.</a:t>
            </a:r>
            <a:endParaRPr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25" y="32385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25" y="392995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25" y="462141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Design Images - Free Download on Freepik">
            <a:extLst>
              <a:ext uri="{FF2B5EF4-FFF2-40B4-BE49-F238E27FC236}">
                <a16:creationId xmlns:a16="http://schemas.microsoft.com/office/drawing/2014/main" id="{EE6D2466-D5E3-9E31-7FDA-DFC3A6D79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06" y="2341789"/>
            <a:ext cx="4881770" cy="3258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55577"/>
            <a:ext cx="3492400" cy="203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955577"/>
            <a:ext cx="3492549" cy="203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955577"/>
            <a:ext cx="3492400" cy="203254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Analiza Decalajelor (Gap Analysis)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866775" y="3279427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Standard (Fit)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66775" y="3698527"/>
            <a:ext cx="2901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Funcționalități existente "out-of-the-box". Cel mai ieftin și sigur mod de implementare.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44925" y="3279427"/>
            <a:ext cx="304709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Configurare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644925" y="3698527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Ajustarea setărilor existente fără scriere de cod (ex: adăugare câmpuri noi, rapoarte).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423225" y="3279427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Personalizare (Code)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423225" y="3698527"/>
            <a:ext cx="2901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Scrierea de cod nou pentru funcții unice. Complexitate și cost ridicat de mentenanță.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Etapa 4: Implementarea Tehnică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857250" y="3209032"/>
            <a:ext cx="10763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Configurarea Mediului: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Crearea instanțelor de dezvoltare, testare și producție (Sandbox vs. Production).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57250" y="3626197"/>
            <a:ext cx="10763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Securitate: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Definirea rolurilor și permisiunilor (Cine vede ce date?).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57250" y="4043362"/>
            <a:ext cx="10763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Automatizare: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Crearea regulilor de business (ex: trimitere automată e-mail la înscriere).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57250" y="4460527"/>
            <a:ext cx="10763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Dezvoltare: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Programarea funcțiilor custom identificate în Gap Analysis.</a:t>
            </a:r>
            <a:endParaRPr/>
          </a:p>
        </p:txBody>
      </p:sp>
      <p:pic>
        <p:nvPicPr>
          <p:cNvPr id="240" name="Google Shape;24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2090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62619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0433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6052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669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Etapa 5: Integrarea Sistemelor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571500" y="272132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CRM-ul nu funcționează izolat. Complexitatea crește odată cu numărul de integrări:</a:t>
            </a:r>
            <a:endParaRPr/>
          </a:p>
        </p:txBody>
      </p:sp>
      <p:pic>
        <p:nvPicPr>
          <p:cNvPr id="253" name="Google Shape;25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20764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1238250" y="3441352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ERP: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Pentru facturare și stocuri.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1238250" y="3858517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Email (Outlook/Gmail):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Sincronizarea corespondenței.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238250" y="4275683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Marketing Automation: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Sincronizarea lead-urilor din site.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1238250" y="4967138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Telefonie (VoIP):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Click-to-call direct din CRM.</a:t>
            </a:r>
            <a:endParaRPr/>
          </a:p>
        </p:txBody>
      </p:sp>
      <p:pic>
        <p:nvPicPr>
          <p:cNvPr id="258" name="Google Shape;25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44135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85851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2756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967138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69865"/>
            <a:ext cx="3492400" cy="2003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969865"/>
            <a:ext cx="3492549" cy="2003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969865"/>
            <a:ext cx="3492400" cy="200397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Provocări în Integrare</a:t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866775" y="3265140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API Limits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866775" y="3684240"/>
            <a:ext cx="2901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Restricții privind volumul de date transferat între sisteme pe secundă.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4644925" y="3265140"/>
            <a:ext cx="304709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Data Sync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4644925" y="368424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Conflicte de date: Sistemul A spune "Popescu", Sistemul B spune "Popesku". Care e corect?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8423225" y="3265140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Real-time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8423225" y="3684240"/>
            <a:ext cx="2901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Nevoia de actualizare instantanee vs. actualizare în loturi (batch) noaptea.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669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Etapa 6: Migrarea Datelor</a:t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764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6334125" y="255939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Cel mai mare risc al proiectului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6334125" y="294992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Transferul datelor din vechile sisteme (Excel, CRM vechi) în noul sistem.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6334125" y="366995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Etapele migrării: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6905625" y="4115692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Extragerea datelor.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6905625" y="4389983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Curățarea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(Cleansing).</a:t>
            </a:r>
            <a:endParaRPr dirty="0"/>
          </a:p>
        </p:txBody>
      </p:sp>
      <p:sp>
        <p:nvSpPr>
          <p:cNvPr id="295" name="Google Shape;295;p25"/>
          <p:cNvSpPr txBox="1"/>
          <p:nvPr/>
        </p:nvSpPr>
        <p:spPr>
          <a:xfrm>
            <a:off x="6905625" y="4664273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Transformarea (Formatare).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6905625" y="4938563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Încărcarea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(Load).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Calitatea Datelor</a:t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 txBox="1"/>
          <p:nvPr/>
        </p:nvSpPr>
        <p:spPr>
          <a:xfrm>
            <a:off x="571500" y="451574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Înainte de import, datele trebuie curățate de duplicate, erori de formatare și informații obsolete.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5610225" y="3272730"/>
            <a:ext cx="314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=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895350" y="2982217"/>
            <a:ext cx="406717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Garbage In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895350" y="3906142"/>
            <a:ext cx="40671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DATE PROASTE LA INTRARE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6572250" y="2982217"/>
            <a:ext cx="47244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Garbage Out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6572250" y="3906142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RAPOARTE INUTILE LA IEȘIRE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558480"/>
            <a:ext cx="3492400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3558480"/>
            <a:ext cx="3492549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3558480"/>
            <a:ext cx="3492400" cy="172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Etapa 7: Testarea (QA)</a:t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571500" y="282699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Verificarea sistemului înainte de a fi livrat utilizatorilor finali.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866775" y="3853755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Unit Testing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866775" y="4272855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Testarea fiecărei funcții individuale de către dezvoltatori.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4644925" y="3853755"/>
            <a:ext cx="304709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System Testing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4644925" y="4272855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Testarea fluxurilor complete (end-to-end) și a integrărilor.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8423225" y="3853755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Stress Testing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8423225" y="4272855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Verificarea performanței sistemului sub sarcină mare de date.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415605"/>
            <a:ext cx="3492400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3415605"/>
            <a:ext cx="3492549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3415605"/>
            <a:ext cx="3492400" cy="172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Etapa 8: Instruirea (Training)</a:t>
            </a:r>
            <a:endParaRPr/>
          </a:p>
        </p:txBody>
      </p:sp>
      <p:sp>
        <p:nvSpPr>
          <p:cNvPr id="353" name="Google Shape;353;p29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571500" y="296986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Un sistem performant este inutil dacă angajații nu știu să-l folosească.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866775" y="3710880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Role-Based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866775" y="4129980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Training specific: Agenții de vânzări învață diferit de Manageri.</a:t>
            </a:r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4644925" y="3710880"/>
            <a:ext cx="304709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Materiale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4644925" y="4129980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Ghiduri PDF, tutoriale video scurte, sesiuni Q&amp;A.</a:t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8423225" y="3710880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Train the Trainer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8423225" y="4129980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Instruirea super-utilizatorilor care vor ajuta ulterior colegii.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669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Managementul Schimbării</a:t>
            </a:r>
            <a:endParaRPr/>
          </a:p>
        </p:txBody>
      </p:sp>
      <p:sp>
        <p:nvSpPr>
          <p:cNvPr id="368" name="Google Shape;368;p30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764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0"/>
          <p:cNvSpPr txBox="1"/>
          <p:nvPr/>
        </p:nvSpPr>
        <p:spPr>
          <a:xfrm>
            <a:off x="6334125" y="2929979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Complexitatea umană este adesea mai mare decât cea tehnică.</a:t>
            </a:r>
            <a:endParaRPr/>
          </a:p>
        </p:txBody>
      </p:sp>
      <p:sp>
        <p:nvSpPr>
          <p:cNvPr id="371" name="Google Shape;371;p30"/>
          <p:cNvSpPr txBox="1"/>
          <p:nvPr/>
        </p:nvSpPr>
        <p:spPr>
          <a:xfrm>
            <a:off x="7000875" y="3375719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Rezistența: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"De ce să schimbăm? Excel-ul mergea bine."</a:t>
            </a:r>
            <a:endParaRPr/>
          </a:p>
        </p:txBody>
      </p:sp>
      <p:sp>
        <p:nvSpPr>
          <p:cNvPr id="372" name="Google Shape;372;p30"/>
          <p:cNvSpPr txBox="1"/>
          <p:nvPr/>
        </p:nvSpPr>
        <p:spPr>
          <a:xfrm>
            <a:off x="7000875" y="4067175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Comunicarea: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Explicarea beneficiilor ("What's in it for me?").</a:t>
            </a:r>
            <a:endParaRPr/>
          </a:p>
        </p:txBody>
      </p:sp>
      <p:sp>
        <p:nvSpPr>
          <p:cNvPr id="373" name="Google Shape;373;p30"/>
          <p:cNvSpPr txBox="1"/>
          <p:nvPr/>
        </p:nvSpPr>
        <p:spPr>
          <a:xfrm>
            <a:off x="7000875" y="475863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Adopția: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Monitorizarea utilizării după lansare.</a:t>
            </a:r>
            <a:endParaRPr/>
          </a:p>
        </p:txBody>
      </p:sp>
      <p:pic>
        <p:nvPicPr>
          <p:cNvPr id="374" name="Google Shape;37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5125" y="337571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5125" y="40671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5125" y="475863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Etapa 9: Lansarea (Go-Live)</a:t>
            </a:r>
            <a:endParaRPr/>
          </a:p>
        </p:txBody>
      </p:sp>
      <p:sp>
        <p:nvSpPr>
          <p:cNvPr id="383" name="Google Shape;383;p31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1"/>
          <p:cNvSpPr txBox="1"/>
          <p:nvPr/>
        </p:nvSpPr>
        <p:spPr>
          <a:xfrm>
            <a:off x="571500" y="269081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Strategii de trecere în producție (Cutover):</a:t>
            </a:r>
            <a:endParaRPr/>
          </a:p>
        </p:txBody>
      </p:sp>
      <p:graphicFrame>
        <p:nvGraphicFramePr>
          <p:cNvPr id="385" name="Google Shape;385;p31"/>
          <p:cNvGraphicFramePr/>
          <p:nvPr/>
        </p:nvGraphicFramePr>
        <p:xfrm>
          <a:off x="571500" y="3136552"/>
          <a:ext cx="11049000" cy="2287800"/>
        </p:xfrm>
        <a:graphic>
          <a:graphicData uri="http://schemas.openxmlformats.org/drawingml/2006/table">
            <a:tbl>
              <a:tblPr firstRow="1" bandRow="1">
                <a:noFill/>
                <a:tableStyleId>{2AA22BA1-882F-4E6C-8CDB-B2260D0B7CBA}</a:tableStyleId>
              </a:tblPr>
              <a:tblGrid>
                <a:gridCol w="121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Strategie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Descriere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Big Bang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Toată lumea trece la noul sistem într-o singură zi.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Ridicat (dacă ceva nu merge, totul se oprește).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Lansare pe module sau departamente (treptat).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 (mai ușor de gestionat, dar durează mult).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Parallel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 folosesc ambele sisteme o perioadă.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Scăzut (siguranță), dar efort dublu pentru useri.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6" name="Google Shape;386;p31"/>
          <p:cNvSpPr/>
          <p:nvPr/>
        </p:nvSpPr>
        <p:spPr>
          <a:xfrm>
            <a:off x="571500" y="3687067"/>
            <a:ext cx="1212949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1784449" y="3687067"/>
            <a:ext cx="4939754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6724203" y="3687067"/>
            <a:ext cx="4896296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1"/>
          <p:cNvSpPr/>
          <p:nvPr/>
        </p:nvSpPr>
        <p:spPr>
          <a:xfrm>
            <a:off x="571500" y="4270920"/>
            <a:ext cx="12129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1784449" y="4270920"/>
            <a:ext cx="493975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6724203" y="4270920"/>
            <a:ext cx="48962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571500" y="4840485"/>
            <a:ext cx="12129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1784449" y="4840485"/>
            <a:ext cx="493975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6724203" y="4840485"/>
            <a:ext cx="48962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571500" y="5410051"/>
            <a:ext cx="12129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1784449" y="5410051"/>
            <a:ext cx="493975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1"/>
          <p:cNvSpPr/>
          <p:nvPr/>
        </p:nvSpPr>
        <p:spPr>
          <a:xfrm>
            <a:off x="6724203" y="5410051"/>
            <a:ext cx="48962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68934"/>
            <a:ext cx="11049000" cy="260598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2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Perioada de "Hypercare"</a:t>
            </a:r>
            <a:endParaRPr/>
          </a:p>
        </p:txBody>
      </p:sp>
      <p:sp>
        <p:nvSpPr>
          <p:cNvPr id="405" name="Google Shape;405;p32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6450" y="3068984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2"/>
          <p:cNvSpPr txBox="1"/>
          <p:nvPr/>
        </p:nvSpPr>
        <p:spPr>
          <a:xfrm>
            <a:off x="715327" y="3735734"/>
            <a:ext cx="1076134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Suport Intensiv Post-Lansare</a:t>
            </a:r>
            <a:endParaRPr/>
          </a:p>
        </p:txBody>
      </p:sp>
      <p:sp>
        <p:nvSpPr>
          <p:cNvPr id="408" name="Google Shape;408;p32"/>
          <p:cNvSpPr txBox="1"/>
          <p:nvPr/>
        </p:nvSpPr>
        <p:spPr>
          <a:xfrm>
            <a:off x="971550" y="4154834"/>
            <a:ext cx="102489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Primele 2-4 săptămâni după Go-Live sunt critice. Echipa de proiect trebuie să fie disponibilă imediat pentru a rezolva erori și confuzii ale utilizatorilor.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07084"/>
            <a:ext cx="3492400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3107084"/>
            <a:ext cx="3492549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0" y="3107084"/>
            <a:ext cx="3492400" cy="172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Factori de Complexitate</a:t>
            </a:r>
            <a:endParaRPr/>
          </a:p>
        </p:txBody>
      </p:sp>
      <p:sp>
        <p:nvSpPr>
          <p:cNvPr id="418" name="Google Shape;418;p33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 txBox="1"/>
          <p:nvPr/>
        </p:nvSpPr>
        <p:spPr>
          <a:xfrm>
            <a:off x="866775" y="3402359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Tehnică</a:t>
            </a:r>
            <a:endParaRPr/>
          </a:p>
        </p:txBody>
      </p:sp>
      <p:sp>
        <p:nvSpPr>
          <p:cNvPr id="420" name="Google Shape;420;p33"/>
          <p:cNvSpPr txBox="1"/>
          <p:nvPr/>
        </p:nvSpPr>
        <p:spPr>
          <a:xfrm>
            <a:off x="866775" y="3821459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Sisteme moștenite (Legacy), date necurățate, integrări instabile.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4644925" y="3402359"/>
            <a:ext cx="304709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Organizațională</a:t>
            </a:r>
            <a:endParaRPr/>
          </a:p>
        </p:txBody>
      </p:sp>
      <p:sp>
        <p:nvSpPr>
          <p:cNvPr id="422" name="Google Shape;422;p33"/>
          <p:cNvSpPr txBox="1"/>
          <p:nvPr/>
        </p:nvSpPr>
        <p:spPr>
          <a:xfrm>
            <a:off x="4644925" y="3821459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Structuri complexe, procese nedefinite, cultură rezistentă.</a:t>
            </a:r>
            <a:endParaRPr/>
          </a:p>
        </p:txBody>
      </p:sp>
      <p:sp>
        <p:nvSpPr>
          <p:cNvPr id="423" name="Google Shape;423;p33"/>
          <p:cNvSpPr txBox="1"/>
          <p:nvPr/>
        </p:nvSpPr>
        <p:spPr>
          <a:xfrm>
            <a:off x="8423225" y="3402359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Financiară</a:t>
            </a:r>
            <a:endParaRPr/>
          </a:p>
        </p:txBody>
      </p:sp>
      <p:sp>
        <p:nvSpPr>
          <p:cNvPr id="424" name="Google Shape;424;p33"/>
          <p:cNvSpPr txBox="1"/>
          <p:nvPr/>
        </p:nvSpPr>
        <p:spPr>
          <a:xfrm>
            <a:off x="8423225" y="3821459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Costuri ascunse (stocare date, mentenanță, training suplimentar).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3107084"/>
            <a:ext cx="5286375" cy="172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Riscul: Scope Creep</a:t>
            </a:r>
            <a:endParaRPr/>
          </a:p>
        </p:txBody>
      </p:sp>
      <p:sp>
        <p:nvSpPr>
          <p:cNvPr id="432" name="Google Shape;432;p34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>
            <a:off x="571500" y="2844254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Definiție: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Extinderea necontrolată a cerințelor proiectului pe parcursul implementării.</a:t>
            </a:r>
            <a:endParaRPr/>
          </a:p>
        </p:txBody>
      </p:sp>
      <p:sp>
        <p:nvSpPr>
          <p:cNvPr id="434" name="Google Shape;434;p34"/>
          <p:cNvSpPr txBox="1"/>
          <p:nvPr/>
        </p:nvSpPr>
        <p:spPr>
          <a:xfrm>
            <a:off x="571500" y="3564284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Efecte:</a:t>
            </a:r>
            <a:endParaRPr/>
          </a:p>
        </p:txBody>
      </p:sp>
      <p:sp>
        <p:nvSpPr>
          <p:cNvPr id="435" name="Google Shape;435;p34"/>
          <p:cNvSpPr txBox="1"/>
          <p:nvPr/>
        </p:nvSpPr>
        <p:spPr>
          <a:xfrm>
            <a:off x="6629400" y="3402359"/>
            <a:ext cx="493061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Soluție</a:t>
            </a:r>
            <a:endParaRPr/>
          </a:p>
        </p:txBody>
      </p:sp>
      <p:sp>
        <p:nvSpPr>
          <p:cNvPr id="436" name="Google Shape;436;p34"/>
          <p:cNvSpPr txBox="1"/>
          <p:nvPr/>
        </p:nvSpPr>
        <p:spPr>
          <a:xfrm>
            <a:off x="6629400" y="3821459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Documentarea strictă a cerințelor inițiale și aprobarea formală a oricărei modificări (Change Request).</a:t>
            </a:r>
            <a:endParaRPr/>
          </a:p>
        </p:txBody>
      </p:sp>
      <p:sp>
        <p:nvSpPr>
          <p:cNvPr id="437" name="Google Shape;437;p34"/>
          <p:cNvSpPr txBox="1"/>
          <p:nvPr/>
        </p:nvSpPr>
        <p:spPr>
          <a:xfrm>
            <a:off x="1238250" y="4010025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Depășirea bugetului.</a:t>
            </a:r>
            <a:endParaRPr/>
          </a:p>
        </p:txBody>
      </p:sp>
      <p:sp>
        <p:nvSpPr>
          <p:cNvPr id="438" name="Google Shape;438;p34"/>
          <p:cNvSpPr txBox="1"/>
          <p:nvPr/>
        </p:nvSpPr>
        <p:spPr>
          <a:xfrm>
            <a:off x="1238250" y="442719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Întârzierea termenului de livrare.</a:t>
            </a:r>
            <a:endParaRPr/>
          </a:p>
        </p:txBody>
      </p:sp>
      <p:sp>
        <p:nvSpPr>
          <p:cNvPr id="439" name="Google Shape;439;p34"/>
          <p:cNvSpPr txBox="1"/>
          <p:nvPr/>
        </p:nvSpPr>
        <p:spPr>
          <a:xfrm>
            <a:off x="1238250" y="4844355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Diluarea focusului echipei.</a:t>
            </a:r>
            <a:endParaRPr/>
          </a:p>
        </p:txBody>
      </p:sp>
      <p:pic>
        <p:nvPicPr>
          <p:cNvPr id="440" name="Google Shape;440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0100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4271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84435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10830"/>
            <a:ext cx="3492400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3310830"/>
            <a:ext cx="3492549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3310830"/>
            <a:ext cx="3492400" cy="222498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5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Datoria Tehnică</a:t>
            </a:r>
            <a:endParaRPr/>
          </a:p>
        </p:txBody>
      </p:sp>
      <p:sp>
        <p:nvSpPr>
          <p:cNvPr id="452" name="Google Shape;452;p35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5"/>
          <p:cNvSpPr txBox="1"/>
          <p:nvPr/>
        </p:nvSpPr>
        <p:spPr>
          <a:xfrm>
            <a:off x="571500" y="257934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Costul viitor al deciziilor rapide și ieftine luate în prezent.</a:t>
            </a:r>
            <a:endParaRPr/>
          </a:p>
        </p:txBody>
      </p:sp>
      <p:pic>
        <p:nvPicPr>
          <p:cNvPr id="454" name="Google Shape;454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60610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5"/>
          <p:cNvSpPr txBox="1"/>
          <p:nvPr/>
        </p:nvSpPr>
        <p:spPr>
          <a:xfrm>
            <a:off x="866775" y="4101405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Cod "murdar"</a:t>
            </a:r>
            <a:endParaRPr/>
          </a:p>
        </p:txBody>
      </p:sp>
      <p:sp>
        <p:nvSpPr>
          <p:cNvPr id="456" name="Google Shape;456;p35"/>
          <p:cNvSpPr txBox="1"/>
          <p:nvPr/>
        </p:nvSpPr>
        <p:spPr>
          <a:xfrm>
            <a:off x="866775" y="4520505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Soluții rapide care vor fi greu de întreținut.</a:t>
            </a:r>
            <a:endParaRPr/>
          </a:p>
        </p:txBody>
      </p:sp>
      <p:pic>
        <p:nvPicPr>
          <p:cNvPr id="457" name="Google Shape;457;p3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3606105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5"/>
          <p:cNvSpPr txBox="1"/>
          <p:nvPr/>
        </p:nvSpPr>
        <p:spPr>
          <a:xfrm>
            <a:off x="4644925" y="4101405"/>
            <a:ext cx="304709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Integrări fragile</a:t>
            </a:r>
            <a:endParaRPr/>
          </a:p>
        </p:txBody>
      </p:sp>
      <p:sp>
        <p:nvSpPr>
          <p:cNvPr id="459" name="Google Shape;459;p35"/>
          <p:cNvSpPr txBox="1"/>
          <p:nvPr/>
        </p:nvSpPr>
        <p:spPr>
          <a:xfrm>
            <a:off x="4644925" y="4520505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Conexiuni care se rup la primul update.</a:t>
            </a:r>
            <a:endParaRPr/>
          </a:p>
        </p:txBody>
      </p:sp>
      <p:pic>
        <p:nvPicPr>
          <p:cNvPr id="460" name="Google Shape;460;p3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3225" y="360610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5"/>
          <p:cNvSpPr txBox="1"/>
          <p:nvPr/>
        </p:nvSpPr>
        <p:spPr>
          <a:xfrm>
            <a:off x="8423225" y="4101405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Lipsa documentației</a:t>
            </a:r>
            <a:endParaRPr/>
          </a:p>
        </p:txBody>
      </p:sp>
      <p:sp>
        <p:nvSpPr>
          <p:cNvPr id="462" name="Google Shape;462;p35"/>
          <p:cNvSpPr txBox="1"/>
          <p:nvPr/>
        </p:nvSpPr>
        <p:spPr>
          <a:xfrm>
            <a:off x="8423225" y="4520505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Nimeni nu știe cum funcționează sistemul peste 2 ani.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415605"/>
            <a:ext cx="3492400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3415605"/>
            <a:ext cx="3492549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3415605"/>
            <a:ext cx="3492400" cy="172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7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Măsurarea Succesului</a:t>
            </a:r>
            <a:endParaRPr/>
          </a:p>
        </p:txBody>
      </p:sp>
      <p:sp>
        <p:nvSpPr>
          <p:cNvPr id="488" name="Google Shape;488;p37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7"/>
          <p:cNvSpPr txBox="1"/>
          <p:nvPr/>
        </p:nvSpPr>
        <p:spPr>
          <a:xfrm>
            <a:off x="571500" y="296986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KPI pentru proiectul CRM:</a:t>
            </a:r>
            <a:endParaRPr/>
          </a:p>
        </p:txBody>
      </p:sp>
      <p:sp>
        <p:nvSpPr>
          <p:cNvPr id="490" name="Google Shape;490;p37"/>
          <p:cNvSpPr txBox="1"/>
          <p:nvPr/>
        </p:nvSpPr>
        <p:spPr>
          <a:xfrm>
            <a:off x="866775" y="3710880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Adopția</a:t>
            </a:r>
            <a:endParaRPr/>
          </a:p>
        </p:txBody>
      </p:sp>
      <p:sp>
        <p:nvSpPr>
          <p:cNvPr id="491" name="Google Shape;491;p37"/>
          <p:cNvSpPr txBox="1"/>
          <p:nvPr/>
        </p:nvSpPr>
        <p:spPr>
          <a:xfrm>
            <a:off x="866775" y="4129980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% de utilizatori care se loghează zilnic.</a:t>
            </a:r>
            <a:endParaRPr/>
          </a:p>
        </p:txBody>
      </p:sp>
      <p:sp>
        <p:nvSpPr>
          <p:cNvPr id="492" name="Google Shape;492;p37"/>
          <p:cNvSpPr txBox="1"/>
          <p:nvPr/>
        </p:nvSpPr>
        <p:spPr>
          <a:xfrm>
            <a:off x="4644925" y="3710880"/>
            <a:ext cx="304709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Calitatea Datelor</a:t>
            </a:r>
            <a:endParaRPr/>
          </a:p>
        </p:txBody>
      </p:sp>
      <p:sp>
        <p:nvSpPr>
          <p:cNvPr id="493" name="Google Shape;493;p37"/>
          <p:cNvSpPr txBox="1"/>
          <p:nvPr/>
        </p:nvSpPr>
        <p:spPr>
          <a:xfrm>
            <a:off x="4644925" y="4129980"/>
            <a:ext cx="29019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% de câmpuri completate corect.</a:t>
            </a:r>
            <a:endParaRPr/>
          </a:p>
        </p:txBody>
      </p:sp>
      <p:sp>
        <p:nvSpPr>
          <p:cNvPr id="494" name="Google Shape;494;p37"/>
          <p:cNvSpPr txBox="1"/>
          <p:nvPr/>
        </p:nvSpPr>
        <p:spPr>
          <a:xfrm>
            <a:off x="8423225" y="3710880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Performanța</a:t>
            </a:r>
            <a:endParaRPr/>
          </a:p>
        </p:txBody>
      </p:sp>
      <p:sp>
        <p:nvSpPr>
          <p:cNvPr id="495" name="Google Shape;495;p37"/>
          <p:cNvSpPr txBox="1"/>
          <p:nvPr/>
        </p:nvSpPr>
        <p:spPr>
          <a:xfrm>
            <a:off x="8423225" y="4129980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Timpul de încărcare al paginilor și rapoartelor.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8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 ce eșuează proiectele?</a:t>
            </a:r>
            <a:endParaRPr/>
          </a:p>
        </p:txBody>
      </p:sp>
      <p:sp>
        <p:nvSpPr>
          <p:cNvPr id="502" name="Google Shape;502;p38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571500" y="2247900"/>
            <a:ext cx="110490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40%</a:t>
            </a:r>
            <a:endParaRPr/>
          </a:p>
        </p:txBody>
      </p:sp>
      <p:sp>
        <p:nvSpPr>
          <p:cNvPr id="504" name="Google Shape;504;p38"/>
          <p:cNvSpPr txBox="1"/>
          <p:nvPr/>
        </p:nvSpPr>
        <p:spPr>
          <a:xfrm>
            <a:off x="571500" y="317182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RATA DE EȘEC A ADOPȚIEI</a:t>
            </a:r>
            <a:endParaRPr/>
          </a:p>
        </p:txBody>
      </p:sp>
      <p:sp>
        <p:nvSpPr>
          <p:cNvPr id="505" name="Google Shape;505;p38"/>
          <p:cNvSpPr txBox="1"/>
          <p:nvPr/>
        </p:nvSpPr>
        <p:spPr>
          <a:xfrm>
            <a:off x="571500" y="3571875"/>
            <a:ext cx="5715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Cauze principale:</a:t>
            </a:r>
            <a:endParaRPr/>
          </a:p>
        </p:txBody>
      </p:sp>
      <p:sp>
        <p:nvSpPr>
          <p:cNvPr id="506" name="Google Shape;506;p38"/>
          <p:cNvSpPr txBox="1"/>
          <p:nvPr/>
        </p:nvSpPr>
        <p:spPr>
          <a:xfrm>
            <a:off x="1238250" y="40176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Lipsa susținerii din partea conducerii.</a:t>
            </a:r>
            <a:endParaRPr/>
          </a:p>
        </p:txBody>
      </p:sp>
      <p:sp>
        <p:nvSpPr>
          <p:cNvPr id="507" name="Google Shape;507;p38"/>
          <p:cNvSpPr txBox="1"/>
          <p:nvPr/>
        </p:nvSpPr>
        <p:spPr>
          <a:xfrm>
            <a:off x="1238250" y="443478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Sistem prea complicat pentru utilizator.</a:t>
            </a:r>
            <a:endParaRPr/>
          </a:p>
        </p:txBody>
      </p:sp>
      <p:sp>
        <p:nvSpPr>
          <p:cNvPr id="508" name="Google Shape;508;p38"/>
          <p:cNvSpPr txBox="1"/>
          <p:nvPr/>
        </p:nvSpPr>
        <p:spPr>
          <a:xfrm>
            <a:off x="1238250" y="485194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Date de slabă calitate importate.</a:t>
            </a:r>
            <a:endParaRPr/>
          </a:p>
        </p:txBody>
      </p:sp>
      <p:sp>
        <p:nvSpPr>
          <p:cNvPr id="509" name="Google Shape;509;p38"/>
          <p:cNvSpPr txBox="1"/>
          <p:nvPr/>
        </p:nvSpPr>
        <p:spPr>
          <a:xfrm>
            <a:off x="1238250" y="526911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Lipsa training-ului adecvat.</a:t>
            </a:r>
            <a:endParaRPr/>
          </a:p>
        </p:txBody>
      </p:sp>
      <p:pic>
        <p:nvPicPr>
          <p:cNvPr id="510" name="Google Shape;51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01761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43478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85194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526911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02172"/>
            <a:ext cx="5286375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9242"/>
            <a:ext cx="5286375" cy="1455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49067"/>
            <a:ext cx="5286375" cy="1455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449067"/>
            <a:ext cx="5286375" cy="145539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9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Bune Practici (Best Practices)</a:t>
            </a:r>
            <a:endParaRPr/>
          </a:p>
        </p:txBody>
      </p:sp>
      <p:sp>
        <p:nvSpPr>
          <p:cNvPr id="524" name="Google Shape;524;p39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9"/>
          <p:cNvSpPr txBox="1"/>
          <p:nvPr/>
        </p:nvSpPr>
        <p:spPr>
          <a:xfrm>
            <a:off x="866775" y="2197447"/>
            <a:ext cx="493061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Start Small</a:t>
            </a:r>
            <a:endParaRPr/>
          </a:p>
        </p:txBody>
      </p:sp>
      <p:sp>
        <p:nvSpPr>
          <p:cNvPr id="526" name="Google Shape;526;p39"/>
          <p:cNvSpPr txBox="1"/>
          <p:nvPr/>
        </p:nvSpPr>
        <p:spPr>
          <a:xfrm>
            <a:off x="866775" y="2616547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Începeți cu un MVP (Minimum Viable Product) și extindeți ulterior.</a:t>
            </a:r>
            <a:endParaRPr/>
          </a:p>
        </p:txBody>
      </p:sp>
      <p:sp>
        <p:nvSpPr>
          <p:cNvPr id="527" name="Google Shape;527;p39"/>
          <p:cNvSpPr txBox="1"/>
          <p:nvPr/>
        </p:nvSpPr>
        <p:spPr>
          <a:xfrm>
            <a:off x="6629400" y="2334517"/>
            <a:ext cx="493061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User First</a:t>
            </a:r>
            <a:endParaRPr/>
          </a:p>
        </p:txBody>
      </p:sp>
      <p:sp>
        <p:nvSpPr>
          <p:cNvPr id="528" name="Google Shape;528;p39"/>
          <p:cNvSpPr txBox="1"/>
          <p:nvPr/>
        </p:nvSpPr>
        <p:spPr>
          <a:xfrm>
            <a:off x="6629400" y="2753617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Proiectați sistemul pentru utilizator, nu pentru manageri.</a:t>
            </a:r>
            <a:endParaRPr/>
          </a:p>
        </p:txBody>
      </p:sp>
      <p:sp>
        <p:nvSpPr>
          <p:cNvPr id="529" name="Google Shape;529;p39"/>
          <p:cNvSpPr txBox="1"/>
          <p:nvPr/>
        </p:nvSpPr>
        <p:spPr>
          <a:xfrm>
            <a:off x="866775" y="4744342"/>
            <a:ext cx="493061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Clean Data</a:t>
            </a:r>
            <a:endParaRPr/>
          </a:p>
        </p:txBody>
      </p:sp>
      <p:sp>
        <p:nvSpPr>
          <p:cNvPr id="530" name="Google Shape;530;p39"/>
          <p:cNvSpPr txBox="1"/>
          <p:nvPr/>
        </p:nvSpPr>
        <p:spPr>
          <a:xfrm>
            <a:off x="866775" y="5163442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Nu compromiteți calitatea datelor la migrare.</a:t>
            </a:r>
            <a:endParaRPr/>
          </a:p>
        </p:txBody>
      </p:sp>
      <p:sp>
        <p:nvSpPr>
          <p:cNvPr id="531" name="Google Shape;531;p39"/>
          <p:cNvSpPr txBox="1"/>
          <p:nvPr/>
        </p:nvSpPr>
        <p:spPr>
          <a:xfrm>
            <a:off x="6629400" y="4744342"/>
            <a:ext cx="493061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Celebrate Wins</a:t>
            </a:r>
            <a:endParaRPr/>
          </a:p>
        </p:txBody>
      </p:sp>
      <p:sp>
        <p:nvSpPr>
          <p:cNvPr id="532" name="Google Shape;532;p39"/>
          <p:cNvSpPr txBox="1"/>
          <p:nvPr/>
        </p:nvSpPr>
        <p:spPr>
          <a:xfrm>
            <a:off x="6629400" y="5163442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Sărbătoriți micile succese pentru a menține moralul.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1"/>
          <p:cNvSpPr txBox="1"/>
          <p:nvPr/>
        </p:nvSpPr>
        <p:spPr>
          <a:xfrm>
            <a:off x="571500" y="6286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Rezumatul Lecției</a:t>
            </a:r>
            <a:endParaRPr/>
          </a:p>
        </p:txBody>
      </p:sp>
      <p:sp>
        <p:nvSpPr>
          <p:cNvPr id="556" name="Google Shape;556;p41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1"/>
          <p:cNvSpPr txBox="1"/>
          <p:nvPr/>
        </p:nvSpPr>
        <p:spPr>
          <a:xfrm>
            <a:off x="1238250" y="3137594"/>
            <a:ext cx="10382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CRM este o combinație de Strategie, Oameni și Tehnologie.</a:t>
            </a:r>
            <a:endParaRPr/>
          </a:p>
        </p:txBody>
      </p:sp>
      <p:sp>
        <p:nvSpPr>
          <p:cNvPr id="558" name="Google Shape;558;p41"/>
          <p:cNvSpPr txBox="1"/>
          <p:nvPr/>
        </p:nvSpPr>
        <p:spPr>
          <a:xfrm>
            <a:off x="1238250" y="3554759"/>
            <a:ext cx="10382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Proiectul are un ciclu de viață clar definit (Pregătire -&gt; Implementare -&gt; Go-Live).</a:t>
            </a:r>
            <a:endParaRPr/>
          </a:p>
        </p:txBody>
      </p:sp>
      <p:sp>
        <p:nvSpPr>
          <p:cNvPr id="559" name="Google Shape;559;p41"/>
          <p:cNvSpPr txBox="1"/>
          <p:nvPr/>
        </p:nvSpPr>
        <p:spPr>
          <a:xfrm>
            <a:off x="1238250" y="3971925"/>
            <a:ext cx="10382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Migrarea datelor și Managementul schimbării sunt cele mai riscante etape.</a:t>
            </a:r>
            <a:endParaRPr/>
          </a:p>
        </p:txBody>
      </p:sp>
      <p:sp>
        <p:nvSpPr>
          <p:cNvPr id="560" name="Google Shape;560;p41"/>
          <p:cNvSpPr txBox="1"/>
          <p:nvPr/>
        </p:nvSpPr>
        <p:spPr>
          <a:xfrm>
            <a:off x="1238250" y="4389090"/>
            <a:ext cx="10382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Succesul se măsoară prin adopția utilizatorilor, nu doar prin instalarea softului.</a:t>
            </a:r>
            <a:endParaRPr/>
          </a:p>
        </p:txBody>
      </p:sp>
      <p:pic>
        <p:nvPicPr>
          <p:cNvPr id="561" name="Google Shape;561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313759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35547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39719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38909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2"/>
          <p:cNvSpPr txBox="1"/>
          <p:nvPr/>
        </p:nvSpPr>
        <p:spPr>
          <a:xfrm>
            <a:off x="295275" y="62865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Întrebări și Răspunsuri</a:t>
            </a:r>
            <a:endParaRPr/>
          </a:p>
        </p:txBody>
      </p:sp>
      <p:sp>
        <p:nvSpPr>
          <p:cNvPr id="571" name="Google Shape;571;p42"/>
          <p:cNvSpPr txBox="1"/>
          <p:nvPr/>
        </p:nvSpPr>
        <p:spPr>
          <a:xfrm>
            <a:off x="571500" y="148962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Discuții libere despre proiectele CRM</a:t>
            </a:r>
            <a:endParaRPr/>
          </a:p>
        </p:txBody>
      </p:sp>
      <p:sp>
        <p:nvSpPr>
          <p:cNvPr id="572" name="Google Shape;572;p42"/>
          <p:cNvSpPr txBox="1"/>
          <p:nvPr/>
        </p:nvSpPr>
        <p:spPr>
          <a:xfrm>
            <a:off x="571500" y="3379291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Mulțumesc pentru atenție!</a:t>
            </a:r>
            <a:endParaRPr/>
          </a:p>
        </p:txBody>
      </p:sp>
      <p:pic>
        <p:nvPicPr>
          <p:cNvPr id="573" name="Google Shape;573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9750" y="2331541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1275</Words>
  <Application>Microsoft Office PowerPoint</Application>
  <PresentationFormat>Widescreen</PresentationFormat>
  <Paragraphs>189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Inter SemiBold</vt:lpstr>
      <vt:lpstr>Inter</vt:lpstr>
      <vt:lpstr>Arial</vt:lpstr>
      <vt:lpstr>Calibri</vt:lpstr>
      <vt:lpstr>Inter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Cazacu-Condrat Dumitru</cp:lastModifiedBy>
  <cp:revision>11</cp:revision>
  <dcterms:modified xsi:type="dcterms:W3CDTF">2026-02-17T07:07:40Z</dcterms:modified>
</cp:coreProperties>
</file>