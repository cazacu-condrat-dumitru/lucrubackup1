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Lato"/>
      <p:regular r:id="rId39"/>
      <p:bold r:id="rId40"/>
      <p:italic r:id="rId41"/>
      <p:boldItalic r:id="rId42"/>
    </p:embeddedFont>
    <p:embeddedFont>
      <p:font typeface="Poppi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F4D87D-BE47-4F86-964F-52F04CDD9F27}">
  <a:tblStyle styleId="{22F4D87D-BE47-4F86-964F-52F04CDD9F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4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6.xml"/><Relationship Id="rId44" Type="http://schemas.openxmlformats.org/officeDocument/2006/relationships/font" Target="fonts/Poppins-bold.fntdata"/><Relationship Id="rId21" Type="http://schemas.openxmlformats.org/officeDocument/2006/relationships/slide" Target="slides/slide15.xml"/><Relationship Id="rId43" Type="http://schemas.openxmlformats.org/officeDocument/2006/relationships/font" Target="fonts/Poppins-regular.fntdata"/><Relationship Id="rId24" Type="http://schemas.openxmlformats.org/officeDocument/2006/relationships/slide" Target="slides/slide18.xml"/><Relationship Id="rId46" Type="http://schemas.openxmlformats.org/officeDocument/2006/relationships/font" Target="fonts/Poppins-boldItalic.fntdata"/><Relationship Id="rId23" Type="http://schemas.openxmlformats.org/officeDocument/2006/relationships/slide" Target="slides/slide17.xml"/><Relationship Id="rId45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Lat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30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45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7.png"/><Relationship Id="rId6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5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46.png"/><Relationship Id="rId6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9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36.png"/><Relationship Id="rId8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76487" y="2286000"/>
            <a:ext cx="74390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LECȚIA 8: ASPECTE JURIDICE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90511" y="2714625"/>
            <a:ext cx="781097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Tipuri de licențe software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10000"/>
            <a:ext cx="9525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376487" y="4086225"/>
            <a:ext cx="7439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Ghid complet pentru înțelegerea drepturilor de utilizare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9887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909887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909887"/>
            <a:ext cx="35560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Agenda Lecției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6525" y="315753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42633" y="36814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Licențe de probă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3957637"/>
            <a:ext cx="306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Trial, Shareware și limitări temporare.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1575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489084" y="36814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Licențe educaționale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65600" y="3957637"/>
            <a:ext cx="306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Beneficii pentru elevi, studenți și instituții.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1950" y="31575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235530" y="3681412"/>
            <a:ext cx="321383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Licențe comerciale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2050" y="3957637"/>
            <a:ext cx="30607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Retail, OEM și utilizarea în scop lucrativ.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24150"/>
            <a:ext cx="5286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Definiția Licenței Software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licență software este un instrument legal care guvernează utilizarea și redistribuirea software-ului.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29146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"Licența nu înseamnă că ești proprietarul codului, ci că ai primit permisiunea de a-l folosi în anumite condiții."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EULA: Contractul Utilizatorului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334125" y="20097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End User License Agreement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34125" y="22860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 contractul dintre autorul programului și utilizatorul final.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334125" y="27241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Specifică numărul de instalări permise.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30099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Definește răspunderea legală.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34125" y="32956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Interzice de obicei ingineria inversă.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76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62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3480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5619750" y="3028950"/>
            <a:ext cx="9525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095750" y="3305175"/>
            <a:ext cx="4000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Partea I: Licența de probă (Trial)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191000" y="36385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Testarea performanței înainte de achiziție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24150"/>
            <a:ext cx="5286375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Ce este Trialware?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Sunt programe comerciale care pot fi folosite gratuit pentru o perioadă limitată de timp (de obicei 7, 14 sau 30 de zile).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19150" y="2971800"/>
            <a:ext cx="4791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Scop: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Permite utilizatorului să evalueze dacă software-ul îi îndeplinește nevoile înainte de a investi bani.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9887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909887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909887"/>
            <a:ext cx="35560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Tipuri de limitări în Trial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82713" y="31575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42633" y="36814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Timp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19150" y="3957637"/>
            <a:ext cx="306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Programul expiră după un număr fix de zile.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31575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4489084" y="36814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Funcționalitate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565600" y="3957637"/>
            <a:ext cx="306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Opțiuni precum "Salvare" sau "Export" sunt blocate.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1950" y="31575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235530" y="3681412"/>
            <a:ext cx="321383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Watermark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312050" y="3957637"/>
            <a:ext cx="30607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Adaugă marcaje vizuale pe rezultatul muncii.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24150"/>
            <a:ext cx="5286375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Shareware și Nagware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334125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Software distribuit gratuit pe bază de onoare, cu rugămintea de a plăti dacă este folosit regulat.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581775" y="2971800"/>
            <a:ext cx="4791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Nagware: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Afișează mesaje repetitive ("nags") care reamintesc utilizatorului să cumpere licența.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2375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Modelul Freemium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3143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variantă modernă a licenței de probă unde funcțiile de bază sunt gratuite permanent, dar funcțiile avansate necesită plată.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19150" y="4010025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Exemple: Spotify, Dropbox, Canva, Zoom.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Software de tip Demo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Diferă de Trial prin faptul că oferă doar o mică fracțiune din software-ul original (ex: un singur nivel dintr-un joc).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Conversia Licenței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2176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Procesul prin care o licență de probă devine comercială se face prin introducerea unei "Chei de Licență" (Product Key).</a:t>
            </a:r>
            <a:endParaRPr/>
          </a:p>
        </p:txBody>
      </p:sp>
      <p:pic>
        <p:nvPicPr>
          <p:cNvPr descr="image.png" id="217" name="Google Shape;2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805112"/>
            <a:ext cx="110299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Ce se întâmplă la expirare?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838200" y="3486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952500" y="34861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Sistemul blochează accesul la aplicație.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838200" y="37719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952500" y="37719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Aplicația trece într-un mod "Read-Only".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838200" y="40576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52500" y="40576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Apare obligativitatea dezinstalării sau achiziției.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Marketing prin Trial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571500" y="3700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Companiile folosesc trial-ul ca un mod de a demonstra valoarea produsului fără a pune presiune financiară imediată pe client.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/>
          <p:nvPr/>
        </p:nvSpPr>
        <p:spPr>
          <a:xfrm>
            <a:off x="5619750" y="3028950"/>
            <a:ext cx="9525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4210764" y="3305175"/>
            <a:ext cx="377047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Partea II: Licențe educaționale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4300537" y="3638550"/>
            <a:ext cx="3590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Sprijinirea procesului de învățare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Cui se adresează?</a:t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571500" y="44910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Aceste licențe sunt oferite la un preț mult redus sau chiar gratuit.</a:t>
            </a:r>
            <a:endParaRPr/>
          </a:p>
        </p:txBody>
      </p:sp>
      <p:pic>
        <p:nvPicPr>
          <p:cNvPr descr="image.png" id="255" name="Google Shape;2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2713" y="31575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 txBox="1"/>
          <p:nvPr/>
        </p:nvSpPr>
        <p:spPr>
          <a:xfrm>
            <a:off x="742633" y="36814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Elevi și Studenți</a:t>
            </a:r>
            <a:endParaRPr/>
          </a:p>
        </p:txBody>
      </p:sp>
      <p:pic>
        <p:nvPicPr>
          <p:cNvPr descr="image.png" id="257" name="Google Shape;25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726" y="31575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 txBox="1"/>
          <p:nvPr/>
        </p:nvSpPr>
        <p:spPr>
          <a:xfrm>
            <a:off x="4489084" y="3681412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Profesori</a:t>
            </a:r>
            <a:endParaRPr/>
          </a:p>
        </p:txBody>
      </p:sp>
      <p:pic>
        <p:nvPicPr>
          <p:cNvPr descr="image.png" id="259" name="Google Shape;25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4325" y="31575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/>
        </p:nvSpPr>
        <p:spPr>
          <a:xfrm>
            <a:off x="8235530" y="3681412"/>
            <a:ext cx="321383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Instituții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Cum se obține o licență EDU?</a:t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571500" y="20097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Necesită o dovadă a calității de student/profesor:</a:t>
            </a:r>
            <a:endParaRPr/>
          </a:p>
        </p:txBody>
      </p:sp>
      <p:pic>
        <p:nvPicPr>
          <p:cNvPr descr="image.png" id="270" name="Google Shape;2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838200" y="24479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952500" y="24479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Adresă de e-mail instituțională (.edu / .md).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838200" y="27336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952500" y="27336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Card de student (ISIC).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838200" y="30194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952500" y="30194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Adeverință de la secretariat.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Adobe Creative Cloud EDU</a:t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/>
        </p:nvSpPr>
        <p:spPr>
          <a:xfrm>
            <a:off x="6334125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Studenții primesc reduceri de până la 60% pentru pachetul complet de design (Photoshop, Illustrator, Premiere).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Microsoft 365 Education</a:t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571500" y="2176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Multe școli oferă gratuit Word, Excel și Teams elevilor prin parteneriate cu Microsoft.</a:t>
            </a:r>
            <a:endParaRPr/>
          </a:p>
        </p:txBody>
      </p:sp>
      <p:pic>
        <p:nvPicPr>
          <p:cNvPr descr="image.png" id="296" name="Google Shape;29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805112"/>
            <a:ext cx="110299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Autodesk: Investiție în Viitor</a:t>
            </a:r>
            <a:endParaRPr/>
          </a:p>
        </p:txBody>
      </p:sp>
      <p:sp>
        <p:nvSpPr>
          <p:cNvPr id="304" name="Google Shape;304;p3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571500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Oferă licențe gratuite pentru software industrial de proiectare (AutoCAD, Revit) studenților la inginerie.</a:t>
            </a:r>
            <a:endParaRPr/>
          </a:p>
        </p:txBody>
      </p:sp>
      <p:pic>
        <p:nvPicPr>
          <p:cNvPr descr="image.png" id="306" name="Google Shape;30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0375"/>
            <a:ext cx="110490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Restricția "Non-Commercial"</a:t>
            </a:r>
            <a:endParaRPr/>
          </a:p>
        </p:txBody>
      </p:sp>
      <p:sp>
        <p:nvSpPr>
          <p:cNvPr id="314" name="Google Shape;314;p3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571500" y="44005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Dacă ești plătit pentru un proiect făcut cu o licență EDU, încalci termenii contractului.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904875" y="3248025"/>
            <a:ext cx="104679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FOARTE IMPORTANT: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Licențele educaționale interzic utilizarea software-ului pentru a obține profit (lucru la clienți, afaceri personale).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3"/>
          <p:cNvSpPr/>
          <p:nvPr/>
        </p:nvSpPr>
        <p:spPr>
          <a:xfrm>
            <a:off x="5619750" y="3028950"/>
            <a:ext cx="9525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4305776" y="3305175"/>
            <a:ext cx="35804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Partea III: Licențe comerciale</a:t>
            </a:r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4391025" y="3638550"/>
            <a:ext cx="340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Software pentru producție și profit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Definiție Licență Comercială</a:t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571500" y="355758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Sunt destinate utilizării într-un mediu de afaceri. Oferă drepturi complete de utilizare pentru a genera venituri și vin adesea cu suport tehnic prioritar.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Licența Retail (Full Packaged Product)</a:t>
            </a:r>
            <a:endParaRPr/>
          </a:p>
        </p:txBody>
      </p:sp>
      <p:sp>
        <p:nvSpPr>
          <p:cNvPr id="340" name="Google Shape;340;p3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5"/>
          <p:cNvSpPr txBox="1"/>
          <p:nvPr/>
        </p:nvSpPr>
        <p:spPr>
          <a:xfrm>
            <a:off x="571500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Cumpărată din magazin (fizic sau digital). Poate fi transferată de pe un calculator pe altul.</a:t>
            </a:r>
            <a:endParaRPr/>
          </a:p>
        </p:txBody>
      </p:sp>
      <p:pic>
        <p:nvPicPr>
          <p:cNvPr descr="image.png" id="342" name="Google Shape;34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Licența OEM (Hardware Bound)</a:t>
            </a:r>
            <a:endParaRPr/>
          </a:p>
        </p:txBody>
      </p:sp>
      <p:sp>
        <p:nvSpPr>
          <p:cNvPr id="350" name="Google Shape;350;p3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6"/>
          <p:cNvSpPr txBox="1"/>
          <p:nvPr/>
        </p:nvSpPr>
        <p:spPr>
          <a:xfrm>
            <a:off x="6334125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Vândută producătorilor de hardware (Dell, HP). Licența "moare" odată cu placa de bază a calculatorului respectiv.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Licențierea de Volum (Enterprise)</a:t>
            </a:r>
            <a:endParaRPr/>
          </a:p>
        </p:txBody>
      </p:sp>
      <p:sp>
        <p:nvSpPr>
          <p:cNvPr id="359" name="Google Shape;359;p3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571500" y="3700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Destinată companiilor cu sute de calculatoare. Se folosește o singură cheie de licență (Master Key) pentru a activa toate stațiile de lucru.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Software as a Service (SaaS)</a:t>
            </a:r>
            <a:endParaRPr/>
          </a:p>
        </p:txBody>
      </p:sp>
      <p:sp>
        <p:nvSpPr>
          <p:cNvPr id="368" name="Google Shape;368;p3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571500" y="20097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Plătești o taxă lunară sau anuală. Dacă te oprești din plătit, software-ul nu mai funcționează.</a:t>
            </a:r>
            <a:endParaRPr/>
          </a:p>
        </p:txBody>
      </p:sp>
      <p:pic>
        <p:nvPicPr>
          <p:cNvPr descr="image.png" id="370" name="Google Shape;37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Comparație Tipuri Licențe</a:t>
            </a:r>
            <a:endParaRPr/>
          </a:p>
        </p:txBody>
      </p:sp>
      <p:sp>
        <p:nvSpPr>
          <p:cNvPr id="377" name="Google Shape;377;p3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8" name="Google Shape;378;p39"/>
          <p:cNvGraphicFramePr/>
          <p:nvPr/>
        </p:nvGraphicFramePr>
        <p:xfrm>
          <a:off x="571500" y="2852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{22F4D87D-BE47-4F86-964F-52F04CDD9F27}</a:tableStyleId>
              </a:tblPr>
              <a:tblGrid>
                <a:gridCol w="3009150"/>
                <a:gridCol w="2679050"/>
                <a:gridCol w="2833250"/>
                <a:gridCol w="2527550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Caracteristică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Probă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Comercială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(temporar)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Foarte mic /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Ridicat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Interzis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Interzis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Permis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9" name="Google Shape;379;p39"/>
          <p:cNvSpPr/>
          <p:nvPr/>
        </p:nvSpPr>
        <p:spPr>
          <a:xfrm>
            <a:off x="571500" y="3990975"/>
            <a:ext cx="3009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9"/>
          <p:cNvSpPr/>
          <p:nvPr/>
        </p:nvSpPr>
        <p:spPr>
          <a:xfrm>
            <a:off x="3580655" y="3990975"/>
            <a:ext cx="26790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9"/>
          <p:cNvSpPr/>
          <p:nvPr/>
        </p:nvSpPr>
        <p:spPr>
          <a:xfrm>
            <a:off x="6259710" y="3990975"/>
            <a:ext cx="2833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9"/>
          <p:cNvSpPr/>
          <p:nvPr/>
        </p:nvSpPr>
        <p:spPr>
          <a:xfrm>
            <a:off x="9092951" y="3990975"/>
            <a:ext cx="2527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/>
          <p:nvPr/>
        </p:nvSpPr>
        <p:spPr>
          <a:xfrm>
            <a:off x="571500" y="4572000"/>
            <a:ext cx="3009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9"/>
          <p:cNvSpPr/>
          <p:nvPr/>
        </p:nvSpPr>
        <p:spPr>
          <a:xfrm>
            <a:off x="3580655" y="4572000"/>
            <a:ext cx="26790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9"/>
          <p:cNvSpPr/>
          <p:nvPr/>
        </p:nvSpPr>
        <p:spPr>
          <a:xfrm>
            <a:off x="6259710" y="4572000"/>
            <a:ext cx="2833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9092951" y="4572000"/>
            <a:ext cx="2527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9"/>
          <p:cNvSpPr/>
          <p:nvPr/>
        </p:nvSpPr>
        <p:spPr>
          <a:xfrm>
            <a:off x="571500" y="5153025"/>
            <a:ext cx="3009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9"/>
          <p:cNvSpPr/>
          <p:nvPr/>
        </p:nvSpPr>
        <p:spPr>
          <a:xfrm>
            <a:off x="3580655" y="5153025"/>
            <a:ext cx="26790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9"/>
          <p:cNvSpPr/>
          <p:nvPr/>
        </p:nvSpPr>
        <p:spPr>
          <a:xfrm>
            <a:off x="6259710" y="5153025"/>
            <a:ext cx="2833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9"/>
          <p:cNvSpPr/>
          <p:nvPr/>
        </p:nvSpPr>
        <p:spPr>
          <a:xfrm>
            <a:off x="9092951" y="5153025"/>
            <a:ext cx="2527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Pirateria vs Legalitate</a:t>
            </a:r>
            <a:endParaRPr/>
          </a:p>
        </p:txBody>
      </p:sp>
      <p:sp>
        <p:nvSpPr>
          <p:cNvPr id="398" name="Google Shape;398;p4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9" name="Google Shape;39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193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0"/>
          <p:cNvSpPr txBox="1"/>
          <p:nvPr/>
        </p:nvSpPr>
        <p:spPr>
          <a:xfrm>
            <a:off x="6600825" y="2162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1" name="Google Shape;401;p40"/>
          <p:cNvSpPr txBox="1"/>
          <p:nvPr/>
        </p:nvSpPr>
        <p:spPr>
          <a:xfrm>
            <a:off x="6715125" y="21621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Riscuri imense de securitate (Malware/Ransomware).</a:t>
            </a:r>
            <a:endParaRPr/>
          </a:p>
        </p:txBody>
      </p:sp>
      <p:sp>
        <p:nvSpPr>
          <p:cNvPr id="402" name="Google Shape;402;p40"/>
          <p:cNvSpPr txBox="1"/>
          <p:nvPr/>
        </p:nvSpPr>
        <p:spPr>
          <a:xfrm>
            <a:off x="6600825" y="24479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3" name="Google Shape;403;p40"/>
          <p:cNvSpPr txBox="1"/>
          <p:nvPr/>
        </p:nvSpPr>
        <p:spPr>
          <a:xfrm>
            <a:off x="6715125" y="24479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Lipsa actualizărilor critice.</a:t>
            </a:r>
            <a:endParaRPr/>
          </a:p>
        </p:txBody>
      </p:sp>
      <p:sp>
        <p:nvSpPr>
          <p:cNvPr id="404" name="Google Shape;404;p40"/>
          <p:cNvSpPr txBox="1"/>
          <p:nvPr/>
        </p:nvSpPr>
        <p:spPr>
          <a:xfrm>
            <a:off x="6600825" y="27336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5" name="Google Shape;405;p40"/>
          <p:cNvSpPr txBox="1"/>
          <p:nvPr/>
        </p:nvSpPr>
        <p:spPr>
          <a:xfrm>
            <a:off x="6715125" y="27336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Consecințe legale și amenzi pentru companii.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Recapitulare</a:t>
            </a:r>
            <a:endParaRPr/>
          </a:p>
        </p:txBody>
      </p:sp>
      <p:sp>
        <p:nvSpPr>
          <p:cNvPr id="412" name="Google Shape;412;p4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1"/>
          <p:cNvSpPr txBox="1"/>
          <p:nvPr/>
        </p:nvSpPr>
        <p:spPr>
          <a:xfrm>
            <a:off x="571500" y="31194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 învățat diferențele dintre:</a:t>
            </a:r>
            <a:endParaRPr/>
          </a:p>
        </p:txBody>
      </p:sp>
      <p:sp>
        <p:nvSpPr>
          <p:cNvPr id="414" name="Google Shape;414;p41"/>
          <p:cNvSpPr txBox="1"/>
          <p:nvPr/>
        </p:nvSpPr>
        <p:spPr>
          <a:xfrm>
            <a:off x="838200" y="37004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5" name="Google Shape;415;p41"/>
          <p:cNvSpPr txBox="1"/>
          <p:nvPr/>
        </p:nvSpPr>
        <p:spPr>
          <a:xfrm>
            <a:off x="952500" y="370046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Testezi înainte să cumperi.</a:t>
            </a:r>
            <a:endParaRPr/>
          </a:p>
        </p:txBody>
      </p:sp>
      <p:sp>
        <p:nvSpPr>
          <p:cNvPr id="416" name="Google Shape;416;p41"/>
          <p:cNvSpPr txBox="1"/>
          <p:nvPr/>
        </p:nvSpPr>
        <p:spPr>
          <a:xfrm>
            <a:off x="838200" y="39862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7" name="Google Shape;417;p41"/>
          <p:cNvSpPr txBox="1"/>
          <p:nvPr/>
        </p:nvSpPr>
        <p:spPr>
          <a:xfrm>
            <a:off x="952500" y="398621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EDU: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Înveți cu unelte profesionale la cost redus.</a:t>
            </a:r>
            <a:endParaRPr/>
          </a:p>
        </p:txBody>
      </p:sp>
      <p:sp>
        <p:nvSpPr>
          <p:cNvPr id="418" name="Google Shape;418;p41"/>
          <p:cNvSpPr txBox="1"/>
          <p:nvPr/>
        </p:nvSpPr>
        <p:spPr>
          <a:xfrm>
            <a:off x="838200" y="42719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9" name="Google Shape;419;p41"/>
          <p:cNvSpPr txBox="1"/>
          <p:nvPr/>
        </p:nvSpPr>
        <p:spPr>
          <a:xfrm>
            <a:off x="952500" y="427196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Comercial: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Produci valoare legal folosind software.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17646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2"/>
          <p:cNvSpPr txBox="1"/>
          <p:nvPr/>
        </p:nvSpPr>
        <p:spPr>
          <a:xfrm>
            <a:off x="4829591" y="3224212"/>
            <a:ext cx="25328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Întrebări și Discuții</a:t>
            </a:r>
            <a:endParaRPr/>
          </a:p>
        </p:txBody>
      </p:sp>
      <p:sp>
        <p:nvSpPr>
          <p:cNvPr id="427" name="Google Shape;427;p42"/>
          <p:cNvSpPr txBox="1"/>
          <p:nvPr/>
        </p:nvSpPr>
        <p:spPr>
          <a:xfrm>
            <a:off x="4889896" y="3557587"/>
            <a:ext cx="24122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Vă mulțumesc pentru atenție!</a:t>
            </a:r>
            <a:endParaRPr/>
          </a:p>
        </p:txBody>
      </p:sp>
      <p:sp>
        <p:nvSpPr>
          <p:cNvPr id="428" name="Google Shape;428;p42"/>
          <p:cNvSpPr txBox="1"/>
          <p:nvPr/>
        </p:nvSpPr>
        <p:spPr>
          <a:xfrm>
            <a:off x="4889896" y="4319587"/>
            <a:ext cx="24122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E-mail: profesor@colegiu.md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Web: www.it-lectii.ro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3"/>
          <p:cNvSpPr txBox="1"/>
          <p:nvPr/>
        </p:nvSpPr>
        <p:spPr>
          <a:xfrm>
            <a:off x="571500" y="376237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435" name="Google Shape;435;p43"/>
          <p:cNvSpPr/>
          <p:nvPr/>
        </p:nvSpPr>
        <p:spPr>
          <a:xfrm>
            <a:off x="571500" y="104298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3"/>
          <p:cNvSpPr/>
          <p:nvPr/>
        </p:nvSpPr>
        <p:spPr>
          <a:xfrm>
            <a:off x="571500" y="13477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3"/>
          <p:cNvSpPr/>
          <p:nvPr/>
        </p:nvSpPr>
        <p:spPr>
          <a:xfrm>
            <a:off x="571500" y="21193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3"/>
          <p:cNvSpPr/>
          <p:nvPr/>
        </p:nvSpPr>
        <p:spPr>
          <a:xfrm>
            <a:off x="571500" y="289083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3"/>
          <p:cNvSpPr/>
          <p:nvPr/>
        </p:nvSpPr>
        <p:spPr>
          <a:xfrm>
            <a:off x="571500" y="383381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3"/>
          <p:cNvSpPr/>
          <p:nvPr/>
        </p:nvSpPr>
        <p:spPr>
          <a:xfrm>
            <a:off x="571500" y="47767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3"/>
          <p:cNvSpPr/>
          <p:nvPr/>
        </p:nvSpPr>
        <p:spPr>
          <a:xfrm>
            <a:off x="571500" y="2109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3"/>
          <p:cNvSpPr/>
          <p:nvPr/>
        </p:nvSpPr>
        <p:spPr>
          <a:xfrm>
            <a:off x="571500" y="2109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3"/>
          <p:cNvSpPr/>
          <p:nvPr/>
        </p:nvSpPr>
        <p:spPr>
          <a:xfrm>
            <a:off x="571500" y="2881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3"/>
          <p:cNvSpPr/>
          <p:nvPr/>
        </p:nvSpPr>
        <p:spPr>
          <a:xfrm>
            <a:off x="571500" y="2881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3"/>
          <p:cNvSpPr/>
          <p:nvPr/>
        </p:nvSpPr>
        <p:spPr>
          <a:xfrm>
            <a:off x="571500" y="3824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3"/>
          <p:cNvSpPr/>
          <p:nvPr/>
        </p:nvSpPr>
        <p:spPr>
          <a:xfrm>
            <a:off x="571500" y="3824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3"/>
          <p:cNvSpPr/>
          <p:nvPr/>
        </p:nvSpPr>
        <p:spPr>
          <a:xfrm>
            <a:off x="571500" y="4767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3"/>
          <p:cNvSpPr/>
          <p:nvPr/>
        </p:nvSpPr>
        <p:spPr>
          <a:xfrm>
            <a:off x="571500" y="4767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571500" y="5538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3"/>
          <p:cNvSpPr/>
          <p:nvPr/>
        </p:nvSpPr>
        <p:spPr>
          <a:xfrm>
            <a:off x="571500" y="5538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1" name="Google Shape;45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0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3"/>
          <p:cNvSpPr txBox="1"/>
          <p:nvPr/>
        </p:nvSpPr>
        <p:spPr>
          <a:xfrm>
            <a:off x="1666875" y="14978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https://png.pngtree.com/thumb_back/fw800/background/20251120/pngtree-modern-data-center-hallway-with-rows-of-server-racks-illuminated-by-image_20494310.webp</a:t>
            </a:r>
            <a:endParaRPr/>
          </a:p>
        </p:txBody>
      </p:sp>
      <p:sp>
        <p:nvSpPr>
          <p:cNvPr id="453" name="Google Shape;453;p43"/>
          <p:cNvSpPr txBox="1"/>
          <p:nvPr/>
        </p:nvSpPr>
        <p:spPr>
          <a:xfrm>
            <a:off x="1666875" y="17311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454" name="Google Shape;45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621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3"/>
          <p:cNvSpPr txBox="1"/>
          <p:nvPr/>
        </p:nvSpPr>
        <p:spPr>
          <a:xfrm>
            <a:off x="1666875" y="22693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http://images.computerhistory.org/revonline/images/x800.86bp-03-02.jpg?w=600</a:t>
            </a:r>
            <a:endParaRPr/>
          </a:p>
        </p:txBody>
      </p:sp>
      <p:sp>
        <p:nvSpPr>
          <p:cNvPr id="456" name="Google Shape;456;p43"/>
          <p:cNvSpPr txBox="1"/>
          <p:nvPr/>
        </p:nvSpPr>
        <p:spPr>
          <a:xfrm>
            <a:off x="1666875" y="25026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www.computerhistory.org</a:t>
            </a:r>
            <a:endParaRPr/>
          </a:p>
        </p:txBody>
      </p:sp>
      <p:pic>
        <p:nvPicPr>
          <p:cNvPr descr="image.png" id="457" name="Google Shape;457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19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3"/>
          <p:cNvSpPr txBox="1"/>
          <p:nvPr/>
        </p:nvSpPr>
        <p:spPr>
          <a:xfrm>
            <a:off x="1666875" y="30337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https://i.ytimg.com/vi/NmQJQ4U2fuA/hq720.jpg?sqp=-oaymwE7CK4FEIIDSFryq4qpAy0IARUAAAAAGAElAADIQj0AgKJD8AEB-AHUBoAC4AOKAgwIABABGH8gPig7MA8=&amp;rs=AOn4CLBGGC4oGGvWKcKd4oxWGqaKmyrZwg</a:t>
            </a:r>
            <a:endParaRPr/>
          </a:p>
        </p:txBody>
      </p:sp>
      <p:sp>
        <p:nvSpPr>
          <p:cNvPr id="459" name="Google Shape;459;p43"/>
          <p:cNvSpPr txBox="1"/>
          <p:nvPr/>
        </p:nvSpPr>
        <p:spPr>
          <a:xfrm>
            <a:off x="1666875" y="34528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pic>
        <p:nvPicPr>
          <p:cNvPr descr="image.png" id="460" name="Google Shape;46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62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3"/>
          <p:cNvSpPr txBox="1"/>
          <p:nvPr/>
        </p:nvSpPr>
        <p:spPr>
          <a:xfrm>
            <a:off x="1666875" y="39766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https://images.unsplash.com/photo-1541029071515-84cc54f84dc5?fm=jpg&amp;q=60&amp;w=3000&amp;ixlib=rb-4.1.0&amp;ixid=M3wxMjA3fDB8MHxwaG90by1yZWxhdGVkfDEzfHx8ZW58MHx8fHx8</a:t>
            </a:r>
            <a:endParaRPr/>
          </a:p>
        </p:txBody>
      </p:sp>
      <p:sp>
        <p:nvSpPr>
          <p:cNvPr id="462" name="Google Shape;462;p43"/>
          <p:cNvSpPr txBox="1"/>
          <p:nvPr/>
        </p:nvSpPr>
        <p:spPr>
          <a:xfrm>
            <a:off x="1666875" y="43957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unsplash.com</a:t>
            </a:r>
            <a:endParaRPr/>
          </a:p>
        </p:txBody>
      </p:sp>
      <p:pic>
        <p:nvPicPr>
          <p:cNvPr descr="image.png" id="463" name="Google Shape;463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19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 txBox="1"/>
          <p:nvPr/>
        </p:nvSpPr>
        <p:spPr>
          <a:xfrm>
            <a:off x="1666875" y="49268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https://cdn.mos.cms.futurecdn.net/v2/t:104,l:0,cw:2000,ch:1125,q:80,w:2000/Huju74rPpoKaERsYHPtN3W.jpg</a:t>
            </a:r>
            <a:endParaRPr/>
          </a:p>
        </p:txBody>
      </p:sp>
      <p:sp>
        <p:nvSpPr>
          <p:cNvPr id="465" name="Google Shape;465;p43"/>
          <p:cNvSpPr txBox="1"/>
          <p:nvPr/>
        </p:nvSpPr>
        <p:spPr>
          <a:xfrm>
            <a:off x="1666875" y="51601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www.tomshardware.com</a:t>
            </a:r>
            <a:endParaRPr/>
          </a:p>
        </p:txBody>
      </p:sp>
      <p:pic>
        <p:nvPicPr>
          <p:cNvPr descr="image.png" id="466" name="Google Shape;466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76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 txBox="1"/>
          <p:nvPr/>
        </p:nvSpPr>
        <p:spPr>
          <a:xfrm>
            <a:off x="1666875" y="56911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https://cards.algoreducation.com/_next/image?url=https%3A%2F%2Ffiles.algoreducation.com%2Fproduction-ts%2F__S3__7d70d7de-308e-4688-b634-c94761d7e351&amp;w=3840&amp;q=75</a:t>
            </a:r>
            <a:endParaRPr/>
          </a:p>
        </p:txBody>
      </p:sp>
      <p:sp>
        <p:nvSpPr>
          <p:cNvPr id="468" name="Google Shape;468;p43"/>
          <p:cNvSpPr txBox="1"/>
          <p:nvPr/>
        </p:nvSpPr>
        <p:spPr>
          <a:xfrm>
            <a:off x="1666875" y="61102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cards.algoreducation.com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3" name="Google Shape;47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475" name="Google Shape;475;p4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4"/>
          <p:cNvSpPr/>
          <p:nvPr/>
        </p:nvSpPr>
        <p:spPr>
          <a:xfrm>
            <a:off x="571500" y="211931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4"/>
          <p:cNvSpPr/>
          <p:nvPr/>
        </p:nvSpPr>
        <p:spPr>
          <a:xfrm>
            <a:off x="571500" y="306228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4"/>
          <p:cNvSpPr/>
          <p:nvPr/>
        </p:nvSpPr>
        <p:spPr>
          <a:xfrm>
            <a:off x="571500" y="40052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4"/>
          <p:cNvSpPr/>
          <p:nvPr/>
        </p:nvSpPr>
        <p:spPr>
          <a:xfrm>
            <a:off x="571500" y="3052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4"/>
          <p:cNvSpPr/>
          <p:nvPr/>
        </p:nvSpPr>
        <p:spPr>
          <a:xfrm>
            <a:off x="571500" y="3052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4"/>
          <p:cNvSpPr/>
          <p:nvPr/>
        </p:nvSpPr>
        <p:spPr>
          <a:xfrm>
            <a:off x="571500" y="3995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4"/>
          <p:cNvSpPr/>
          <p:nvPr/>
        </p:nvSpPr>
        <p:spPr>
          <a:xfrm>
            <a:off x="571500" y="3995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4"/>
          <p:cNvSpPr/>
          <p:nvPr/>
        </p:nvSpPr>
        <p:spPr>
          <a:xfrm>
            <a:off x="571500" y="4767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4"/>
          <p:cNvSpPr/>
          <p:nvPr/>
        </p:nvSpPr>
        <p:spPr>
          <a:xfrm>
            <a:off x="571500" y="4767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5" name="Google Shape;48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 txBox="1"/>
          <p:nvPr/>
        </p:nvSpPr>
        <p:spPr>
          <a:xfrm>
            <a:off x="1666875" y="22621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https://www.lifewire.com/thmb/QnqaNLaUDkTUwFuIi4IhqgWh2hY=/1500x0/filters:no_upscale():max_bytes(150000):strip_icc()/pheonixbios-exit-menu-5995973eaad52b0011792d42.png</a:t>
            </a:r>
            <a:endParaRPr/>
          </a:p>
        </p:txBody>
      </p:sp>
      <p:sp>
        <p:nvSpPr>
          <p:cNvPr id="487" name="Google Shape;487;p44"/>
          <p:cNvSpPr txBox="1"/>
          <p:nvPr/>
        </p:nvSpPr>
        <p:spPr>
          <a:xfrm>
            <a:off x="1666875" y="26812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www.lifewire.com</a:t>
            </a:r>
            <a:endParaRPr/>
          </a:p>
        </p:txBody>
      </p:sp>
      <p:pic>
        <p:nvPicPr>
          <p:cNvPr descr="image.png" id="488" name="Google Shape;48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0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1666875" y="32051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https://media.istockphoto.com/id/1203707845/photo/details-of-an-cooling-elements-fan-processor-cooler.jpg?s=612x612&amp;w=0&amp;k=20&amp;c=XPcmGm9oNzoF-KFIRMov-a2nhcIyo7zGPq892yeGuk4=</a:t>
            </a:r>
            <a:endParaRPr/>
          </a:p>
        </p:txBody>
      </p:sp>
      <p:sp>
        <p:nvSpPr>
          <p:cNvPr id="490" name="Google Shape;490;p44"/>
          <p:cNvSpPr txBox="1"/>
          <p:nvPr/>
        </p:nvSpPr>
        <p:spPr>
          <a:xfrm>
            <a:off x="1666875" y="36242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491" name="Google Shape;49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8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4"/>
          <p:cNvSpPr txBox="1"/>
          <p:nvPr/>
        </p:nvSpPr>
        <p:spPr>
          <a:xfrm>
            <a:off x="1666875" y="41552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https://img.freepik.com/premium-vector/isometric-illustration-concept-cloud-server-data-analysis-engine_18660-3012.jpg?w=360</a:t>
            </a:r>
            <a:endParaRPr/>
          </a:p>
        </p:txBody>
      </p:sp>
      <p:sp>
        <p:nvSpPr>
          <p:cNvPr id="493" name="Google Shape;493;p44"/>
          <p:cNvSpPr txBox="1"/>
          <p:nvPr/>
        </p:nvSpPr>
        <p:spPr>
          <a:xfrm>
            <a:off x="1666875" y="43886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494" name="Google Shape;494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05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4"/>
          <p:cNvSpPr txBox="1"/>
          <p:nvPr/>
        </p:nvSpPr>
        <p:spPr>
          <a:xfrm>
            <a:off x="1666875" y="49196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https://static.vecteezy.com/system/resources/previews/066/832/742/non_2x/padlock-icon-cybersecurity-and-data-protection-concept-padlock-with-check-mark-icon-network-safety-information-privacy-idea-circuit-board-pattern-pcb-printed-circuit-texture-vector.jpg</a:t>
            </a:r>
            <a:endParaRPr/>
          </a:p>
        </p:txBody>
      </p:sp>
      <p:sp>
        <p:nvSpPr>
          <p:cNvPr id="496" name="Google Shape;496;p44"/>
          <p:cNvSpPr txBox="1"/>
          <p:nvPr/>
        </p:nvSpPr>
        <p:spPr>
          <a:xfrm>
            <a:off x="1666875" y="53387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