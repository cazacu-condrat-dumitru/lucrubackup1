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6858000" cy="9144000"/>
  <p:embeddedFontLst>
    <p:embeddedFont>
      <p:font typeface="DM Sans" pitchFamily="2" charset="0"/>
      <p:regular r:id="rId32"/>
      <p:bold r:id="rId33"/>
      <p:italic r:id="rId34"/>
      <p:boldItalic r:id="rId35"/>
    </p:embeddedFont>
    <p:embeddedFont>
      <p:font typeface="Urbanist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6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74295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DISCIPLINA: PROMOVAREA PRODUSELOR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18869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Managementul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Relațiilor</a:t>
            </a: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cu Clienții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08776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Tehnologii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Succesul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Afacerii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834431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Cazacu-Condrat Dumitru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0308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3516659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Concepte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schimbarea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paradigmei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client.</a:t>
            </a:r>
            <a:endParaRPr sz="2000"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6775" y="303088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76775" y="3516659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Tehnologie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76775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Tipuri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CRM: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Operațional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Analitic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Colaborativ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150" y="30308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439150" y="3516659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Impact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39150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Măsurarea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succesului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indicatorii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performanță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(KPI)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CRM.</a:t>
            </a:r>
            <a:endParaRPr sz="20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Agenda Lecției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1718084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Customer Relationship Management (CRM) nu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un software, ci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afaceri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904875" y="285057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Managementul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tuturor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interacțiunilor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3539865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viziune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360 de grade.</a:t>
            </a:r>
            <a:endParaRPr sz="20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4509641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Îmbunătățirea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satisfacției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loialității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510579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Maximizarea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profitabilității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termen lung.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Conceptul de CRM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90546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046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267" y="5236906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246" y="460526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Customer Relationship Management Definition | Arena">
            <a:extLst>
              <a:ext uri="{FF2B5EF4-FFF2-40B4-BE49-F238E27FC236}">
                <a16:creationId xmlns:a16="http://schemas.microsoft.com/office/drawing/2014/main" id="{735F5653-DA53-BAB0-350B-F80C63A9C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59" y="1984764"/>
            <a:ext cx="3774956" cy="377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77542"/>
            <a:ext cx="5286375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77542"/>
            <a:ext cx="5286375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14400" y="1990725"/>
            <a:ext cx="103632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Evoluția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marketingului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forțat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trecerea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orientarea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orientarea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client.</a:t>
            </a:r>
            <a:endParaRPr sz="200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14400" y="402044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Viziunea</a:t>
            </a:r>
            <a:r>
              <a:rPr lang="en-US" sz="1950" b="1" i="0" u="none" strike="noStrike" cap="none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1" i="0" u="none" strike="noStrike" cap="none" dirty="0" err="1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Tradițională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914400" y="4515742"/>
            <a:ext cx="46005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Concentrare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tranzacție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volum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caracteristici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ale software-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705600" y="4020442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Viziunea CRM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05600" y="4515742"/>
            <a:ext cx="4572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Concentrare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valoarea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viață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(LTV)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experienței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Produs vs. Client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0765"/>
            <a:ext cx="3524250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550765"/>
            <a:ext cx="3524250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550765"/>
            <a:ext cx="3524250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9366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14400" y="337944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Oameni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914400" y="3874740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Cultura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organizațională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orientată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client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angajaților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893665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4676775" y="337944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Procese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676775" y="3874740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Proceduri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marketing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289366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439150" y="337944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Tehnologie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439150" y="3874740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centralizează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informațiile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Cei 3 Piloni CRM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1890712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"front-office" care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interacționează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direct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904875" y="298608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SFA: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forței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904875" y="3499617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Marketing: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Campanii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e-mail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segmentare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450234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Service: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Ticketing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post-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CRM Operațional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1719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826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33459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-828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334125" y="1801352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brute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6667500" y="268774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comportamentului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cumpărare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0" y="3148984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consum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(Pattern recognition).</a:t>
            </a:r>
            <a:endParaRPr sz="2000"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3963520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riscului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plecare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(Churn).</a:t>
            </a:r>
            <a:endParaRPr sz="2000"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6667500" y="455949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Evaluarea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eficienței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campaniilor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marketing.</a:t>
            </a:r>
            <a:endParaRPr sz="2000"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CRM Analitic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4127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28625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9740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723357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1939229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punctelor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contact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canale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coerentă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04875" y="300066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E-mail,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Telefon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Chat, Social Media.</a:t>
            </a:r>
            <a:endParaRPr sz="2000" dirty="0"/>
          </a:p>
        </p:txBody>
      </p:sp>
      <p:sp>
        <p:nvSpPr>
          <p:cNvPr id="203" name="Google Shape;203;p20"/>
          <p:cNvSpPr txBox="1"/>
          <p:nvPr/>
        </p:nvSpPr>
        <p:spPr>
          <a:xfrm>
            <a:off x="904875" y="356682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Sincronizarea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departamentelor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vânzări-suport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200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904875" y="413055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Managementul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interacțiunilor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omni-channel.</a:t>
            </a:r>
            <a:endParaRPr sz="2000"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904875" y="469671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Portaluri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self-service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CRM Colaborativ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3177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4852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081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42485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334125" y="1925097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Etapele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parcurse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un client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firma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6667500" y="250447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Achiziție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Atragerea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vizitatorilor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6667500" y="308384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plătitori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22" name="Google Shape;222;p21"/>
          <p:cNvSpPr txBox="1"/>
          <p:nvPr/>
        </p:nvSpPr>
        <p:spPr>
          <a:xfrm>
            <a:off x="6667500" y="366322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Retenție: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Menținerea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satisfacției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23" name="Google Shape;223;p21"/>
          <p:cNvSpPr txBox="1"/>
          <p:nvPr/>
        </p:nvSpPr>
        <p:spPr>
          <a:xfrm>
            <a:off x="6667500" y="4242597"/>
            <a:ext cx="52863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Loializare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promotori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brand.</a:t>
            </a:r>
            <a:endParaRPr sz="2000"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Ciclul de Viață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64646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22770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79094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432172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0871"/>
            <a:ext cx="3524250" cy="216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930872"/>
            <a:ext cx="3524250" cy="2167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930872"/>
            <a:ext cx="3524250" cy="216779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914400" y="327377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Eficiență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14400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Reducerea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petrecut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sarcini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administrative repetitive.</a:t>
            </a:r>
            <a:endParaRPr sz="2000" dirty="0"/>
          </a:p>
        </p:txBody>
      </p:sp>
      <p:sp>
        <p:nvSpPr>
          <p:cNvPr id="240" name="Google Shape;240;p22"/>
          <p:cNvSpPr txBox="1"/>
          <p:nvPr/>
        </p:nvSpPr>
        <p:spPr>
          <a:xfrm>
            <a:off x="4676775" y="327377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Profit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676775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Creșterea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tehnici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Up-selling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Cross-selling.</a:t>
            </a:r>
            <a:endParaRPr sz="2000" dirty="0"/>
          </a:p>
        </p:txBody>
      </p:sp>
      <p:sp>
        <p:nvSpPr>
          <p:cNvPr id="242" name="Google Shape;242;p22"/>
          <p:cNvSpPr txBox="1"/>
          <p:nvPr/>
        </p:nvSpPr>
        <p:spPr>
          <a:xfrm>
            <a:off x="8439150" y="327377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Insight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439150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Înțelegerea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profundă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nevoilor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software.</a:t>
            </a:r>
            <a:endParaRPr sz="2000" dirty="0"/>
          </a:p>
        </p:txBody>
      </p:sp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Obiectivele CRM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92797"/>
            <a:ext cx="5286375" cy="157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71500" y="1855303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companiile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 au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nevoie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critică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CRM?</a:t>
            </a:r>
            <a:endParaRPr sz="1800" dirty="0"/>
          </a:p>
        </p:txBody>
      </p:sp>
      <p:sp>
        <p:nvSpPr>
          <p:cNvPr id="253" name="Google Shape;253;p23"/>
          <p:cNvSpPr txBox="1"/>
          <p:nvPr/>
        </p:nvSpPr>
        <p:spPr>
          <a:xfrm>
            <a:off x="6677025" y="3607147"/>
            <a:ext cx="46005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 client loial costă de 5 ori mai puțin decât atragerea unuia nou.</a:t>
            </a:r>
            <a:endParaRPr sz="1800"/>
          </a:p>
        </p:txBody>
      </p:sp>
      <p:sp>
        <p:nvSpPr>
          <p:cNvPr id="254" name="Google Shape;254;p23"/>
          <p:cNvSpPr txBox="1"/>
          <p:nvPr/>
        </p:nvSpPr>
        <p:spPr>
          <a:xfrm>
            <a:off x="904875" y="290049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Urmărirea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reînnoirilor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licențe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abonamente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255" name="Google Shape;255;p23"/>
          <p:cNvSpPr txBox="1"/>
          <p:nvPr/>
        </p:nvSpPr>
        <p:spPr>
          <a:xfrm>
            <a:off x="904875" y="3399911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Feedback direct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dezvoltarea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904875" y="4170908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 tehnic rapid prin istoricul complet al erorilor.</a:t>
            </a:r>
            <a:endParaRPr sz="1800"/>
          </a:p>
        </p:txBody>
      </p:sp>
      <p:sp>
        <p:nvSpPr>
          <p:cNvPr id="257" name="Google Shape;257;p23"/>
          <p:cNvSpPr txBox="1"/>
          <p:nvPr/>
        </p:nvSpPr>
        <p:spPr>
          <a:xfrm>
            <a:off x="904875" y="499488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Reducerea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ratei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abandon (Churn rate).</a:t>
            </a:r>
            <a:endParaRPr sz="1800"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Beneficii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în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IT</a:t>
            </a:r>
            <a:endParaRPr sz="3200" dirty="0"/>
          </a:p>
        </p:txBody>
      </p:sp>
      <p:sp>
        <p:nvSpPr>
          <p:cNvPr id="259" name="Google Shape;259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6303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5728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6366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2599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7552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334125" y="1932539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gestionare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potențialilor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2000" dirty="0"/>
          </a:p>
        </p:txBody>
      </p:sp>
      <p:sp>
        <p:nvSpPr>
          <p:cNvPr id="272" name="Google Shape;272;p24"/>
          <p:cNvSpPr txBox="1"/>
          <p:nvPr/>
        </p:nvSpPr>
        <p:spPr>
          <a:xfrm>
            <a:off x="6667500" y="267170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Cine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interesat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software?</a:t>
            </a:r>
            <a:endParaRPr sz="2000" dirty="0"/>
          </a:p>
        </p:txBody>
      </p:sp>
      <p:sp>
        <p:nvSpPr>
          <p:cNvPr id="273" name="Google Shape;273;p24"/>
          <p:cNvSpPr txBox="1"/>
          <p:nvPr/>
        </p:nvSpPr>
        <p:spPr>
          <a:xfrm>
            <a:off x="6667500" y="341902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Calificare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buget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nevoie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2000" dirty="0"/>
          </a:p>
        </p:txBody>
      </p:sp>
      <p:sp>
        <p:nvSpPr>
          <p:cNvPr id="274" name="Google Shape;274;p24"/>
          <p:cNvSpPr txBox="1"/>
          <p:nvPr/>
        </p:nvSpPr>
        <p:spPr>
          <a:xfrm>
            <a:off x="6667499" y="4039796"/>
            <a:ext cx="55340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Nurturing: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Informarea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constantă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până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cumpărare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75" name="Google Shape;275;p24"/>
          <p:cNvSpPr txBox="1"/>
          <p:nvPr/>
        </p:nvSpPr>
        <p:spPr>
          <a:xfrm>
            <a:off x="6667500" y="4774931"/>
            <a:ext cx="54229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Distribuție</a:t>
            </a: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Alocarea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către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agentul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potrivit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Managementul Leads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1820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56749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18104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94488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5091"/>
            <a:ext cx="11049000" cy="132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571500" y="3532882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 date stocăm într-un CRM?</a:t>
            </a:r>
            <a:endParaRPr sz="1800"/>
          </a:p>
        </p:txBody>
      </p:sp>
      <p:sp>
        <p:nvSpPr>
          <p:cNvPr id="289" name="Google Shape;289;p25"/>
          <p:cNvSpPr txBox="1"/>
          <p:nvPr/>
        </p:nvSpPr>
        <p:spPr>
          <a:xfrm>
            <a:off x="923925" y="2448966"/>
            <a:ext cx="103441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CRM elimină "insulele de date" (silozurile informaționale) din companie.</a:t>
            </a:r>
            <a:endParaRPr sz="1800"/>
          </a:p>
        </p:txBody>
      </p:sp>
      <p:sp>
        <p:nvSpPr>
          <p:cNvPr id="290" name="Google Shape;290;p25"/>
          <p:cNvSpPr txBox="1"/>
          <p:nvPr/>
        </p:nvSpPr>
        <p:spPr>
          <a:xfrm>
            <a:off x="904875" y="4131022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 de contact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E-mail, Companie).</a:t>
            </a:r>
            <a:endParaRPr sz="1800" dirty="0"/>
          </a:p>
        </p:txBody>
      </p:sp>
      <p:sp>
        <p:nvSpPr>
          <p:cNvPr id="291" name="Google Shape;291;p25"/>
          <p:cNvSpPr txBox="1"/>
          <p:nvPr/>
        </p:nvSpPr>
        <p:spPr>
          <a:xfrm>
            <a:off x="904875" y="4519612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Istoric tranzacțional (Ce produse software au cumpărat?).</a:t>
            </a:r>
            <a:endParaRPr sz="1800"/>
          </a:p>
        </p:txBody>
      </p:sp>
      <p:sp>
        <p:nvSpPr>
          <p:cNvPr id="292" name="Google Shape;292;p25"/>
          <p:cNvSpPr txBox="1"/>
          <p:nvPr/>
        </p:nvSpPr>
        <p:spPr>
          <a:xfrm>
            <a:off x="904875" y="4908202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Istoric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interacțiuni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mailuri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trimise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apeluri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efectuate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293" name="Google Shape;293;p25"/>
          <p:cNvSpPr txBox="1"/>
          <p:nvPr/>
        </p:nvSpPr>
        <p:spPr>
          <a:xfrm>
            <a:off x="904875" y="5296792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Interese și preferințe tehnice.</a:t>
            </a:r>
            <a:endParaRPr sz="1800"/>
          </a:p>
        </p:txBody>
      </p:sp>
      <p:sp>
        <p:nvSpPr>
          <p:cNvPr id="294" name="Google Shape;294;p25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Sursa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Unică</a:t>
            </a:r>
            <a:endParaRPr sz="3200" dirty="0"/>
          </a:p>
        </p:txBody>
      </p:sp>
      <p:sp>
        <p:nvSpPr>
          <p:cNvPr id="295" name="Google Shape;295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6116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50723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748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451821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137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571500" y="2132267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Vizualizarea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etape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800" dirty="0"/>
          </a:p>
        </p:txBody>
      </p:sp>
      <p:pic>
        <p:nvPicPr>
          <p:cNvPr id="306" name="Google Shape;30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8311" y="3091028"/>
            <a:ext cx="1899084" cy="39318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6677025" y="3515131"/>
            <a:ext cx="46005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Pipeline-ul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sănătos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motorul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creșterii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oricărei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IT.</a:t>
            </a:r>
            <a:endParaRPr sz="1800" dirty="0"/>
          </a:p>
        </p:txBody>
      </p:sp>
      <p:sp>
        <p:nvSpPr>
          <p:cNvPr id="308" name="Google Shape;308;p26"/>
          <p:cNvSpPr txBox="1"/>
          <p:nvPr/>
        </p:nvSpPr>
        <p:spPr>
          <a:xfrm>
            <a:off x="904875" y="329325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Prospectare (Căutare clienți).</a:t>
            </a:r>
            <a:endParaRPr sz="1800"/>
          </a:p>
        </p:txBody>
      </p:sp>
      <p:sp>
        <p:nvSpPr>
          <p:cNvPr id="309" name="Google Shape;309;p26"/>
          <p:cNvSpPr txBox="1"/>
          <p:nvPr/>
        </p:nvSpPr>
        <p:spPr>
          <a:xfrm>
            <a:off x="904875" y="368184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Demonstrație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(Demo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software).</a:t>
            </a:r>
            <a:endParaRPr sz="1800" dirty="0"/>
          </a:p>
        </p:txBody>
      </p:sp>
      <p:sp>
        <p:nvSpPr>
          <p:cNvPr id="310" name="Google Shape;310;p26"/>
          <p:cNvSpPr txBox="1"/>
          <p:nvPr/>
        </p:nvSpPr>
        <p:spPr>
          <a:xfrm>
            <a:off x="904875" y="406472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Ofertare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Negociere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11" name="Google Shape;311;p26"/>
          <p:cNvSpPr txBox="1"/>
          <p:nvPr/>
        </p:nvSpPr>
        <p:spPr>
          <a:xfrm>
            <a:off x="904875" y="441811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Contractare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Încheiere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sz="1800" dirty="0"/>
          </a:p>
        </p:txBody>
      </p:sp>
      <p:sp>
        <p:nvSpPr>
          <p:cNvPr id="312" name="Google Shape;312;p26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Managementul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Pipeline</a:t>
            </a:r>
            <a:endParaRPr sz="3200" dirty="0"/>
          </a:p>
        </p:txBody>
      </p:sp>
      <p:sp>
        <p:nvSpPr>
          <p:cNvPr id="313" name="Google Shape;313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937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8231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090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5949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6334125" y="1939684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Rolul CRM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faza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post-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800" dirty="0"/>
          </a:p>
        </p:txBody>
      </p:sp>
      <p:sp>
        <p:nvSpPr>
          <p:cNvPr id="326" name="Google Shape;326;p27"/>
          <p:cNvSpPr txBox="1"/>
          <p:nvPr/>
        </p:nvSpPr>
        <p:spPr>
          <a:xfrm>
            <a:off x="6667500" y="243713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Managementul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tichetelor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27" name="Google Shape;327;p27"/>
          <p:cNvSpPr txBox="1"/>
          <p:nvPr/>
        </p:nvSpPr>
        <p:spPr>
          <a:xfrm>
            <a:off x="6667500" y="2966279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cunoștințe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(Knowledge base)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28" name="Google Shape;328;p27"/>
          <p:cNvSpPr txBox="1"/>
          <p:nvPr/>
        </p:nvSpPr>
        <p:spPr>
          <a:xfrm>
            <a:off x="6667500" y="3959262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SLA (Service Level Agreement) -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monitorizarea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răspuns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29" name="Google Shape;329;p27"/>
          <p:cNvSpPr txBox="1"/>
          <p:nvPr/>
        </p:nvSpPr>
        <p:spPr>
          <a:xfrm>
            <a:off x="6667500" y="496145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Sondaje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satisfacție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(NPS).</a:t>
            </a:r>
            <a:endParaRPr sz="1800" dirty="0"/>
          </a:p>
        </p:txBody>
      </p:sp>
      <p:sp>
        <p:nvSpPr>
          <p:cNvPr id="330" name="Google Shape;330;p27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Service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și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Suport</a:t>
            </a:r>
            <a:endParaRPr sz="3200" dirty="0"/>
          </a:p>
        </p:txBody>
      </p:sp>
      <p:sp>
        <p:nvSpPr>
          <p:cNvPr id="331" name="Google Shape;331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59049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101573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13543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0952" y="512880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8"/>
          <p:cNvSpPr/>
          <p:nvPr/>
        </p:nvSpPr>
        <p:spPr>
          <a:xfrm>
            <a:off x="5715000" y="762000"/>
            <a:ext cx="7620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 txBox="1"/>
          <p:nvPr/>
        </p:nvSpPr>
        <p:spPr>
          <a:xfrm>
            <a:off x="295275" y="1009650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Strategie și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Date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571500" y="187062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retenția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factori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succes</a:t>
            </a:r>
            <a:endParaRPr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668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9"/>
          <p:cNvSpPr txBox="1"/>
          <p:nvPr/>
        </p:nvSpPr>
        <p:spPr>
          <a:xfrm>
            <a:off x="571500" y="1898537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business SaaS (Software as a Service),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retenția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vitală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800" dirty="0"/>
          </a:p>
        </p:txBody>
      </p:sp>
      <p:sp>
        <p:nvSpPr>
          <p:cNvPr id="352" name="Google Shape;352;p29"/>
          <p:cNvSpPr txBox="1"/>
          <p:nvPr/>
        </p:nvSpPr>
        <p:spPr>
          <a:xfrm>
            <a:off x="904875" y="298580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Costul de achiziție (CAC) este adesea mare.</a:t>
            </a:r>
            <a:endParaRPr sz="1800"/>
          </a:p>
        </p:txBody>
      </p:sp>
      <p:sp>
        <p:nvSpPr>
          <p:cNvPr id="353" name="Google Shape;353;p29"/>
          <p:cNvSpPr txBox="1"/>
          <p:nvPr/>
        </p:nvSpPr>
        <p:spPr>
          <a:xfrm>
            <a:off x="904875" y="3374392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Profitul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abia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după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câteva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luni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abonament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54" name="Google Shape;354;p29"/>
          <p:cNvSpPr txBox="1"/>
          <p:nvPr/>
        </p:nvSpPr>
        <p:spPr>
          <a:xfrm>
            <a:off x="904875" y="4258597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ajută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risc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plecare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înainte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aceștia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să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renunțe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55" name="Google Shape;355;p29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Valoarea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Retenției</a:t>
            </a:r>
            <a:endParaRPr sz="3200" dirty="0"/>
          </a:p>
        </p:txBody>
      </p:sp>
      <p:sp>
        <p:nvSpPr>
          <p:cNvPr id="356" name="Google Shape;356;p2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4134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3568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9575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Recognize: How To Improve Employee Retention - 6 Actionable Strategies">
            <a:extLst>
              <a:ext uri="{FF2B5EF4-FFF2-40B4-BE49-F238E27FC236}">
                <a16:creationId xmlns:a16="http://schemas.microsoft.com/office/drawing/2014/main" id="{F3C237EB-BC12-41F2-DE7D-EEA904933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1881187"/>
            <a:ext cx="528637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6427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5167"/>
            <a:ext cx="35242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3725167"/>
            <a:ext cx="3524250" cy="1901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3725167"/>
            <a:ext cx="3524250" cy="19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 txBox="1"/>
          <p:nvPr/>
        </p:nvSpPr>
        <p:spPr>
          <a:xfrm>
            <a:off x="914400" y="2343637"/>
            <a:ext cx="103632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Customer Lifetime Value: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Suma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totală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bani pe care un client o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cheltui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companie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parcursul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întregii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70" name="Google Shape;370;p30"/>
          <p:cNvSpPr txBox="1"/>
          <p:nvPr/>
        </p:nvSpPr>
        <p:spPr>
          <a:xfrm>
            <a:off x="914400" y="4068067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Recurență</a:t>
            </a:r>
            <a:endParaRPr sz="1800"/>
          </a:p>
        </p:txBody>
      </p:sp>
      <p:sp>
        <p:nvSpPr>
          <p:cNvPr id="371" name="Google Shape;371;p30"/>
          <p:cNvSpPr txBox="1"/>
          <p:nvPr/>
        </p:nvSpPr>
        <p:spPr>
          <a:xfrm>
            <a:off x="914400" y="456336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des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cumpără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reînnoiește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372" name="Google Shape;372;p30"/>
          <p:cNvSpPr txBox="1"/>
          <p:nvPr/>
        </p:nvSpPr>
        <p:spPr>
          <a:xfrm>
            <a:off x="4676775" y="4068067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Adâncime</a:t>
            </a:r>
            <a:endParaRPr sz="1800"/>
          </a:p>
        </p:txBody>
      </p:sp>
      <p:sp>
        <p:nvSpPr>
          <p:cNvPr id="373" name="Google Shape;373;p30"/>
          <p:cNvSpPr txBox="1"/>
          <p:nvPr/>
        </p:nvSpPr>
        <p:spPr>
          <a:xfrm>
            <a:off x="4676775" y="456336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Câte module software adiționale utilizează.</a:t>
            </a:r>
            <a:endParaRPr sz="1800"/>
          </a:p>
        </p:txBody>
      </p:sp>
      <p:sp>
        <p:nvSpPr>
          <p:cNvPr id="374" name="Google Shape;374;p30"/>
          <p:cNvSpPr txBox="1"/>
          <p:nvPr/>
        </p:nvSpPr>
        <p:spPr>
          <a:xfrm>
            <a:off x="8439150" y="4068067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Durată</a:t>
            </a:r>
            <a:endParaRPr sz="1800"/>
          </a:p>
        </p:txBody>
      </p:sp>
      <p:sp>
        <p:nvSpPr>
          <p:cNvPr id="375" name="Google Shape;375;p30"/>
          <p:cNvSpPr txBox="1"/>
          <p:nvPr/>
        </p:nvSpPr>
        <p:spPr>
          <a:xfrm>
            <a:off x="8439150" y="4563367"/>
            <a:ext cx="2838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Câți ani rămâne fidel brandului.</a:t>
            </a:r>
            <a:endParaRPr sz="1800"/>
          </a:p>
        </p:txBody>
      </p:sp>
      <p:sp>
        <p:nvSpPr>
          <p:cNvPr id="376" name="Google Shape;376;p30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LTV: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Valoarea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pe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Viață</a:t>
            </a:r>
            <a:endParaRPr sz="3200" dirty="0"/>
          </a:p>
        </p:txBody>
      </p:sp>
      <p:sp>
        <p:nvSpPr>
          <p:cNvPr id="377" name="Google Shape;377;p3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687984"/>
            <a:ext cx="3524250" cy="265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03088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 txBox="1"/>
          <p:nvPr/>
        </p:nvSpPr>
        <p:spPr>
          <a:xfrm>
            <a:off x="914400" y="3516659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Salesforce</a:t>
            </a:r>
            <a:endParaRPr sz="1800"/>
          </a:p>
        </p:txBody>
      </p:sp>
      <p:sp>
        <p:nvSpPr>
          <p:cNvPr id="388" name="Google Shape;388;p31"/>
          <p:cNvSpPr txBox="1"/>
          <p:nvPr/>
        </p:nvSpPr>
        <p:spPr>
          <a:xfrm>
            <a:off x="914400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Liderul global, pionierul în CRM cloud și ecosistem enterprise.</a:t>
            </a:r>
            <a:endParaRPr sz="1800"/>
          </a:p>
        </p:txBody>
      </p:sp>
      <p:pic>
        <p:nvPicPr>
          <p:cNvPr id="389" name="Google Shape;38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6775" y="303088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1"/>
          <p:cNvSpPr txBox="1"/>
          <p:nvPr/>
        </p:nvSpPr>
        <p:spPr>
          <a:xfrm>
            <a:off x="4676775" y="3516659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HubSpot</a:t>
            </a:r>
            <a:endParaRPr sz="1800"/>
          </a:p>
        </p:txBody>
      </p:sp>
      <p:sp>
        <p:nvSpPr>
          <p:cNvPr id="391" name="Google Shape;391;p31"/>
          <p:cNvSpPr txBox="1"/>
          <p:nvPr/>
        </p:nvSpPr>
        <p:spPr>
          <a:xfrm>
            <a:off x="4676775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Focus pe inbound marketing și ușurință în utilizare pentru IMM-uri.</a:t>
            </a:r>
            <a:endParaRPr sz="1800"/>
          </a:p>
        </p:txBody>
      </p:sp>
      <p:pic>
        <p:nvPicPr>
          <p:cNvPr id="392" name="Google Shape;392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150" y="303088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1"/>
          <p:cNvSpPr txBox="1"/>
          <p:nvPr/>
        </p:nvSpPr>
        <p:spPr>
          <a:xfrm>
            <a:off x="8439150" y="3516659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Microsoft Dynamics</a:t>
            </a:r>
            <a:endParaRPr sz="1800"/>
          </a:p>
        </p:txBody>
      </p:sp>
      <p:sp>
        <p:nvSpPr>
          <p:cNvPr id="394" name="Google Shape;394;p31"/>
          <p:cNvSpPr txBox="1"/>
          <p:nvPr/>
        </p:nvSpPr>
        <p:spPr>
          <a:xfrm>
            <a:off x="8439150" y="4011959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Integrare nativă excelentă cu produsele Office și Windows.</a:t>
            </a:r>
            <a:endParaRPr sz="1800"/>
          </a:p>
        </p:txBody>
      </p:sp>
      <p:sp>
        <p:nvSpPr>
          <p:cNvPr id="395" name="Google Shape;395;p31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Sisteme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CRM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Celebre</a:t>
            </a:r>
            <a:endParaRPr sz="3200" dirty="0"/>
          </a:p>
        </p:txBody>
      </p:sp>
      <p:sp>
        <p:nvSpPr>
          <p:cNvPr id="396" name="Google Shape;396;p3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6334125" y="1901107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măsurăm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succesul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CRM?</a:t>
            </a:r>
            <a:endParaRPr sz="1800" dirty="0"/>
          </a:p>
        </p:txBody>
      </p:sp>
      <p:sp>
        <p:nvSpPr>
          <p:cNvPr id="405" name="Google Shape;405;p32"/>
          <p:cNvSpPr txBox="1"/>
          <p:nvPr/>
        </p:nvSpPr>
        <p:spPr>
          <a:xfrm>
            <a:off x="6667500" y="273289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Churn Rate: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pierduți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06" name="Google Shape;406;p32"/>
          <p:cNvSpPr txBox="1"/>
          <p:nvPr/>
        </p:nvSpPr>
        <p:spPr>
          <a:xfrm>
            <a:off x="6667500" y="3271557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NPS (Net Promoter Score):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Gradul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recomandare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07" name="Google Shape;407;p32"/>
          <p:cNvSpPr txBox="1"/>
          <p:nvPr/>
        </p:nvSpPr>
        <p:spPr>
          <a:xfrm>
            <a:off x="6667500" y="4170908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CAC (Customer Acquisition Cost):</a:t>
            </a: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Costul de atragere.</a:t>
            </a:r>
            <a:endParaRPr sz="1800"/>
          </a:p>
        </p:txBody>
      </p:sp>
      <p:sp>
        <p:nvSpPr>
          <p:cNvPr id="408" name="Google Shape;408;p32"/>
          <p:cNvSpPr txBox="1"/>
          <p:nvPr/>
        </p:nvSpPr>
        <p:spPr>
          <a:xfrm>
            <a:off x="6667500" y="5146639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ROI CRM: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Rentabilitatea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investiției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09" name="Google Shape;409;p32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Indicatori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KPI</a:t>
            </a:r>
            <a:endParaRPr sz="3200" dirty="0"/>
          </a:p>
        </p:txBody>
      </p:sp>
      <p:sp>
        <p:nvSpPr>
          <p:cNvPr id="410" name="Google Shape;410;p3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937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9938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32969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277750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3"/>
          <p:cNvSpPr txBox="1"/>
          <p:nvPr/>
        </p:nvSpPr>
        <p:spPr>
          <a:xfrm>
            <a:off x="571500" y="1881187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Inteligența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artificială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revoluționează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relația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800" dirty="0"/>
          </a:p>
        </p:txBody>
      </p:sp>
      <p:pic>
        <p:nvPicPr>
          <p:cNvPr id="422" name="Google Shape;42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 txBox="1"/>
          <p:nvPr/>
        </p:nvSpPr>
        <p:spPr>
          <a:xfrm>
            <a:off x="904875" y="2972300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Chatbot-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inteligente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24/7.</a:t>
            </a:r>
            <a:endParaRPr sz="1800" dirty="0"/>
          </a:p>
        </p:txBody>
      </p:sp>
      <p:sp>
        <p:nvSpPr>
          <p:cNvPr id="424" name="Google Shape;424;p33"/>
          <p:cNvSpPr txBox="1"/>
          <p:nvPr/>
        </p:nvSpPr>
        <p:spPr>
          <a:xfrm>
            <a:off x="904875" y="3574702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Predictive scoring: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Clasarea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potențialilor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25" name="Google Shape;425;p33"/>
          <p:cNvSpPr txBox="1"/>
          <p:nvPr/>
        </p:nvSpPr>
        <p:spPr>
          <a:xfrm>
            <a:off x="904875" y="451887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Sentiment analysis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mailuri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feedback.</a:t>
            </a:r>
            <a:endParaRPr sz="1800" dirty="0"/>
          </a:p>
        </p:txBody>
      </p:sp>
      <p:sp>
        <p:nvSpPr>
          <p:cNvPr id="426" name="Google Shape;426;p33"/>
          <p:cNvSpPr txBox="1"/>
          <p:nvPr/>
        </p:nvSpPr>
        <p:spPr>
          <a:xfrm>
            <a:off x="904875" y="5049360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conținut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27" name="Google Shape;427;p33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Viitorul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: AI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în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CRM</a:t>
            </a:r>
            <a:endParaRPr sz="3200" dirty="0"/>
          </a:p>
        </p:txBody>
      </p:sp>
      <p:sp>
        <p:nvSpPr>
          <p:cNvPr id="428" name="Google Shape;428;p3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5242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5578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0075" y="518047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46785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4"/>
          <p:cNvSpPr txBox="1"/>
          <p:nvPr/>
        </p:nvSpPr>
        <p:spPr>
          <a:xfrm>
            <a:off x="6334125" y="2947987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Pașii către un sistem funcțional:</a:t>
            </a:r>
            <a:endParaRPr sz="1800"/>
          </a:p>
        </p:txBody>
      </p:sp>
      <p:sp>
        <p:nvSpPr>
          <p:cNvPr id="441" name="Google Shape;441;p34"/>
          <p:cNvSpPr txBox="1"/>
          <p:nvPr/>
        </p:nvSpPr>
        <p:spPr>
          <a:xfrm>
            <a:off x="6667500" y="339372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Auditarea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42" name="Google Shape;442;p34"/>
          <p:cNvSpPr txBox="1"/>
          <p:nvPr/>
        </p:nvSpPr>
        <p:spPr>
          <a:xfrm>
            <a:off x="6667500" y="378231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Definirea cerințelor și selecția software-ului.</a:t>
            </a:r>
            <a:endParaRPr sz="1800"/>
          </a:p>
        </p:txBody>
      </p:sp>
      <p:sp>
        <p:nvSpPr>
          <p:cNvPr id="443" name="Google Shape;443;p34"/>
          <p:cNvSpPr txBox="1"/>
          <p:nvPr/>
        </p:nvSpPr>
        <p:spPr>
          <a:xfrm>
            <a:off x="6667500" y="417090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Migrarea datelor vechi în noul sistem.</a:t>
            </a:r>
            <a:endParaRPr sz="1800"/>
          </a:p>
        </p:txBody>
      </p:sp>
      <p:sp>
        <p:nvSpPr>
          <p:cNvPr id="444" name="Google Shape;444;p34"/>
          <p:cNvSpPr txBox="1"/>
          <p:nvPr/>
        </p:nvSpPr>
        <p:spPr>
          <a:xfrm>
            <a:off x="6667500" y="455949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Instruirea echipei și adoptarea culturii CRM.</a:t>
            </a:r>
            <a:endParaRPr sz="1800"/>
          </a:p>
        </p:txBody>
      </p:sp>
      <p:sp>
        <p:nvSpPr>
          <p:cNvPr id="445" name="Google Shape;445;p34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Procesul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Implementare</a:t>
            </a:r>
            <a:endParaRPr sz="3200" dirty="0"/>
          </a:p>
        </p:txBody>
      </p:sp>
      <p:sp>
        <p:nvSpPr>
          <p:cNvPr id="446" name="Google Shape;446;p3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937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78231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17090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55949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 txBox="1"/>
          <p:nvPr/>
        </p:nvSpPr>
        <p:spPr>
          <a:xfrm>
            <a:off x="571500" y="2947987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Esențial pentru echipele de vânzări de pe teren:</a:t>
            </a:r>
            <a:endParaRPr sz="1800"/>
          </a:p>
        </p:txBody>
      </p:sp>
      <p:pic>
        <p:nvPicPr>
          <p:cNvPr id="458" name="Google Shape;458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 txBox="1"/>
          <p:nvPr/>
        </p:nvSpPr>
        <p:spPr>
          <a:xfrm>
            <a:off x="904875" y="339372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Acces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clienților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oriunde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60" name="Google Shape;460;p35"/>
          <p:cNvSpPr txBox="1"/>
          <p:nvPr/>
        </p:nvSpPr>
        <p:spPr>
          <a:xfrm>
            <a:off x="904875" y="3782317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Actualizări în timp real după întâlniri.</a:t>
            </a:r>
            <a:endParaRPr sz="1800"/>
          </a:p>
        </p:txBody>
      </p:sp>
      <p:sp>
        <p:nvSpPr>
          <p:cNvPr id="461" name="Google Shape;461;p35"/>
          <p:cNvSpPr txBox="1"/>
          <p:nvPr/>
        </p:nvSpPr>
        <p:spPr>
          <a:xfrm>
            <a:off x="904875" y="417090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Notificări push pentru sarcini urgente.</a:t>
            </a:r>
            <a:endParaRPr sz="1800"/>
          </a:p>
        </p:txBody>
      </p:sp>
      <p:sp>
        <p:nvSpPr>
          <p:cNvPr id="462" name="Google Shape;462;p35"/>
          <p:cNvSpPr txBox="1"/>
          <p:nvPr/>
        </p:nvSpPr>
        <p:spPr>
          <a:xfrm>
            <a:off x="904875" y="455949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Sincronizare GPS și rute de vizitare.</a:t>
            </a:r>
            <a:endParaRPr sz="1800"/>
          </a:p>
        </p:txBody>
      </p:sp>
      <p:sp>
        <p:nvSpPr>
          <p:cNvPr id="463" name="Google Shape;463;p35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Accesibilitate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: Mobile CRM</a:t>
            </a:r>
            <a:endParaRPr sz="3200" dirty="0"/>
          </a:p>
        </p:txBody>
      </p:sp>
      <p:sp>
        <p:nvSpPr>
          <p:cNvPr id="464" name="Google Shape;464;p3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937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8231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090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949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6"/>
          <p:cNvSpPr txBox="1"/>
          <p:nvPr/>
        </p:nvSpPr>
        <p:spPr>
          <a:xfrm>
            <a:off x="6334125" y="1932539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Aspecte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legale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etice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(GDPR):</a:t>
            </a:r>
            <a:endParaRPr sz="2000" dirty="0"/>
          </a:p>
        </p:txBody>
      </p:sp>
      <p:sp>
        <p:nvSpPr>
          <p:cNvPr id="477" name="Google Shape;477;p36"/>
          <p:cNvSpPr txBox="1"/>
          <p:nvPr/>
        </p:nvSpPr>
        <p:spPr>
          <a:xfrm>
            <a:off x="6667499" y="3223787"/>
            <a:ext cx="54959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Obținerea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consimțământului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stocarea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78" name="Google Shape;478;p36"/>
          <p:cNvSpPr txBox="1"/>
          <p:nvPr/>
        </p:nvSpPr>
        <p:spPr>
          <a:xfrm>
            <a:off x="6667499" y="3782317"/>
            <a:ext cx="56986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Securitatea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serverelor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împotriva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atacurilor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cibernetice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79" name="Google Shape;479;p36"/>
          <p:cNvSpPr txBox="1"/>
          <p:nvPr/>
        </p:nvSpPr>
        <p:spPr>
          <a:xfrm>
            <a:off x="6667500" y="434252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Dreptul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clientului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a fi "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uitat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(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ștergere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date).</a:t>
            </a:r>
            <a:endParaRPr sz="2000" dirty="0"/>
          </a:p>
        </p:txBody>
      </p:sp>
      <p:sp>
        <p:nvSpPr>
          <p:cNvPr id="480" name="Google Shape;480;p36"/>
          <p:cNvSpPr txBox="1"/>
          <p:nvPr/>
        </p:nvSpPr>
        <p:spPr>
          <a:xfrm>
            <a:off x="6667500" y="4902735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Transparența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algoritmilor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481" name="Google Shape;481;p3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Protecția Datelor</a:t>
            </a:r>
            <a:endParaRPr/>
          </a:p>
        </p:txBody>
      </p:sp>
      <p:sp>
        <p:nvSpPr>
          <p:cNvPr id="482" name="Google Shape;482;p3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937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1342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04114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52638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Data Security for Small and Medium-Sized Businesses - icomppayroll">
            <a:extLst>
              <a:ext uri="{FF2B5EF4-FFF2-40B4-BE49-F238E27FC236}">
                <a16:creationId xmlns:a16="http://schemas.microsoft.com/office/drawing/2014/main" id="{67A23B50-5FD6-D38D-EBD0-B7337936D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7" y="2523493"/>
            <a:ext cx="4495800" cy="251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0871"/>
            <a:ext cx="3524250" cy="216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930872"/>
            <a:ext cx="3524250" cy="2167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930871"/>
            <a:ext cx="3524250" cy="2167793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7"/>
          <p:cNvSpPr txBox="1"/>
          <p:nvPr/>
        </p:nvSpPr>
        <p:spPr>
          <a:xfrm>
            <a:off x="914400" y="3273772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Lipsa Adoptării</a:t>
            </a:r>
            <a:endParaRPr sz="1800"/>
          </a:p>
        </p:txBody>
      </p:sp>
      <p:sp>
        <p:nvSpPr>
          <p:cNvPr id="496" name="Google Shape;496;p37"/>
          <p:cNvSpPr txBox="1"/>
          <p:nvPr/>
        </p:nvSpPr>
        <p:spPr>
          <a:xfrm>
            <a:off x="914400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Angajații consideră sistemul prea complicat și nu introduc datele.</a:t>
            </a:r>
            <a:endParaRPr sz="1800"/>
          </a:p>
        </p:txBody>
      </p:sp>
      <p:sp>
        <p:nvSpPr>
          <p:cNvPr id="497" name="Google Shape;497;p37"/>
          <p:cNvSpPr txBox="1"/>
          <p:nvPr/>
        </p:nvSpPr>
        <p:spPr>
          <a:xfrm>
            <a:off x="4676775" y="3273772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Date eronate</a:t>
            </a:r>
            <a:endParaRPr sz="1800"/>
          </a:p>
        </p:txBody>
      </p:sp>
      <p:sp>
        <p:nvSpPr>
          <p:cNvPr id="498" name="Google Shape;498;p37"/>
          <p:cNvSpPr txBox="1"/>
          <p:nvPr/>
        </p:nvSpPr>
        <p:spPr>
          <a:xfrm>
            <a:off x="4676775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"Garbage in, garbage out" - date incomplete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duplicat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499" name="Google Shape;499;p37"/>
          <p:cNvSpPr txBox="1"/>
          <p:nvPr/>
        </p:nvSpPr>
        <p:spPr>
          <a:xfrm>
            <a:off x="8439150" y="3273772"/>
            <a:ext cx="2980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Fără Strategie</a:t>
            </a:r>
            <a:endParaRPr sz="1800"/>
          </a:p>
        </p:txBody>
      </p:sp>
      <p:sp>
        <p:nvSpPr>
          <p:cNvPr id="500" name="Google Shape;500;p37"/>
          <p:cNvSpPr txBox="1"/>
          <p:nvPr/>
        </p:nvSpPr>
        <p:spPr>
          <a:xfrm>
            <a:off x="8439150" y="3769072"/>
            <a:ext cx="28384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Cumpărarea software-ului fără a schimba procesele de business.</a:t>
            </a:r>
            <a:endParaRPr sz="1800"/>
          </a:p>
        </p:txBody>
      </p:sp>
      <p:sp>
        <p:nvSpPr>
          <p:cNvPr id="501" name="Google Shape;501;p37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Capcanele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Implementării</a:t>
            </a:r>
            <a:endParaRPr sz="3200" dirty="0"/>
          </a:p>
        </p:txBody>
      </p:sp>
      <p:sp>
        <p:nvSpPr>
          <p:cNvPr id="502" name="Google Shape;502;p3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8"/>
          <p:cNvSpPr txBox="1"/>
          <p:nvPr/>
        </p:nvSpPr>
        <p:spPr>
          <a:xfrm>
            <a:off x="571500" y="2795587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Extinderea CRM către rețelele sociale (LinkedIn, Twitter, Facebook):</a:t>
            </a:r>
            <a:endParaRPr sz="1800"/>
          </a:p>
        </p:txBody>
      </p:sp>
      <p:sp>
        <p:nvSpPr>
          <p:cNvPr id="509" name="Google Shape;509;p38"/>
          <p:cNvSpPr txBox="1"/>
          <p:nvPr/>
        </p:nvSpPr>
        <p:spPr>
          <a:xfrm>
            <a:off x="904875" y="3431827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Ascultarea socială (Social listening) pentru a afla ce spun clienții despre software.</a:t>
            </a:r>
            <a:endParaRPr sz="1800"/>
          </a:p>
        </p:txBody>
      </p:sp>
      <p:sp>
        <p:nvSpPr>
          <p:cNvPr id="510" name="Google Shape;510;p38"/>
          <p:cNvSpPr txBox="1"/>
          <p:nvPr/>
        </p:nvSpPr>
        <p:spPr>
          <a:xfrm>
            <a:off x="904875" y="3820417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Răspunsuri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rapide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plângerile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publice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904875" y="4209008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Identificarea influencerilor din domeniu.</a:t>
            </a:r>
            <a:endParaRPr sz="1800"/>
          </a:p>
        </p:txBody>
      </p:sp>
      <p:sp>
        <p:nvSpPr>
          <p:cNvPr id="512" name="Google Shape;512;p38"/>
          <p:cNvSpPr txBox="1"/>
          <p:nvPr/>
        </p:nvSpPr>
        <p:spPr>
          <a:xfrm>
            <a:off x="904875" y="4597598"/>
            <a:ext cx="107156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Construirea de comunități online de utilizatori.</a:t>
            </a:r>
            <a:endParaRPr sz="1800"/>
          </a:p>
        </p:txBody>
      </p:sp>
      <p:sp>
        <p:nvSpPr>
          <p:cNvPr id="513" name="Google Shape;513;p38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Interacțiunea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Socială</a:t>
            </a:r>
            <a:endParaRPr sz="3200" dirty="0"/>
          </a:p>
        </p:txBody>
      </p:sp>
      <p:sp>
        <p:nvSpPr>
          <p:cNvPr id="514" name="Google Shape;514;p3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3182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041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0900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97598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6986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914400" y="1990725"/>
            <a:ext cx="103632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Conectarea sistemului de relații cu clienții (CRM) cu cel de resurse interne (ERP).</a:t>
            </a:r>
            <a:endParaRPr sz="1800"/>
          </a:p>
        </p:txBody>
      </p:sp>
      <p:sp>
        <p:nvSpPr>
          <p:cNvPr id="527" name="Google Shape;527;p39"/>
          <p:cNvSpPr txBox="1"/>
          <p:nvPr/>
        </p:nvSpPr>
        <p:spPr>
          <a:xfrm>
            <a:off x="904875" y="401448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Vânzările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apar automat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sistemul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contabil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28" name="Google Shape;528;p39"/>
          <p:cNvSpPr txBox="1"/>
          <p:nvPr/>
        </p:nvSpPr>
        <p:spPr>
          <a:xfrm>
            <a:off x="904875" y="4457682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Stocurile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licențe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sunt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actualizate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sz="1800" dirty="0"/>
          </a:p>
        </p:txBody>
      </p:sp>
      <p:sp>
        <p:nvSpPr>
          <p:cNvPr id="529" name="Google Shape;529;p39"/>
          <p:cNvSpPr txBox="1"/>
          <p:nvPr/>
        </p:nvSpPr>
        <p:spPr>
          <a:xfrm>
            <a:off x="904875" y="4839003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Facturarea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 face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fără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intervenție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30" name="Google Shape;530;p39"/>
          <p:cNvSpPr txBox="1"/>
          <p:nvPr/>
        </p:nvSpPr>
        <p:spPr>
          <a:xfrm>
            <a:off x="904875" y="5220324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Istoric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financiar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complet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 client.</a:t>
            </a:r>
            <a:endParaRPr sz="1800" dirty="0"/>
          </a:p>
        </p:txBody>
      </p:sp>
      <p:pic>
        <p:nvPicPr>
          <p:cNvPr id="531" name="Google Shape;531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979390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9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Ecosistemul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Integrat</a:t>
            </a:r>
            <a:endParaRPr sz="3200" dirty="0"/>
          </a:p>
        </p:txBody>
      </p:sp>
      <p:sp>
        <p:nvSpPr>
          <p:cNvPr id="533" name="Google Shape;533;p3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9293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8152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7011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58705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811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0"/>
          <p:cNvSpPr txBox="1"/>
          <p:nvPr/>
        </p:nvSpPr>
        <p:spPr>
          <a:xfrm>
            <a:off x="571500" y="1855304"/>
            <a:ext cx="52863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Spre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îndreaptă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managementul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relațiilor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1800" dirty="0"/>
          </a:p>
        </p:txBody>
      </p:sp>
      <p:pic>
        <p:nvPicPr>
          <p:cNvPr id="545" name="Google Shape;545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907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 txBox="1"/>
          <p:nvPr/>
        </p:nvSpPr>
        <p:spPr>
          <a:xfrm>
            <a:off x="904875" y="2590121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Hyper-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personalizarea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experienței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în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timp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real.</a:t>
            </a:r>
            <a:endParaRPr sz="1800" dirty="0"/>
          </a:p>
        </p:txBody>
      </p:sp>
      <p:sp>
        <p:nvSpPr>
          <p:cNvPr id="547" name="Google Shape;547;p40"/>
          <p:cNvSpPr txBox="1"/>
          <p:nvPr/>
        </p:nvSpPr>
        <p:spPr>
          <a:xfrm>
            <a:off x="904875" y="3158915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Utilizarea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IoT (Internet of Things)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pentru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suport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proactiv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48" name="Google Shape;548;p40"/>
          <p:cNvSpPr txBox="1"/>
          <p:nvPr/>
        </p:nvSpPr>
        <p:spPr>
          <a:xfrm>
            <a:off x="904875" y="4170908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CRM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activat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vocal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comenzi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limbaj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natural.</a:t>
            </a:r>
            <a:endParaRPr sz="1800" dirty="0"/>
          </a:p>
        </p:txBody>
      </p:sp>
      <p:sp>
        <p:nvSpPr>
          <p:cNvPr id="549" name="Google Shape;549;p40"/>
          <p:cNvSpPr txBox="1"/>
          <p:nvPr/>
        </p:nvSpPr>
        <p:spPr>
          <a:xfrm>
            <a:off x="904875" y="4738086"/>
            <a:ext cx="4953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Ecosisteme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deschise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și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conectivitate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totală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 dirty="0"/>
          </a:p>
        </p:txBody>
      </p:sp>
      <p:sp>
        <p:nvSpPr>
          <p:cNvPr id="550" name="Google Shape;550;p40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Viitorul</a:t>
            </a:r>
            <a:r>
              <a:rPr lang="en-US" sz="3200" b="1" i="0" u="none" strike="noStrike" cap="none" dirty="0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b="1" i="0" u="none" strike="noStrike" cap="none" dirty="0" err="1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Relațiilor</a:t>
            </a:r>
            <a:endParaRPr sz="3200" dirty="0"/>
          </a:p>
        </p:txBody>
      </p:sp>
      <p:sp>
        <p:nvSpPr>
          <p:cNvPr id="551" name="Google Shape;551;p4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6894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1238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2575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69197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2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DM Sans"/>
                <a:ea typeface="DM Sans"/>
                <a:cs typeface="DM Sans"/>
                <a:sym typeface="DM Sans"/>
              </a:rPr>
              <a:t>Întrebări?</a:t>
            </a:r>
            <a:endParaRPr/>
          </a:p>
        </p:txBody>
      </p:sp>
      <p:sp>
        <p:nvSpPr>
          <p:cNvPr id="579" name="Google Shape;579;p42"/>
          <p:cNvSpPr txBox="1"/>
          <p:nvPr/>
        </p:nvSpPr>
        <p:spPr>
          <a:xfrm>
            <a:off x="571500" y="163830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Vă mulțumesc pentru atenție și participare!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9F489-506D-5D30-AB5B-8304909D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75" y="2381250"/>
            <a:ext cx="4743450" cy="390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1141</Words>
  <Application>Microsoft Office PowerPoint</Application>
  <PresentationFormat>Widescreen</PresentationFormat>
  <Paragraphs>172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Urbanist</vt:lpstr>
      <vt:lpstr>DM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61</cp:revision>
  <dcterms:modified xsi:type="dcterms:W3CDTF">2026-01-29T11:43:24Z</dcterms:modified>
</cp:coreProperties>
</file>