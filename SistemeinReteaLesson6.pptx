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embeddedFontLst>
    <p:embeddedFont>
      <p:font typeface="Poppins" panose="00000500000000000000" pitchFamily="2" charset="0"/>
      <p:regular r:id="rId33"/>
      <p:bold r:id="rId34"/>
      <p:italic r:id="rId35"/>
      <p:boldItalic r:id="rId36"/>
    </p:embeddedFont>
    <p:embeddedFont>
      <p:font typeface="Poppins Light" panose="00000400000000000000" pitchFamily="2" charset="0"/>
      <p:regular r:id="rId37"/>
      <p:bold r:id="rId38"/>
      <p:italic r:id="rId39"/>
      <p:boldItalic r:id="rId40"/>
    </p:embeddedFont>
    <p:embeddedFont>
      <p:font typeface="Urbanist" panose="020B060402020202020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4D51ED1-72DA-4E5E-B611-740898238659}">
  <a:tblStyle styleId="{B4D51ED1-72DA-4E5E-B611-74089823865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457325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Cazacu-Condrat Dumitru</a:t>
            </a:r>
            <a:endParaRPr sz="1800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1933575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Managementul </a:t>
            </a:r>
            <a:r>
              <a:rPr lang="en-US" sz="60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Utilizatorilor</a:t>
            </a:r>
            <a:r>
              <a:rPr lang="en-US" sz="60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și Performanța Sistemului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3895725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44817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Configurare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Securitate,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Drivere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Monitorizare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30635"/>
            <a:ext cx="3555950" cy="287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230635"/>
            <a:ext cx="3555950" cy="287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230635"/>
            <a:ext cx="3556099" cy="287527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381000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Obiectivele </a:t>
            </a:r>
            <a:r>
              <a:rPr lang="en-US" sz="405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Sesiunii</a:t>
            </a:r>
            <a:endParaRPr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55448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57250" y="3268860"/>
            <a:ext cx="31336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Utilizatori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857249" y="3859410"/>
            <a:ext cx="335552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Ierarhia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conturilor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permisiunile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acces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Windows.</a:t>
            </a:r>
            <a:endParaRPr sz="1800" dirty="0"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03700" y="255448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03700" y="3268860"/>
            <a:ext cx="31336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Drivere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603700" y="3859410"/>
            <a:ext cx="298445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Instalarea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gestionarea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software-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comunicare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hardware.</a:t>
            </a:r>
            <a:endParaRPr sz="1800" dirty="0"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0150" y="255448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350150" y="3268860"/>
            <a:ext cx="313382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Monitorizare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350150" y="3859410"/>
            <a:ext cx="298459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Instrumente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analiză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performanței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timp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real.</a:t>
            </a:r>
            <a:endParaRPr sz="1800" dirty="0"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00125" y="272593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75150" y="272593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21600" y="2725935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/>
          <p:nvPr/>
        </p:nvSpPr>
        <p:spPr>
          <a:xfrm>
            <a:off x="5619750" y="2476500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295275" y="280035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Partea I: </a:t>
            </a:r>
            <a:r>
              <a:rPr lang="en-US" sz="45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Managementul</a:t>
            </a:r>
            <a:r>
              <a:rPr lang="en-US" sz="45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Utilizatorilor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3619500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Securitatea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începe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controlul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identității</a:t>
            </a:r>
            <a:endParaRPr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499" y="1654629"/>
            <a:ext cx="5426529" cy="371381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381000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Ce </a:t>
            </a:r>
            <a:r>
              <a:rPr lang="en-US" sz="4000" b="1" i="0" u="none" strike="noStrike" cap="none" dirty="0" err="1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este</a:t>
            </a:r>
            <a:r>
              <a:rPr lang="en-US" sz="4000" b="1" i="0" u="none" strike="noStrike" cap="none" dirty="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un </a:t>
            </a:r>
            <a:r>
              <a:rPr lang="en-US" sz="4000" b="1" i="0" u="none" strike="noStrike" cap="none" dirty="0" err="1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Cont</a:t>
            </a:r>
            <a:r>
              <a:rPr lang="en-US" sz="4000" b="1" i="0" u="none" strike="noStrike" cap="none" dirty="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000" b="1" i="0" u="none" strike="noStrike" cap="none" dirty="0" err="1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Utilizator</a:t>
            </a:r>
            <a:r>
              <a:rPr lang="en-US" sz="4000" b="1" i="0" u="none" strike="noStrike" cap="none" dirty="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dirty="0"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1397958"/>
            <a:ext cx="53340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utilizator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reprezintă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colecție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informații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definește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fișierele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folderele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la care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aveți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acces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modificările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 care le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puteți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face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preferințele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personale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127" name="Google Shape;127;p16"/>
          <p:cNvSpPr txBox="1"/>
          <p:nvPr/>
        </p:nvSpPr>
        <p:spPr>
          <a:xfrm>
            <a:off x="914400" y="3372144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 dirty="0"/>
          </a:p>
        </p:txBody>
      </p:sp>
      <p:sp>
        <p:nvSpPr>
          <p:cNvPr id="128" name="Google Shape;128;p16"/>
          <p:cNvSpPr txBox="1"/>
          <p:nvPr/>
        </p:nvSpPr>
        <p:spPr>
          <a:xfrm>
            <a:off x="952500" y="3282412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Identifică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unic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persoana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la calculator.</a:t>
            </a:r>
            <a:endParaRPr sz="1800" dirty="0"/>
          </a:p>
        </p:txBody>
      </p:sp>
      <p:sp>
        <p:nvSpPr>
          <p:cNvPr id="129" name="Google Shape;129;p16"/>
          <p:cNvSpPr txBox="1"/>
          <p:nvPr/>
        </p:nvSpPr>
        <p:spPr>
          <a:xfrm>
            <a:off x="914400" y="3871603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 dirty="0"/>
          </a:p>
        </p:txBody>
      </p:sp>
      <p:sp>
        <p:nvSpPr>
          <p:cNvPr id="130" name="Google Shape;130;p16"/>
          <p:cNvSpPr txBox="1"/>
          <p:nvPr/>
        </p:nvSpPr>
        <p:spPr>
          <a:xfrm>
            <a:off x="952500" y="3784662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Izolează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datele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personale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ceilalți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utilizatori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914400" y="4345715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952500" y="4254698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Aplică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politici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securitate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specifice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pic>
        <p:nvPicPr>
          <p:cNvPr id="1028" name="Picture 4" descr="User Account Definition - What is a user account?">
            <a:extLst>
              <a:ext uri="{FF2B5EF4-FFF2-40B4-BE49-F238E27FC236}">
                <a16:creationId xmlns:a16="http://schemas.microsoft.com/office/drawing/2014/main" id="{EF150DCB-AAA5-FF73-5A84-49AADD598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325" y="1539308"/>
            <a:ext cx="5596850" cy="3942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7364" y="1619675"/>
            <a:ext cx="5206935" cy="395559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71500" y="381000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Contul</a:t>
            </a:r>
            <a:r>
              <a:rPr lang="en-US" sz="4000" b="1" i="0" u="none" strike="noStrike" cap="none" dirty="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de tip </a:t>
            </a:r>
            <a:r>
              <a:rPr lang="en-US" sz="4000" b="1" i="0" u="none" strike="noStrike" cap="none" dirty="0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Administrator</a:t>
            </a:r>
            <a:endParaRPr dirty="0"/>
          </a:p>
        </p:txBody>
      </p:sp>
      <p:sp>
        <p:nvSpPr>
          <p:cNvPr id="140" name="Google Shape;140;p17"/>
          <p:cNvSpPr txBox="1"/>
          <p:nvPr/>
        </p:nvSpPr>
        <p:spPr>
          <a:xfrm>
            <a:off x="571500" y="1604664"/>
            <a:ext cx="5600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Putere</a:t>
            </a:r>
            <a:r>
              <a:rPr lang="en-US" sz="2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8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deplină</a:t>
            </a:r>
            <a:r>
              <a:rPr lang="en-US" sz="2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8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asupra</a:t>
            </a:r>
            <a:r>
              <a:rPr lang="en-US" sz="2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8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sistemului</a:t>
            </a:r>
            <a:endParaRPr sz="1800"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2191553"/>
            <a:ext cx="53340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Administratorii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au control total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pot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efectua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orice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modificare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afectează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toți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utilizatorii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calculatorului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143" name="Google Shape;143;p17"/>
          <p:cNvSpPr txBox="1"/>
          <p:nvPr/>
        </p:nvSpPr>
        <p:spPr>
          <a:xfrm>
            <a:off x="914400" y="3681054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952500" y="3597473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Instalarea de software și hardware.</a:t>
            </a:r>
            <a:endParaRPr sz="1800"/>
          </a:p>
        </p:txBody>
      </p:sp>
      <p:sp>
        <p:nvSpPr>
          <p:cNvPr id="145" name="Google Shape;145;p17"/>
          <p:cNvSpPr txBox="1"/>
          <p:nvPr/>
        </p:nvSpPr>
        <p:spPr>
          <a:xfrm>
            <a:off x="914400" y="3956848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952500" y="3883223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Acces la toate fișierele de sistem.</a:t>
            </a:r>
            <a:endParaRPr sz="1800"/>
          </a:p>
        </p:txBody>
      </p:sp>
      <p:sp>
        <p:nvSpPr>
          <p:cNvPr id="147" name="Google Shape;147;p17"/>
          <p:cNvSpPr txBox="1"/>
          <p:nvPr/>
        </p:nvSpPr>
        <p:spPr>
          <a:xfrm>
            <a:off x="914400" y="4242598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 dirty="0"/>
          </a:p>
        </p:txBody>
      </p:sp>
      <p:sp>
        <p:nvSpPr>
          <p:cNvPr id="148" name="Google Shape;148;p17"/>
          <p:cNvSpPr txBox="1"/>
          <p:nvPr/>
        </p:nvSpPr>
        <p:spPr>
          <a:xfrm>
            <a:off x="952500" y="4168973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Crearea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ștergerea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altor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conturi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149" name="Google Shape;149;p17"/>
          <p:cNvSpPr txBox="1"/>
          <p:nvPr/>
        </p:nvSpPr>
        <p:spPr>
          <a:xfrm>
            <a:off x="914400" y="4539074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 dirty="0"/>
          </a:p>
        </p:txBody>
      </p:sp>
      <p:sp>
        <p:nvSpPr>
          <p:cNvPr id="150" name="Google Shape;150;p17"/>
          <p:cNvSpPr txBox="1"/>
          <p:nvPr/>
        </p:nvSpPr>
        <p:spPr>
          <a:xfrm>
            <a:off x="952500" y="4454723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Modificarea setărilor de securitate globale.</a:t>
            </a:r>
            <a:endParaRPr sz="1800"/>
          </a:p>
        </p:txBody>
      </p:sp>
      <p:pic>
        <p:nvPicPr>
          <p:cNvPr id="2050" name="Picture 2" descr="5 Ways to Change Standard User to Administrator in Windows 10/8/7">
            <a:extLst>
              <a:ext uri="{FF2B5EF4-FFF2-40B4-BE49-F238E27FC236}">
                <a16:creationId xmlns:a16="http://schemas.microsoft.com/office/drawing/2014/main" id="{30F9E47F-34EE-3653-86F4-338070FC4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365" y="1619675"/>
            <a:ext cx="5232270" cy="3955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021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448" y="1534886"/>
            <a:ext cx="4870451" cy="407717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71500" y="381000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Contul</a:t>
            </a:r>
            <a:r>
              <a:rPr lang="en-US" sz="4000" b="1" i="0" u="none" strike="noStrike" cap="none" dirty="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de tip </a:t>
            </a:r>
            <a:r>
              <a:rPr lang="en-US" sz="4000" b="1" i="0" u="none" strike="noStrike" cap="none" dirty="0" err="1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Utilizator</a:t>
            </a:r>
            <a:r>
              <a:rPr lang="en-US" sz="4000" b="1" i="0" u="none" strike="noStrike" cap="none" dirty="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(Standard)</a:t>
            </a:r>
            <a:endParaRPr dirty="0"/>
          </a:p>
        </p:txBody>
      </p:sp>
      <p:sp>
        <p:nvSpPr>
          <p:cNvPr id="159" name="Google Shape;159;p18"/>
          <p:cNvSpPr txBox="1"/>
          <p:nvPr/>
        </p:nvSpPr>
        <p:spPr>
          <a:xfrm>
            <a:off x="6286500" y="1522393"/>
            <a:ext cx="5600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Siguranță</a:t>
            </a:r>
            <a:r>
              <a:rPr lang="en-US" sz="2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8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prin</a:t>
            </a:r>
            <a:r>
              <a:rPr lang="en-US" sz="2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8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limitare</a:t>
            </a:r>
            <a:endParaRPr sz="1800" dirty="0"/>
          </a:p>
        </p:txBody>
      </p:sp>
      <p:sp>
        <p:nvSpPr>
          <p:cNvPr id="160" name="Google Shape;160;p18"/>
          <p:cNvSpPr txBox="1"/>
          <p:nvPr/>
        </p:nvSpPr>
        <p:spPr>
          <a:xfrm>
            <a:off x="6286500" y="2239030"/>
            <a:ext cx="53340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Conturile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standard sunt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recomandate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zilnică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deoarece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protejează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sistemul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modificări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accidentale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malițioase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161" name="Google Shape;161;p18"/>
          <p:cNvSpPr txBox="1"/>
          <p:nvPr/>
        </p:nvSpPr>
        <p:spPr>
          <a:xfrm>
            <a:off x="6629400" y="3740348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/>
          </a:p>
        </p:txBody>
      </p:sp>
      <p:sp>
        <p:nvSpPr>
          <p:cNvPr id="162" name="Google Shape;162;p18"/>
          <p:cNvSpPr txBox="1"/>
          <p:nvPr/>
        </p:nvSpPr>
        <p:spPr>
          <a:xfrm>
            <a:off x="6667500" y="3675474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Pot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rula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majoritatea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aplicațiilor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instalate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163" name="Google Shape;163;p18"/>
          <p:cNvSpPr txBox="1"/>
          <p:nvPr/>
        </p:nvSpPr>
        <p:spPr>
          <a:xfrm>
            <a:off x="6629400" y="4186277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 dirty="0"/>
          </a:p>
        </p:txBody>
      </p:sp>
      <p:sp>
        <p:nvSpPr>
          <p:cNvPr id="164" name="Google Shape;164;p18"/>
          <p:cNvSpPr txBox="1"/>
          <p:nvPr/>
        </p:nvSpPr>
        <p:spPr>
          <a:xfrm>
            <a:off x="6667500" y="4098325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Pot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schimba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setările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proprii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(fundal,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temă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sz="1800" dirty="0"/>
          </a:p>
        </p:txBody>
      </p:sp>
      <p:sp>
        <p:nvSpPr>
          <p:cNvPr id="165" name="Google Shape;165;p18"/>
          <p:cNvSpPr txBox="1"/>
          <p:nvPr/>
        </p:nvSpPr>
        <p:spPr>
          <a:xfrm>
            <a:off x="6629400" y="4955575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 dirty="0"/>
          </a:p>
        </p:txBody>
      </p:sp>
      <p:sp>
        <p:nvSpPr>
          <p:cNvPr id="166" name="Google Shape;166;p18"/>
          <p:cNvSpPr txBox="1"/>
          <p:nvPr/>
        </p:nvSpPr>
        <p:spPr>
          <a:xfrm>
            <a:off x="6667500" y="4445972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pot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instala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software nou.</a:t>
            </a:r>
            <a:endParaRPr sz="1800" dirty="0"/>
          </a:p>
        </p:txBody>
      </p:sp>
      <p:sp>
        <p:nvSpPr>
          <p:cNvPr id="167" name="Google Shape;167;p18"/>
          <p:cNvSpPr txBox="1"/>
          <p:nvPr/>
        </p:nvSpPr>
        <p:spPr>
          <a:xfrm>
            <a:off x="6629400" y="4553060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 dirty="0"/>
          </a:p>
        </p:txBody>
      </p:sp>
      <p:sp>
        <p:nvSpPr>
          <p:cNvPr id="168" name="Google Shape;168;p18"/>
          <p:cNvSpPr txBox="1"/>
          <p:nvPr/>
        </p:nvSpPr>
        <p:spPr>
          <a:xfrm>
            <a:off x="6667500" y="4867244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pot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vedea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fișierele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altor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utilizatori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pic>
        <p:nvPicPr>
          <p:cNvPr id="3074" name="Picture 2" descr="can't login as administrator - Microsoft Q&amp;A">
            <a:extLst>
              <a:ext uri="{FF2B5EF4-FFF2-40B4-BE49-F238E27FC236}">
                <a16:creationId xmlns:a16="http://schemas.microsoft.com/office/drawing/2014/main" id="{05B116BD-F7BF-C1E1-0144-BE6BA7C96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49" y="1442835"/>
            <a:ext cx="4864101" cy="4169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21198"/>
            <a:ext cx="3555950" cy="2576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921197"/>
            <a:ext cx="3555950" cy="2576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921198"/>
            <a:ext cx="3556099" cy="257639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571500" y="381000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Conturi cu </a:t>
            </a:r>
            <a:r>
              <a:rPr lang="en-US" sz="405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Permisiuni</a:t>
            </a:r>
            <a:r>
              <a:rPr lang="en-US" sz="405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Speciale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571500" y="1823501"/>
            <a:ext cx="11049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Acestea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sunt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profiluri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configurate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sarcini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specifice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adesea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utilizate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medii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profesionale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educaționale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179" name="Google Shape;179;p19"/>
          <p:cNvSpPr txBox="1"/>
          <p:nvPr/>
        </p:nvSpPr>
        <p:spPr>
          <a:xfrm>
            <a:off x="857250" y="3245048"/>
            <a:ext cx="31336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Guest (Oaspete)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857250" y="3835598"/>
            <a:ext cx="298445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Acces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temporar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fără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parolă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fără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posibilitatea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salva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fișiere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permanent.</a:t>
            </a:r>
            <a:endParaRPr sz="1800" dirty="0"/>
          </a:p>
        </p:txBody>
      </p:sp>
      <p:sp>
        <p:nvSpPr>
          <p:cNvPr id="181" name="Google Shape;181;p19"/>
          <p:cNvSpPr txBox="1"/>
          <p:nvPr/>
        </p:nvSpPr>
        <p:spPr>
          <a:xfrm>
            <a:off x="4603700" y="3245048"/>
            <a:ext cx="31336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Power User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4603700" y="3835598"/>
            <a:ext cx="298445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profil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hibrid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moștenit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 cu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permisiuni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extinse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configurare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fără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control total de kernel.</a:t>
            </a:r>
            <a:endParaRPr sz="1800" dirty="0"/>
          </a:p>
        </p:txBody>
      </p:sp>
      <p:sp>
        <p:nvSpPr>
          <p:cNvPr id="183" name="Google Shape;183;p19"/>
          <p:cNvSpPr txBox="1"/>
          <p:nvPr/>
        </p:nvSpPr>
        <p:spPr>
          <a:xfrm>
            <a:off x="8350150" y="3245048"/>
            <a:ext cx="313382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Backup Operator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8350150" y="3835598"/>
            <a:ext cx="2984599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Permisiunea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specială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citi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/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scrie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orice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fișier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doar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scopul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salvării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rezervă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25773"/>
            <a:ext cx="5334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49817"/>
            <a:ext cx="5334000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571500" y="381000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Domenii</a:t>
            </a:r>
            <a:r>
              <a:rPr lang="en-US" sz="4000" b="1" i="0" u="none" strike="noStrike" cap="none" dirty="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de Securitate</a:t>
            </a:r>
            <a:endParaRPr dirty="0"/>
          </a:p>
        </p:txBody>
      </p:sp>
      <p:sp>
        <p:nvSpPr>
          <p:cNvPr id="193" name="Google Shape;193;p20"/>
          <p:cNvSpPr txBox="1"/>
          <p:nvPr/>
        </p:nvSpPr>
        <p:spPr>
          <a:xfrm>
            <a:off x="571500" y="1425773"/>
            <a:ext cx="5334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Într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-o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rețea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companie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utilizatorii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nu sunt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gestionați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doar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local, ci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într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-un </a:t>
            </a: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Domeniu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pic>
        <p:nvPicPr>
          <p:cNvPr id="194" name="Google Shape;19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96025" y="1435298"/>
            <a:ext cx="53149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914400" y="2468642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 dirty="0"/>
          </a:p>
        </p:txBody>
      </p:sp>
      <p:sp>
        <p:nvSpPr>
          <p:cNvPr id="196" name="Google Shape;196;p20"/>
          <p:cNvSpPr txBox="1"/>
          <p:nvPr/>
        </p:nvSpPr>
        <p:spPr>
          <a:xfrm>
            <a:off x="952500" y="2375951"/>
            <a:ext cx="4953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Workgroup: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Gestiune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locală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(pe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fiecare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PC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parte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sz="1800" dirty="0"/>
          </a:p>
        </p:txBody>
      </p:sp>
      <p:sp>
        <p:nvSpPr>
          <p:cNvPr id="197" name="Google Shape;197;p20"/>
          <p:cNvSpPr txBox="1"/>
          <p:nvPr/>
        </p:nvSpPr>
        <p:spPr>
          <a:xfrm>
            <a:off x="914400" y="3280320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 dirty="0"/>
          </a:p>
        </p:txBody>
      </p:sp>
      <p:sp>
        <p:nvSpPr>
          <p:cNvPr id="198" name="Google Shape;198;p20"/>
          <p:cNvSpPr txBox="1"/>
          <p:nvPr/>
        </p:nvSpPr>
        <p:spPr>
          <a:xfrm>
            <a:off x="952500" y="3206948"/>
            <a:ext cx="4953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Domain: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Gestiune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centralizată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printr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-un server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numit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Domain Controller).</a:t>
            </a:r>
            <a:endParaRPr sz="1800" dirty="0"/>
          </a:p>
        </p:txBody>
      </p:sp>
      <p:sp>
        <p:nvSpPr>
          <p:cNvPr id="199" name="Google Shape;199;p20"/>
          <p:cNvSpPr txBox="1"/>
          <p:nvPr/>
        </p:nvSpPr>
        <p:spPr>
          <a:xfrm>
            <a:off x="714375" y="4453443"/>
            <a:ext cx="50482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Permite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"Single Sign-On":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loghezi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același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orice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PC din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rețea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571500" y="1268610"/>
            <a:ext cx="5200650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Mecanismul</a:t>
            </a:r>
            <a:r>
              <a:rPr lang="en-US" sz="1800" b="1" i="0" u="none" strike="noStrike" cap="none" dirty="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1" i="0" u="none" strike="noStrike" cap="none" dirty="0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UAC</a:t>
            </a:r>
            <a:endParaRPr dirty="0"/>
          </a:p>
        </p:txBody>
      </p:sp>
      <p:sp>
        <p:nvSpPr>
          <p:cNvPr id="207" name="Google Shape;207;p21"/>
          <p:cNvSpPr txBox="1"/>
          <p:nvPr/>
        </p:nvSpPr>
        <p:spPr>
          <a:xfrm>
            <a:off x="571500" y="2035962"/>
            <a:ext cx="49530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User Account Control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bariera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împiedică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aplicațiile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să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obțină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drepturi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administrator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fără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acordul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tău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3745110"/>
            <a:ext cx="49530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Chiar și administratorii rulează procesele cu drepturi reduse până când apare fereastra de confirmare (dimmed screen).</a:t>
            </a:r>
            <a:endParaRPr sz="1800"/>
          </a:p>
        </p:txBody>
      </p:sp>
      <p:pic>
        <p:nvPicPr>
          <p:cNvPr id="4098" name="Picture 2" descr="User Account Control architecture | Microsoft Learn">
            <a:extLst>
              <a:ext uri="{FF2B5EF4-FFF2-40B4-BE49-F238E27FC236}">
                <a16:creationId xmlns:a16="http://schemas.microsoft.com/office/drawing/2014/main" id="{DADF94B4-B043-3AFC-6097-3AB96EE55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9625" y="0"/>
            <a:ext cx="50323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571500" y="381000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Comparație </a:t>
            </a:r>
            <a:r>
              <a:rPr lang="en-US" sz="405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Permisiuni</a:t>
            </a:r>
            <a:endParaRPr/>
          </a:p>
        </p:txBody>
      </p:sp>
      <p:graphicFrame>
        <p:nvGraphicFramePr>
          <p:cNvPr id="215" name="Google Shape;215;p22"/>
          <p:cNvGraphicFramePr/>
          <p:nvPr>
            <p:extLst>
              <p:ext uri="{D42A27DB-BD31-4B8C-83A1-F6EECF244321}">
                <p14:modId xmlns:p14="http://schemas.microsoft.com/office/powerpoint/2010/main" val="164728621"/>
              </p:ext>
            </p:extLst>
          </p:nvPr>
        </p:nvGraphicFramePr>
        <p:xfrm>
          <a:off x="571500" y="2468760"/>
          <a:ext cx="11049000" cy="2390750"/>
        </p:xfrm>
        <a:graphic>
          <a:graphicData uri="http://schemas.openxmlformats.org/drawingml/2006/table">
            <a:tbl>
              <a:tblPr firstRow="1" bandRow="1">
                <a:noFill/>
                <a:tableStyleId>{B4D51ED1-72DA-4E5E-B611-740898238659}</a:tableStyleId>
              </a:tblPr>
              <a:tblGrid>
                <a:gridCol w="388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Capabilitate</a:t>
                      </a:r>
                      <a:endParaRPr sz="1800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Standard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Administrator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Guest</a:t>
                      </a:r>
                      <a:endParaRPr sz="1800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Instalare</a:t>
                      </a: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8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Drivere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Rulare</a:t>
                      </a: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Browser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Modificare Registry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Salvare</a:t>
                      </a: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8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Fișiere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6" name="Google Shape;216;p22"/>
          <p:cNvSpPr/>
          <p:nvPr/>
        </p:nvSpPr>
        <p:spPr>
          <a:xfrm>
            <a:off x="571500" y="2925960"/>
            <a:ext cx="3887092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4458592" y="2925960"/>
            <a:ext cx="235580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6814393" y="2925960"/>
            <a:ext cx="308610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9900493" y="2925960"/>
            <a:ext cx="1720006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571500" y="3416498"/>
            <a:ext cx="3887092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4458592" y="3416498"/>
            <a:ext cx="2355800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6814393" y="3416498"/>
            <a:ext cx="3086100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9900493" y="3416498"/>
            <a:ext cx="1720006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571500" y="3892748"/>
            <a:ext cx="3887092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4458592" y="3892748"/>
            <a:ext cx="2355800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6814393" y="3892748"/>
            <a:ext cx="3086100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9900493" y="3892748"/>
            <a:ext cx="1720006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571500" y="4368998"/>
            <a:ext cx="3887092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4458592" y="4368998"/>
            <a:ext cx="2355800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6814393" y="4368998"/>
            <a:ext cx="3086100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9900493" y="4368998"/>
            <a:ext cx="1720006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71500" y="4845248"/>
            <a:ext cx="3887092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4458592" y="4845248"/>
            <a:ext cx="2355800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6814393" y="4845248"/>
            <a:ext cx="3086100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9900493" y="4845248"/>
            <a:ext cx="1720006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43368" y="310693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1467" y="310693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1467" y="405943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01467" y="453568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57268" y="310693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43368" y="453568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57268" y="405943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01467" y="358318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57268" y="358318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43368" y="358318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57268" y="453568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43368" y="405943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1467" y="310693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 descr="image.png"/>
          <p:cNvPicPr preferRelativeResize="0"/>
          <p:nvPr/>
        </p:nvPicPr>
        <p:blipFill rotWithShape="1">
          <a:blip r:embed="rId6"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957268" y="310693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43368" y="310693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 descr="image.png"/>
          <p:cNvPicPr preferRelativeResize="0"/>
          <p:nvPr/>
        </p:nvPicPr>
        <p:blipFill rotWithShape="1">
          <a:blip r:embed="rId6"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4601467" y="358318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2" descr="image.png"/>
          <p:cNvPicPr preferRelativeResize="0"/>
          <p:nvPr/>
        </p:nvPicPr>
        <p:blipFill rotWithShape="1">
          <a:blip r:embed="rId6"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957268" y="358318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 descr="image.png"/>
          <p:cNvPicPr preferRelativeResize="0"/>
          <p:nvPr/>
        </p:nvPicPr>
        <p:blipFill rotWithShape="1">
          <a:blip r:embed="rId6"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0043368" y="358318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1467" y="405943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2" descr="image.png"/>
          <p:cNvPicPr preferRelativeResize="0"/>
          <p:nvPr/>
        </p:nvPicPr>
        <p:blipFill rotWithShape="1">
          <a:blip r:embed="rId6"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957268" y="405943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43368" y="405943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2" descr="image.png"/>
          <p:cNvPicPr preferRelativeResize="0"/>
          <p:nvPr/>
        </p:nvPicPr>
        <p:blipFill rotWithShape="1">
          <a:blip r:embed="rId6"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4601467" y="453568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2" descr="image.png"/>
          <p:cNvPicPr preferRelativeResize="0"/>
          <p:nvPr/>
        </p:nvPicPr>
        <p:blipFill rotWithShape="1">
          <a:blip r:embed="rId6"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957268" y="453568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43368" y="4535685"/>
            <a:ext cx="1143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3"/>
          <p:cNvSpPr/>
          <p:nvPr/>
        </p:nvSpPr>
        <p:spPr>
          <a:xfrm>
            <a:off x="5619750" y="2476500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 txBox="1"/>
          <p:nvPr/>
        </p:nvSpPr>
        <p:spPr>
          <a:xfrm>
            <a:off x="295275" y="280035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Partea II: </a:t>
            </a:r>
            <a:r>
              <a:rPr lang="en-US" sz="45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Drivere</a:t>
            </a:r>
            <a:r>
              <a:rPr lang="en-US" sz="45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Dispozitiv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571500" y="3619500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Traducătorii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dintre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software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hardware</a:t>
            </a:r>
            <a:endParaRPr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25773"/>
            <a:ext cx="5334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499" y="3807023"/>
            <a:ext cx="5655129" cy="1178634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4"/>
          <p:cNvSpPr txBox="1"/>
          <p:nvPr/>
        </p:nvSpPr>
        <p:spPr>
          <a:xfrm>
            <a:off x="571500" y="381000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Conceptul de </a:t>
            </a:r>
            <a:r>
              <a:rPr lang="en-US" sz="405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Driver</a:t>
            </a:r>
            <a:endParaRPr/>
          </a:p>
        </p:txBody>
      </p:sp>
      <p:pic>
        <p:nvPicPr>
          <p:cNvPr id="276" name="Google Shape;276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1435298"/>
            <a:ext cx="53149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6286500" y="1519609"/>
            <a:ext cx="53340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 driver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un mic program software care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spune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sistemului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operare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cum să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comunice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cu o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piesă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specifică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hardware (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imprimantă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placă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video, mouse).</a:t>
            </a:r>
            <a:endParaRPr sz="1800" dirty="0"/>
          </a:p>
        </p:txBody>
      </p:sp>
      <p:sp>
        <p:nvSpPr>
          <p:cNvPr id="278" name="Google Shape;278;p24"/>
          <p:cNvSpPr txBox="1"/>
          <p:nvPr/>
        </p:nvSpPr>
        <p:spPr>
          <a:xfrm>
            <a:off x="6477000" y="3931550"/>
            <a:ext cx="52959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Fără</a:t>
            </a:r>
            <a:r>
              <a:rPr lang="en-US" sz="18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driverul</a:t>
            </a:r>
            <a:r>
              <a:rPr lang="en-US" sz="18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corect</a:t>
            </a:r>
            <a:r>
              <a:rPr lang="en-US" sz="18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componenta</a:t>
            </a:r>
            <a:r>
              <a:rPr lang="en-US" sz="18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hardware </a:t>
            </a:r>
            <a:r>
              <a:rPr lang="en-US" sz="18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practic</a:t>
            </a:r>
            <a:r>
              <a:rPr lang="en-US" sz="18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"</a:t>
            </a:r>
            <a:r>
              <a:rPr lang="en-US" sz="18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invizibilă</a:t>
            </a:r>
            <a:r>
              <a:rPr lang="en-US" sz="18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 </a:t>
            </a:r>
            <a:r>
              <a:rPr lang="en-US" sz="18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sau</a:t>
            </a:r>
            <a:r>
              <a:rPr lang="en-US" sz="18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nefuncțională</a:t>
            </a:r>
            <a:r>
              <a:rPr lang="en-US" sz="18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Windows.</a:t>
            </a:r>
            <a:endParaRPr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6477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25773"/>
            <a:ext cx="5334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571500" y="381000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Device Manager</a:t>
            </a:r>
            <a:endParaRPr dirty="0"/>
          </a:p>
        </p:txBody>
      </p:sp>
      <p:sp>
        <p:nvSpPr>
          <p:cNvPr id="286" name="Google Shape;286;p25"/>
          <p:cNvSpPr txBox="1"/>
          <p:nvPr/>
        </p:nvSpPr>
        <p:spPr>
          <a:xfrm>
            <a:off x="571499" y="1425773"/>
            <a:ext cx="57054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Instrumentul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principal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gestionarea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hardware-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pic>
        <p:nvPicPr>
          <p:cNvPr id="287" name="Google Shape;28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435298"/>
            <a:ext cx="53149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 txBox="1"/>
          <p:nvPr/>
        </p:nvSpPr>
        <p:spPr>
          <a:xfrm>
            <a:off x="914400" y="2420606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 dirty="0"/>
          </a:p>
        </p:txBody>
      </p:sp>
      <p:sp>
        <p:nvSpPr>
          <p:cNvPr id="289" name="Google Shape;289;p25"/>
          <p:cNvSpPr txBox="1"/>
          <p:nvPr/>
        </p:nvSpPr>
        <p:spPr>
          <a:xfrm>
            <a:off x="952500" y="2324812"/>
            <a:ext cx="4953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Identifică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componentele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lipsă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marcate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semnul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întrebării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galben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sz="1800" dirty="0"/>
          </a:p>
        </p:txBody>
      </p:sp>
      <p:sp>
        <p:nvSpPr>
          <p:cNvPr id="290" name="Google Shape;290;p25"/>
          <p:cNvSpPr txBox="1"/>
          <p:nvPr/>
        </p:nvSpPr>
        <p:spPr>
          <a:xfrm>
            <a:off x="914400" y="3401105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 dirty="0"/>
          </a:p>
        </p:txBody>
      </p:sp>
      <p:sp>
        <p:nvSpPr>
          <p:cNvPr id="291" name="Google Shape;291;p25"/>
          <p:cNvSpPr txBox="1"/>
          <p:nvPr/>
        </p:nvSpPr>
        <p:spPr>
          <a:xfrm>
            <a:off x="952500" y="3320561"/>
            <a:ext cx="4953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Permite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actualizarea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dezactivarea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dispozitivelor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292" name="Google Shape;292;p25"/>
          <p:cNvSpPr txBox="1"/>
          <p:nvPr/>
        </p:nvSpPr>
        <p:spPr>
          <a:xfrm>
            <a:off x="914400" y="4298090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 dirty="0"/>
          </a:p>
        </p:txBody>
      </p:sp>
      <p:sp>
        <p:nvSpPr>
          <p:cNvPr id="293" name="Google Shape;293;p25"/>
          <p:cNvSpPr txBox="1"/>
          <p:nvPr/>
        </p:nvSpPr>
        <p:spPr>
          <a:xfrm>
            <a:off x="952500" y="4217546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Afișează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versiunea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curentă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driverului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73585"/>
            <a:ext cx="355595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973585"/>
            <a:ext cx="355595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973585"/>
            <a:ext cx="3556099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6"/>
          <p:cNvSpPr txBox="1"/>
          <p:nvPr/>
        </p:nvSpPr>
        <p:spPr>
          <a:xfrm>
            <a:off x="571500" y="381000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Căutarea</a:t>
            </a:r>
            <a:r>
              <a:rPr lang="en-US" sz="4000" b="1" i="0" u="none" strike="noStrike" cap="none" dirty="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000" b="1" i="0" u="none" strike="noStrike" cap="none" dirty="0" err="1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Driverelor</a:t>
            </a:r>
            <a:endParaRPr dirty="0"/>
          </a:p>
        </p:txBody>
      </p:sp>
      <p:sp>
        <p:nvSpPr>
          <p:cNvPr id="303" name="Google Shape;303;p26"/>
          <p:cNvSpPr txBox="1"/>
          <p:nvPr/>
        </p:nvSpPr>
        <p:spPr>
          <a:xfrm>
            <a:off x="571500" y="2211585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Există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trei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surse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principale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sigure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obținerea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driverelor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1800" dirty="0"/>
          </a:p>
        </p:txBody>
      </p:sp>
      <p:pic>
        <p:nvPicPr>
          <p:cNvPr id="304" name="Google Shape;304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330696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6"/>
          <p:cNvSpPr txBox="1"/>
          <p:nvPr/>
        </p:nvSpPr>
        <p:spPr>
          <a:xfrm>
            <a:off x="857250" y="3478410"/>
            <a:ext cx="313367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Site-ul </a:t>
            </a:r>
            <a:r>
              <a:rPr lang="en-US" sz="20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Producătorului</a:t>
            </a:r>
            <a:endParaRPr dirty="0"/>
          </a:p>
        </p:txBody>
      </p:sp>
      <p:sp>
        <p:nvSpPr>
          <p:cNvPr id="306" name="Google Shape;306;p26"/>
          <p:cNvSpPr txBox="1"/>
          <p:nvPr/>
        </p:nvSpPr>
        <p:spPr>
          <a:xfrm>
            <a:off x="857250" y="4068960"/>
            <a:ext cx="2984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Cea mai sigură sursă (ex: NVIDIA, Intel, HP, ASUS).</a:t>
            </a:r>
            <a:endParaRPr sz="1800"/>
          </a:p>
        </p:txBody>
      </p:sp>
      <p:pic>
        <p:nvPicPr>
          <p:cNvPr id="307" name="Google Shape;307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03700" y="3306960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6"/>
          <p:cNvSpPr txBox="1"/>
          <p:nvPr/>
        </p:nvSpPr>
        <p:spPr>
          <a:xfrm>
            <a:off x="4603700" y="3478410"/>
            <a:ext cx="313367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Windows Update</a:t>
            </a:r>
            <a:endParaRPr dirty="0"/>
          </a:p>
        </p:txBody>
      </p:sp>
      <p:sp>
        <p:nvSpPr>
          <p:cNvPr id="309" name="Google Shape;309;p26"/>
          <p:cNvSpPr txBox="1"/>
          <p:nvPr/>
        </p:nvSpPr>
        <p:spPr>
          <a:xfrm>
            <a:off x="4603700" y="4068960"/>
            <a:ext cx="2984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Instalează automat versiuni certificate WHQL.</a:t>
            </a:r>
            <a:endParaRPr sz="1800"/>
          </a:p>
        </p:txBody>
      </p:sp>
      <p:pic>
        <p:nvPicPr>
          <p:cNvPr id="310" name="Google Shape;310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0150" y="330696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6"/>
          <p:cNvSpPr txBox="1"/>
          <p:nvPr/>
        </p:nvSpPr>
        <p:spPr>
          <a:xfrm>
            <a:off x="8350150" y="3478410"/>
            <a:ext cx="31338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Suportul</a:t>
            </a:r>
            <a:r>
              <a:rPr lang="en-US" sz="20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Original</a:t>
            </a:r>
            <a:endParaRPr dirty="0"/>
          </a:p>
        </p:txBody>
      </p:sp>
      <p:sp>
        <p:nvSpPr>
          <p:cNvPr id="312" name="Google Shape;312;p26"/>
          <p:cNvSpPr txBox="1"/>
          <p:nvPr/>
        </p:nvSpPr>
        <p:spPr>
          <a:xfrm>
            <a:off x="8350150" y="4068960"/>
            <a:ext cx="298459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Stick-uri sau CD-uri furnizate în cutia produsului.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25773"/>
            <a:ext cx="5334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7"/>
          <p:cNvSpPr txBox="1"/>
          <p:nvPr/>
        </p:nvSpPr>
        <p:spPr>
          <a:xfrm>
            <a:off x="571500" y="381000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Instalarea</a:t>
            </a:r>
            <a:r>
              <a:rPr lang="en-US" sz="4000" b="1" i="0" u="none" strike="noStrike" cap="none" dirty="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000" b="1" i="0" u="none" strike="noStrike" cap="none" dirty="0" err="1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Manuală</a:t>
            </a:r>
            <a:endParaRPr dirty="0"/>
          </a:p>
        </p:txBody>
      </p:sp>
      <p:sp>
        <p:nvSpPr>
          <p:cNvPr id="320" name="Google Shape;320;p27"/>
          <p:cNvSpPr txBox="1"/>
          <p:nvPr/>
        </p:nvSpPr>
        <p:spPr>
          <a:xfrm>
            <a:off x="571500" y="1425773"/>
            <a:ext cx="5334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Uneori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driverele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nu vin ca un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fișier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.exe, ci ca un folder cu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fișiere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.inf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pic>
        <p:nvPicPr>
          <p:cNvPr id="321" name="Google Shape;321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435298"/>
            <a:ext cx="53149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7"/>
          <p:cNvSpPr txBox="1"/>
          <p:nvPr/>
        </p:nvSpPr>
        <p:spPr>
          <a:xfrm>
            <a:off x="866775" y="2696769"/>
            <a:ext cx="857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1</a:t>
            </a:r>
            <a:endParaRPr sz="1800" dirty="0"/>
          </a:p>
        </p:txBody>
      </p:sp>
      <p:sp>
        <p:nvSpPr>
          <p:cNvPr id="323" name="Google Shape;323;p27"/>
          <p:cNvSpPr txBox="1"/>
          <p:nvPr/>
        </p:nvSpPr>
        <p:spPr>
          <a:xfrm>
            <a:off x="952500" y="2600652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Click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dreapta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dispozitiv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Device Manager.</a:t>
            </a:r>
            <a:endParaRPr sz="1800" dirty="0"/>
          </a:p>
        </p:txBody>
      </p:sp>
      <p:sp>
        <p:nvSpPr>
          <p:cNvPr id="324" name="Google Shape;324;p27"/>
          <p:cNvSpPr txBox="1"/>
          <p:nvPr/>
        </p:nvSpPr>
        <p:spPr>
          <a:xfrm>
            <a:off x="809625" y="3250738"/>
            <a:ext cx="1428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endParaRPr sz="1800" dirty="0"/>
          </a:p>
        </p:txBody>
      </p:sp>
      <p:sp>
        <p:nvSpPr>
          <p:cNvPr id="325" name="Google Shape;325;p27"/>
          <p:cNvSpPr txBox="1"/>
          <p:nvPr/>
        </p:nvSpPr>
        <p:spPr>
          <a:xfrm>
            <a:off x="952500" y="3157547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Alege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"Update Driver".</a:t>
            </a:r>
            <a:endParaRPr sz="1800" dirty="0"/>
          </a:p>
        </p:txBody>
      </p:sp>
      <p:sp>
        <p:nvSpPr>
          <p:cNvPr id="326" name="Google Shape;326;p27"/>
          <p:cNvSpPr txBox="1"/>
          <p:nvPr/>
        </p:nvSpPr>
        <p:spPr>
          <a:xfrm>
            <a:off x="809625" y="3804707"/>
            <a:ext cx="1333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3</a:t>
            </a:r>
            <a:endParaRPr sz="1800" dirty="0"/>
          </a:p>
        </p:txBody>
      </p:sp>
      <p:sp>
        <p:nvSpPr>
          <p:cNvPr id="327" name="Google Shape;327;p27"/>
          <p:cNvSpPr txBox="1"/>
          <p:nvPr/>
        </p:nvSpPr>
        <p:spPr>
          <a:xfrm>
            <a:off x="952500" y="3694554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"Browse my computer for drivers".</a:t>
            </a:r>
            <a:endParaRPr sz="1800" dirty="0"/>
          </a:p>
        </p:txBody>
      </p:sp>
      <p:sp>
        <p:nvSpPr>
          <p:cNvPr id="328" name="Google Shape;328;p27"/>
          <p:cNvSpPr txBox="1"/>
          <p:nvPr/>
        </p:nvSpPr>
        <p:spPr>
          <a:xfrm>
            <a:off x="809625" y="4358705"/>
            <a:ext cx="1428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4</a:t>
            </a:r>
            <a:endParaRPr sz="1800" dirty="0"/>
          </a:p>
        </p:txBody>
      </p:sp>
      <p:sp>
        <p:nvSpPr>
          <p:cNvPr id="329" name="Google Shape;329;p27"/>
          <p:cNvSpPr txBox="1"/>
          <p:nvPr/>
        </p:nvSpPr>
        <p:spPr>
          <a:xfrm>
            <a:off x="952500" y="4254698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Selectează folderul descărcat.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49785"/>
            <a:ext cx="11049000" cy="12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8"/>
          <p:cNvSpPr txBox="1"/>
          <p:nvPr/>
        </p:nvSpPr>
        <p:spPr>
          <a:xfrm>
            <a:off x="571500" y="381000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Revenirea: </a:t>
            </a:r>
            <a:r>
              <a:rPr lang="en-US" sz="405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Driver Rollback</a:t>
            </a:r>
            <a:endParaRPr/>
          </a:p>
        </p:txBody>
      </p:sp>
      <p:sp>
        <p:nvSpPr>
          <p:cNvPr id="337" name="Google Shape;337;p28"/>
          <p:cNvSpPr txBox="1"/>
          <p:nvPr/>
        </p:nvSpPr>
        <p:spPr>
          <a:xfrm>
            <a:off x="571499" y="1601448"/>
            <a:ext cx="1150820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Dacă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un driver nou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cauzează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instabilitate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ecrane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albastre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(BSOD), Windows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păstrează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versiunea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anterioară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338" name="Google Shape;338;p28"/>
          <p:cNvSpPr txBox="1"/>
          <p:nvPr/>
        </p:nvSpPr>
        <p:spPr>
          <a:xfrm>
            <a:off x="571500" y="4516635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Butonul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dacă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nu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există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versiune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anterioară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salvată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339" name="Google Shape;339;p28"/>
          <p:cNvSpPr txBox="1"/>
          <p:nvPr/>
        </p:nvSpPr>
        <p:spPr>
          <a:xfrm>
            <a:off x="857250" y="3564135"/>
            <a:ext cx="104775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Funcția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Roll Back: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Dezinstalează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driverul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curent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reactivează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 cel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vechi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funcționa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corect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25773"/>
            <a:ext cx="5334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864172"/>
            <a:ext cx="5334000" cy="124649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9"/>
          <p:cNvSpPr txBox="1"/>
          <p:nvPr/>
        </p:nvSpPr>
        <p:spPr>
          <a:xfrm>
            <a:off x="571500" y="381000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Semnături </a:t>
            </a:r>
            <a:r>
              <a:rPr lang="en-US" sz="405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Digitale</a:t>
            </a:r>
            <a:endParaRPr/>
          </a:p>
        </p:txBody>
      </p:sp>
      <p:pic>
        <p:nvPicPr>
          <p:cNvPr id="348" name="Google Shape;348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1435298"/>
            <a:ext cx="53149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9"/>
          <p:cNvSpPr txBox="1"/>
          <p:nvPr/>
        </p:nvSpPr>
        <p:spPr>
          <a:xfrm>
            <a:off x="6286500" y="1546770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WHQL Certification</a:t>
            </a:r>
            <a:endParaRPr dirty="0"/>
          </a:p>
        </p:txBody>
      </p:sp>
      <p:sp>
        <p:nvSpPr>
          <p:cNvPr id="350" name="Google Shape;350;p29"/>
          <p:cNvSpPr txBox="1"/>
          <p:nvPr/>
        </p:nvSpPr>
        <p:spPr>
          <a:xfrm>
            <a:off x="6286500" y="2101146"/>
            <a:ext cx="53340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Windows Hardware Quality Labs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certificare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oferită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Microsoft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driverelor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care au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fost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testate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riguros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351" name="Google Shape;351;p29"/>
          <p:cNvSpPr txBox="1"/>
          <p:nvPr/>
        </p:nvSpPr>
        <p:spPr>
          <a:xfrm>
            <a:off x="6286500" y="3864171"/>
            <a:ext cx="53340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Sistemele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x64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blochează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implicit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instalarea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driverelor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nesemnate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preveni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atacurile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nivel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kernel.</a:t>
            </a:r>
            <a:endParaRPr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0"/>
          <p:cNvSpPr/>
          <p:nvPr/>
        </p:nvSpPr>
        <p:spPr>
          <a:xfrm>
            <a:off x="5619750" y="2476500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0"/>
          <p:cNvSpPr txBox="1"/>
          <p:nvPr/>
        </p:nvSpPr>
        <p:spPr>
          <a:xfrm>
            <a:off x="295275" y="280035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Partea III: </a:t>
            </a:r>
            <a:r>
              <a:rPr lang="en-US" sz="45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Monitorizarea</a:t>
            </a:r>
            <a:r>
              <a:rPr lang="en-US" sz="45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Performanței</a:t>
            </a:r>
            <a:endParaRPr/>
          </a:p>
        </p:txBody>
      </p:sp>
      <p:sp>
        <p:nvSpPr>
          <p:cNvPr id="359" name="Google Shape;359;p30"/>
          <p:cNvSpPr txBox="1"/>
          <p:nvPr/>
        </p:nvSpPr>
        <p:spPr>
          <a:xfrm>
            <a:off x="571500" y="3619500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Diagnosticarea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sănătății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calculatorului</a:t>
            </a:r>
            <a:endParaRPr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25773"/>
            <a:ext cx="5334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1"/>
          <p:cNvSpPr txBox="1"/>
          <p:nvPr/>
        </p:nvSpPr>
        <p:spPr>
          <a:xfrm>
            <a:off x="571500" y="381000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Task Manager</a:t>
            </a:r>
            <a:endParaRPr/>
          </a:p>
        </p:txBody>
      </p:sp>
      <p:sp>
        <p:nvSpPr>
          <p:cNvPr id="367" name="Google Shape;367;p31"/>
          <p:cNvSpPr txBox="1"/>
          <p:nvPr/>
        </p:nvSpPr>
        <p:spPr>
          <a:xfrm>
            <a:off x="571500" y="1651396"/>
            <a:ext cx="5334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Cel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rapid mod de 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vedea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consumă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resurse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(Ctrl + Shift + Esc).</a:t>
            </a:r>
            <a:endParaRPr sz="1600" dirty="0"/>
          </a:p>
        </p:txBody>
      </p:sp>
      <p:pic>
        <p:nvPicPr>
          <p:cNvPr id="368" name="Google Shape;368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435298"/>
            <a:ext cx="53149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1"/>
          <p:cNvSpPr txBox="1"/>
          <p:nvPr/>
        </p:nvSpPr>
        <p:spPr>
          <a:xfrm>
            <a:off x="952500" y="2881610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Processes: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Aplicații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active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consum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CPU/RAM.</a:t>
            </a:r>
            <a:endParaRPr sz="1800" dirty="0"/>
          </a:p>
        </p:txBody>
      </p:sp>
      <p:sp>
        <p:nvSpPr>
          <p:cNvPr id="372" name="Google Shape;372;p31"/>
          <p:cNvSpPr txBox="1"/>
          <p:nvPr/>
        </p:nvSpPr>
        <p:spPr>
          <a:xfrm>
            <a:off x="952499" y="3496716"/>
            <a:ext cx="53435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Performance: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Grafice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timp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real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hardware.</a:t>
            </a:r>
            <a:endParaRPr sz="1800" dirty="0"/>
          </a:p>
        </p:txBody>
      </p:sp>
      <p:sp>
        <p:nvSpPr>
          <p:cNvPr id="374" name="Google Shape;374;p31"/>
          <p:cNvSpPr txBox="1"/>
          <p:nvPr/>
        </p:nvSpPr>
        <p:spPr>
          <a:xfrm>
            <a:off x="952499" y="4111823"/>
            <a:ext cx="53244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Startup: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Programe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pornesc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odată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cu Windows.</a:t>
            </a:r>
            <a:endParaRPr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02023"/>
            <a:ext cx="11049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571500" y="381000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Analiza </a:t>
            </a:r>
            <a:r>
              <a:rPr lang="en-US" sz="405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Procesorului</a:t>
            </a:r>
            <a:endParaRPr/>
          </a:p>
        </p:txBody>
      </p:sp>
      <p:sp>
        <p:nvSpPr>
          <p:cNvPr id="382" name="Google Shape;382;p32"/>
          <p:cNvSpPr txBox="1"/>
          <p:nvPr/>
        </p:nvSpPr>
        <p:spPr>
          <a:xfrm>
            <a:off x="571500" y="1425773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 CPU la 100% constant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indică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un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proces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blocat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aplicație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tip malware (crypto-mining).</a:t>
            </a:r>
            <a:endParaRPr sz="1800" dirty="0"/>
          </a:p>
        </p:txBody>
      </p:sp>
      <p:sp>
        <p:nvSpPr>
          <p:cNvPr id="383" name="Google Shape;383;p32"/>
          <p:cNvSpPr txBox="1"/>
          <p:nvPr/>
        </p:nvSpPr>
        <p:spPr>
          <a:xfrm>
            <a:off x="571500" y="5426273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Observați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vârfurile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(spikes) care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coincid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lansarea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aplicațiilor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grele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384" name="Google Shape;384;p32"/>
          <p:cNvSpPr txBox="1"/>
          <p:nvPr/>
        </p:nvSpPr>
        <p:spPr>
          <a:xfrm>
            <a:off x="9686925" y="2664023"/>
            <a:ext cx="13620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Utilizare</a:t>
            </a:r>
            <a:r>
              <a:rPr lang="en-US" sz="15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CPU (%)</a:t>
            </a:r>
            <a:endParaRPr dirty="0"/>
          </a:p>
        </p:txBody>
      </p:sp>
      <p:pic>
        <p:nvPicPr>
          <p:cNvPr id="385" name="Google Shape;385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4143" y="2356502"/>
            <a:ext cx="952500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3"/>
          <p:cNvSpPr txBox="1"/>
          <p:nvPr/>
        </p:nvSpPr>
        <p:spPr>
          <a:xfrm>
            <a:off x="571500" y="1363785"/>
            <a:ext cx="52006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Resource </a:t>
            </a:r>
            <a:r>
              <a:rPr lang="en-US" sz="2000" b="1" i="0" u="none" strike="noStrike" cap="none" dirty="0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Monitor</a:t>
            </a:r>
            <a:endParaRPr sz="1600" dirty="0"/>
          </a:p>
        </p:txBody>
      </p:sp>
      <p:sp>
        <p:nvSpPr>
          <p:cNvPr id="393" name="Google Shape;393;p33"/>
          <p:cNvSpPr txBox="1"/>
          <p:nvPr/>
        </p:nvSpPr>
        <p:spPr>
          <a:xfrm>
            <a:off x="571500" y="1853268"/>
            <a:ext cx="4953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Oferă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detalii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granulare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 care Task Manager nu le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afișează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395" name="Google Shape;395;p33"/>
          <p:cNvSpPr txBox="1"/>
          <p:nvPr/>
        </p:nvSpPr>
        <p:spPr>
          <a:xfrm>
            <a:off x="952500" y="2935501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fișier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citit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pe disc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acest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moment?</a:t>
            </a:r>
            <a:endParaRPr sz="1800" dirty="0"/>
          </a:p>
        </p:txBody>
      </p:sp>
      <p:sp>
        <p:nvSpPr>
          <p:cNvPr id="397" name="Google Shape;397;p33"/>
          <p:cNvSpPr txBox="1"/>
          <p:nvPr/>
        </p:nvSpPr>
        <p:spPr>
          <a:xfrm>
            <a:off x="952500" y="3537361"/>
            <a:ext cx="48514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Ce IP-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accesează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calculatorul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tău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rețea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 sz="1800" dirty="0"/>
          </a:p>
        </p:txBody>
      </p:sp>
      <p:sp>
        <p:nvSpPr>
          <p:cNvPr id="399" name="Google Shape;399;p33"/>
          <p:cNvSpPr txBox="1"/>
          <p:nvPr/>
        </p:nvSpPr>
        <p:spPr>
          <a:xfrm>
            <a:off x="952500" y="4173735"/>
            <a:ext cx="40767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Analiza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timpului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răspuns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al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discului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(Disk Latency).</a:t>
            </a:r>
            <a:endParaRPr sz="1800" dirty="0"/>
          </a:p>
        </p:txBody>
      </p:sp>
      <p:pic>
        <p:nvPicPr>
          <p:cNvPr id="5124" name="Picture 4" descr="A detailed Windows Resource Monitor guide - gHacks Tech News">
            <a:extLst>
              <a:ext uri="{FF2B5EF4-FFF2-40B4-BE49-F238E27FC236}">
                <a16:creationId xmlns:a16="http://schemas.microsoft.com/office/drawing/2014/main" id="{3F7ACF48-7273-3A1A-B22A-C44FCC47B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9814" y="1191067"/>
            <a:ext cx="6102186" cy="4319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25773"/>
            <a:ext cx="5334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4"/>
          <p:cNvSpPr txBox="1"/>
          <p:nvPr/>
        </p:nvSpPr>
        <p:spPr>
          <a:xfrm>
            <a:off x="571500" y="381000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Performance</a:t>
            </a:r>
            <a:r>
              <a:rPr lang="en-US" sz="4000" b="1" i="0" u="none" strike="noStrike" cap="none" dirty="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Monitor (</a:t>
            </a:r>
            <a:r>
              <a:rPr lang="en-US" sz="4000" b="1" i="0" u="none" strike="noStrike" cap="none" dirty="0" err="1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PerfMon</a:t>
            </a:r>
            <a:r>
              <a:rPr lang="en-US" sz="4000" b="1" i="0" u="none" strike="noStrike" cap="none" dirty="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dirty="0"/>
          </a:p>
        </p:txBody>
      </p:sp>
      <p:pic>
        <p:nvPicPr>
          <p:cNvPr id="407" name="Google Shape;407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435298"/>
            <a:ext cx="53149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4"/>
          <p:cNvSpPr txBox="1"/>
          <p:nvPr/>
        </p:nvSpPr>
        <p:spPr>
          <a:xfrm>
            <a:off x="6286500" y="1812279"/>
            <a:ext cx="5334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Instrument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profesional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logarea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datelor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 termen lung.</a:t>
            </a:r>
            <a:endParaRPr sz="1800" dirty="0"/>
          </a:p>
        </p:txBody>
      </p:sp>
      <p:sp>
        <p:nvSpPr>
          <p:cNvPr id="410" name="Google Shape;410;p34"/>
          <p:cNvSpPr txBox="1"/>
          <p:nvPr/>
        </p:nvSpPr>
        <p:spPr>
          <a:xfrm>
            <a:off x="6667500" y="2812613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Crearea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"Data Collector Sets".</a:t>
            </a:r>
            <a:endParaRPr sz="1800" dirty="0"/>
          </a:p>
        </p:txBody>
      </p:sp>
      <p:sp>
        <p:nvSpPr>
          <p:cNvPr id="412" name="Google Shape;412;p34"/>
          <p:cNvSpPr txBox="1"/>
          <p:nvPr/>
        </p:nvSpPr>
        <p:spPr>
          <a:xfrm>
            <a:off x="6667500" y="3498540"/>
            <a:ext cx="53911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Urmărirea a mii de "Counters" (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contoare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 hardware.</a:t>
            </a:r>
            <a:endParaRPr sz="1800" dirty="0"/>
          </a:p>
        </p:txBody>
      </p:sp>
      <p:sp>
        <p:nvSpPr>
          <p:cNvPr id="414" name="Google Shape;414;p34"/>
          <p:cNvSpPr txBox="1"/>
          <p:nvPr/>
        </p:nvSpPr>
        <p:spPr>
          <a:xfrm>
            <a:off x="6667499" y="4277789"/>
            <a:ext cx="55340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Generarea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rapoarte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diagnosticare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sistemului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5"/>
          <p:cNvSpPr txBox="1"/>
          <p:nvPr/>
        </p:nvSpPr>
        <p:spPr>
          <a:xfrm>
            <a:off x="571500" y="381000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Analiza </a:t>
            </a:r>
            <a:r>
              <a:rPr lang="en-US" sz="4000" b="1" i="0" u="none" strike="noStrike" cap="none" dirty="0" err="1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Detaliată</a:t>
            </a:r>
            <a:r>
              <a:rPr lang="en-US" sz="4000" b="1" i="0" u="none" strike="noStrike" cap="none" dirty="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4000" b="1" i="0" u="none" strike="noStrike" cap="none" dirty="0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CPU-Z</a:t>
            </a:r>
            <a:endParaRPr dirty="0"/>
          </a:p>
        </p:txBody>
      </p:sp>
      <p:sp>
        <p:nvSpPr>
          <p:cNvPr id="422" name="Google Shape;422;p35"/>
          <p:cNvSpPr txBox="1"/>
          <p:nvPr/>
        </p:nvSpPr>
        <p:spPr>
          <a:xfrm>
            <a:off x="571500" y="1495394"/>
            <a:ext cx="5334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Standardul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industriei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identificarea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specificațiilor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exacte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424" name="Google Shape;424;p35"/>
          <p:cNvSpPr txBox="1"/>
          <p:nvPr/>
        </p:nvSpPr>
        <p:spPr>
          <a:xfrm>
            <a:off x="914400" y="2850980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 dirty="0"/>
          </a:p>
        </p:txBody>
      </p:sp>
      <p:sp>
        <p:nvSpPr>
          <p:cNvPr id="425" name="Google Shape;425;p35"/>
          <p:cNvSpPr txBox="1"/>
          <p:nvPr/>
        </p:nvSpPr>
        <p:spPr>
          <a:xfrm>
            <a:off x="952500" y="2761074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Nume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cod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procesor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(ex: Alder Lake).</a:t>
            </a:r>
            <a:endParaRPr sz="1800" dirty="0"/>
          </a:p>
        </p:txBody>
      </p:sp>
      <p:sp>
        <p:nvSpPr>
          <p:cNvPr id="426" name="Google Shape;426;p35"/>
          <p:cNvSpPr txBox="1"/>
          <p:nvPr/>
        </p:nvSpPr>
        <p:spPr>
          <a:xfrm>
            <a:off x="914400" y="3430398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 dirty="0"/>
          </a:p>
        </p:txBody>
      </p:sp>
      <p:sp>
        <p:nvSpPr>
          <p:cNvPr id="427" name="Google Shape;427;p35"/>
          <p:cNvSpPr txBox="1"/>
          <p:nvPr/>
        </p:nvSpPr>
        <p:spPr>
          <a:xfrm>
            <a:off x="952500" y="3353231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Tensiuni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frecvențe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timp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real.</a:t>
            </a:r>
            <a:endParaRPr sz="1800" dirty="0"/>
          </a:p>
        </p:txBody>
      </p:sp>
      <p:sp>
        <p:nvSpPr>
          <p:cNvPr id="428" name="Google Shape;428;p35"/>
          <p:cNvSpPr txBox="1"/>
          <p:nvPr/>
        </p:nvSpPr>
        <p:spPr>
          <a:xfrm>
            <a:off x="914400" y="3898785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 dirty="0"/>
          </a:p>
        </p:txBody>
      </p:sp>
      <p:sp>
        <p:nvSpPr>
          <p:cNvPr id="429" name="Google Shape;429;p35"/>
          <p:cNvSpPr txBox="1"/>
          <p:nvPr/>
        </p:nvSpPr>
        <p:spPr>
          <a:xfrm>
            <a:off x="952500" y="3826073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Detalii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despre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placa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BIOS.</a:t>
            </a:r>
            <a:endParaRPr sz="1800" dirty="0"/>
          </a:p>
        </p:txBody>
      </p:sp>
      <p:sp>
        <p:nvSpPr>
          <p:cNvPr id="430" name="Google Shape;430;p35"/>
          <p:cNvSpPr txBox="1"/>
          <p:nvPr/>
        </p:nvSpPr>
        <p:spPr>
          <a:xfrm>
            <a:off x="914400" y="4539535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 dirty="0"/>
          </a:p>
        </p:txBody>
      </p:sp>
      <p:sp>
        <p:nvSpPr>
          <p:cNvPr id="431" name="Google Shape;431;p35"/>
          <p:cNvSpPr txBox="1"/>
          <p:nvPr/>
        </p:nvSpPr>
        <p:spPr>
          <a:xfrm>
            <a:off x="952500" y="4444077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Specificații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SPD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memorie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pic>
        <p:nvPicPr>
          <p:cNvPr id="6146" name="Picture 2" descr="CPU-Z's Inadequate Benchmark - by Chester Lam">
            <a:extLst>
              <a:ext uri="{FF2B5EF4-FFF2-40B4-BE49-F238E27FC236}">
                <a16:creationId xmlns:a16="http://schemas.microsoft.com/office/drawing/2014/main" id="{55F41BFD-50E8-8C16-CC10-7A0D8FAC1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1627" y="1559682"/>
            <a:ext cx="6869082" cy="3425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4149923"/>
            <a:ext cx="5334000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6"/>
          <p:cNvSpPr txBox="1"/>
          <p:nvPr/>
        </p:nvSpPr>
        <p:spPr>
          <a:xfrm>
            <a:off x="571500" y="381000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Prevenirea </a:t>
            </a:r>
            <a:r>
              <a:rPr lang="en-US" sz="405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Supraîncălzirii</a:t>
            </a:r>
            <a:endParaRPr/>
          </a:p>
        </p:txBody>
      </p:sp>
      <p:sp>
        <p:nvSpPr>
          <p:cNvPr id="441" name="Google Shape;441;p36"/>
          <p:cNvSpPr txBox="1"/>
          <p:nvPr/>
        </p:nvSpPr>
        <p:spPr>
          <a:xfrm>
            <a:off x="6286500" y="1662484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HWMonitor</a:t>
            </a:r>
            <a:r>
              <a:rPr lang="en-US" sz="21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lang="en-US" sz="21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OpenHardwareMonitor</a:t>
            </a:r>
            <a:endParaRPr dirty="0"/>
          </a:p>
        </p:txBody>
      </p:sp>
      <p:sp>
        <p:nvSpPr>
          <p:cNvPr id="442" name="Google Shape;442;p36"/>
          <p:cNvSpPr txBox="1"/>
          <p:nvPr/>
        </p:nvSpPr>
        <p:spPr>
          <a:xfrm>
            <a:off x="6286500" y="2217628"/>
            <a:ext cx="53340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Este crucial să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monitorizăm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temperaturile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evita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Thermal Throttling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scăderea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vitezei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preveni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topirea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sz="1800" dirty="0"/>
          </a:p>
        </p:txBody>
      </p:sp>
      <p:sp>
        <p:nvSpPr>
          <p:cNvPr id="443" name="Google Shape;443;p36"/>
          <p:cNvSpPr txBox="1"/>
          <p:nvPr/>
        </p:nvSpPr>
        <p:spPr>
          <a:xfrm>
            <a:off x="6572250" y="4664273"/>
            <a:ext cx="47625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Zone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critice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 CPU (&gt;90°C), GPU (&gt;85°C), SSD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NVMe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(&gt;70°C).</a:t>
            </a:r>
            <a:endParaRPr sz="1800" dirty="0"/>
          </a:p>
        </p:txBody>
      </p:sp>
      <p:pic>
        <p:nvPicPr>
          <p:cNvPr id="7170" name="Picture 2" descr="HWMONITOR-PRO | Softwares | CPUID">
            <a:extLst>
              <a:ext uri="{FF2B5EF4-FFF2-40B4-BE49-F238E27FC236}">
                <a16:creationId xmlns:a16="http://schemas.microsoft.com/office/drawing/2014/main" id="{1F8120A4-9076-4077-FA79-D5FCFB6FD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065" y="1327695"/>
            <a:ext cx="3414370" cy="4938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21198"/>
            <a:ext cx="355595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921198"/>
            <a:ext cx="355595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921198"/>
            <a:ext cx="3556099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7"/>
          <p:cNvSpPr txBox="1"/>
          <p:nvPr/>
        </p:nvSpPr>
        <p:spPr>
          <a:xfrm>
            <a:off x="571500" y="381000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Performanța </a:t>
            </a:r>
            <a:r>
              <a:rPr lang="en-US" sz="405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Grafică</a:t>
            </a:r>
            <a:endParaRPr/>
          </a:p>
        </p:txBody>
      </p:sp>
      <p:sp>
        <p:nvSpPr>
          <p:cNvPr id="453" name="Google Shape;453;p37"/>
          <p:cNvSpPr txBox="1"/>
          <p:nvPr/>
        </p:nvSpPr>
        <p:spPr>
          <a:xfrm>
            <a:off x="571500" y="2444948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Aplicații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precum 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MSI Afterburner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permit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monitorizarea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timp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joci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lucrezi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CAD.</a:t>
            </a:r>
            <a:endParaRPr sz="1800" dirty="0"/>
          </a:p>
        </p:txBody>
      </p:sp>
      <p:sp>
        <p:nvSpPr>
          <p:cNvPr id="454" name="Google Shape;454;p37"/>
          <p:cNvSpPr txBox="1"/>
          <p:nvPr/>
        </p:nvSpPr>
        <p:spPr>
          <a:xfrm>
            <a:off x="857250" y="3245048"/>
            <a:ext cx="31336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GPU Usage</a:t>
            </a:r>
            <a:endParaRPr/>
          </a:p>
        </p:txBody>
      </p:sp>
      <p:sp>
        <p:nvSpPr>
          <p:cNvPr id="455" name="Google Shape;455;p37"/>
          <p:cNvSpPr txBox="1"/>
          <p:nvPr/>
        </p:nvSpPr>
        <p:spPr>
          <a:xfrm>
            <a:off x="857250" y="3835598"/>
            <a:ext cx="2984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Cât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mult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din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puterea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plăcii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folosită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456" name="Google Shape;456;p37"/>
          <p:cNvSpPr txBox="1"/>
          <p:nvPr/>
        </p:nvSpPr>
        <p:spPr>
          <a:xfrm>
            <a:off x="4603700" y="3245048"/>
            <a:ext cx="31336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VRAM Usage</a:t>
            </a:r>
            <a:endParaRPr/>
          </a:p>
        </p:txBody>
      </p:sp>
      <p:sp>
        <p:nvSpPr>
          <p:cNvPr id="457" name="Google Shape;457;p37"/>
          <p:cNvSpPr txBox="1"/>
          <p:nvPr/>
        </p:nvSpPr>
        <p:spPr>
          <a:xfrm>
            <a:off x="4603700" y="3835598"/>
            <a:ext cx="2984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Câtă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memorie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video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ocupă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texturile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aplicației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458" name="Google Shape;458;p37"/>
          <p:cNvSpPr txBox="1"/>
          <p:nvPr/>
        </p:nvSpPr>
        <p:spPr>
          <a:xfrm>
            <a:off x="8350150" y="3245048"/>
            <a:ext cx="313382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Fan Speed</a:t>
            </a:r>
            <a:endParaRPr/>
          </a:p>
        </p:txBody>
      </p:sp>
      <p:sp>
        <p:nvSpPr>
          <p:cNvPr id="459" name="Google Shape;459;p37"/>
          <p:cNvSpPr txBox="1"/>
          <p:nvPr/>
        </p:nvSpPr>
        <p:spPr>
          <a:xfrm>
            <a:off x="8350150" y="3835598"/>
            <a:ext cx="298459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Eficiența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sistemului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răcire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activă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46885"/>
            <a:ext cx="5334000" cy="372395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38"/>
          <p:cNvSpPr txBox="1"/>
          <p:nvPr/>
        </p:nvSpPr>
        <p:spPr>
          <a:xfrm>
            <a:off x="571500" y="381000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Sănătatea</a:t>
            </a:r>
            <a:r>
              <a:rPr lang="en-US" sz="4000" b="1" i="0" u="none" strike="noStrike" cap="none" dirty="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000" b="1" i="0" u="none" strike="noStrike" cap="none" dirty="0" err="1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Stocării</a:t>
            </a:r>
            <a:endParaRPr dirty="0"/>
          </a:p>
        </p:txBody>
      </p:sp>
      <p:sp>
        <p:nvSpPr>
          <p:cNvPr id="467" name="Google Shape;467;p38"/>
          <p:cNvSpPr txBox="1"/>
          <p:nvPr/>
        </p:nvSpPr>
        <p:spPr>
          <a:xfrm>
            <a:off x="571500" y="1495394"/>
            <a:ext cx="5334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Sistemul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operare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poate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raporta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"OK",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parametrii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S.M.A.R.T. spun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adevărul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470" name="Google Shape;470;p38"/>
          <p:cNvSpPr txBox="1"/>
          <p:nvPr/>
        </p:nvSpPr>
        <p:spPr>
          <a:xfrm>
            <a:off x="952500" y="2598003"/>
            <a:ext cx="4953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CrystalDiskInfo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Afișează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sănătate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(Good/Caution/Bad).</a:t>
            </a:r>
            <a:endParaRPr sz="1800" dirty="0"/>
          </a:p>
        </p:txBody>
      </p:sp>
      <p:sp>
        <p:nvSpPr>
          <p:cNvPr id="472" name="Google Shape;472;p38"/>
          <p:cNvSpPr txBox="1"/>
          <p:nvPr/>
        </p:nvSpPr>
        <p:spPr>
          <a:xfrm>
            <a:off x="952500" y="3542556"/>
            <a:ext cx="4953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Total Host Writes: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Cât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uzat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un SSD.</a:t>
            </a:r>
            <a:endParaRPr sz="1800" dirty="0"/>
          </a:p>
        </p:txBody>
      </p:sp>
      <p:sp>
        <p:nvSpPr>
          <p:cNvPr id="474" name="Google Shape;474;p38"/>
          <p:cNvSpPr txBox="1"/>
          <p:nvPr/>
        </p:nvSpPr>
        <p:spPr>
          <a:xfrm>
            <a:off x="952500" y="4111823"/>
            <a:ext cx="4953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Reallocated Sectors:</a:t>
            </a: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Semn de moarte iminentă pentru HDD.</a:t>
            </a:r>
            <a:endParaRPr sz="1800"/>
          </a:p>
        </p:txBody>
      </p:sp>
      <p:pic>
        <p:nvPicPr>
          <p:cNvPr id="8194" name="Picture 2" descr="SSD case: SSD health decrease by wearout">
            <a:extLst>
              <a:ext uri="{FF2B5EF4-FFF2-40B4-BE49-F238E27FC236}">
                <a16:creationId xmlns:a16="http://schemas.microsoft.com/office/drawing/2014/main" id="{8C329A04-4C42-0FD4-323B-7370DD6FE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1" y="1746885"/>
            <a:ext cx="5334000" cy="3723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25773"/>
            <a:ext cx="5334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 txBox="1"/>
          <p:nvPr/>
        </p:nvSpPr>
        <p:spPr>
          <a:xfrm>
            <a:off x="571500" y="381000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Performanța</a:t>
            </a:r>
            <a:r>
              <a:rPr lang="en-US" sz="4000" b="1" i="0" u="none" strike="noStrike" cap="none" dirty="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000" b="1" i="0" u="none" strike="noStrike" cap="none" dirty="0" err="1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în</a:t>
            </a:r>
            <a:r>
              <a:rPr lang="en-US" sz="4000" b="1" i="0" u="none" strike="noStrike" cap="none" dirty="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000" b="1" i="0" u="none" strike="noStrike" cap="none" dirty="0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Rețea</a:t>
            </a:r>
            <a:endParaRPr dirty="0"/>
          </a:p>
        </p:txBody>
      </p:sp>
      <p:pic>
        <p:nvPicPr>
          <p:cNvPr id="482" name="Google Shape;482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435298"/>
            <a:ext cx="53149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39"/>
          <p:cNvSpPr txBox="1"/>
          <p:nvPr/>
        </p:nvSpPr>
        <p:spPr>
          <a:xfrm>
            <a:off x="6286500" y="1435298"/>
            <a:ext cx="5334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Monitorizarea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pachetelor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date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depista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blocajele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bandă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484" name="Google Shape;484;p39"/>
          <p:cNvSpPr txBox="1"/>
          <p:nvPr/>
        </p:nvSpPr>
        <p:spPr>
          <a:xfrm>
            <a:off x="6629400" y="2612053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 dirty="0"/>
          </a:p>
        </p:txBody>
      </p:sp>
      <p:sp>
        <p:nvSpPr>
          <p:cNvPr id="485" name="Google Shape;485;p39"/>
          <p:cNvSpPr txBox="1"/>
          <p:nvPr/>
        </p:nvSpPr>
        <p:spPr>
          <a:xfrm>
            <a:off x="6667500" y="2522963"/>
            <a:ext cx="4953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Identificarea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aplicațiilor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care "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fură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lățimea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bandă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fundal.</a:t>
            </a:r>
            <a:endParaRPr sz="1800" dirty="0"/>
          </a:p>
        </p:txBody>
      </p:sp>
      <p:sp>
        <p:nvSpPr>
          <p:cNvPr id="486" name="Google Shape;486;p39"/>
          <p:cNvSpPr txBox="1"/>
          <p:nvPr/>
        </p:nvSpPr>
        <p:spPr>
          <a:xfrm>
            <a:off x="6629400" y="3710866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 dirty="0"/>
          </a:p>
        </p:txBody>
      </p:sp>
      <p:sp>
        <p:nvSpPr>
          <p:cNvPr id="487" name="Google Shape;487;p39"/>
          <p:cNvSpPr txBox="1"/>
          <p:nvPr/>
        </p:nvSpPr>
        <p:spPr>
          <a:xfrm>
            <a:off x="6667500" y="3610628"/>
            <a:ext cx="4953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Testarea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latenței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(Ping)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către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serverul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domeniu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488" name="Google Shape;488;p39"/>
          <p:cNvSpPr txBox="1"/>
          <p:nvPr/>
        </p:nvSpPr>
        <p:spPr>
          <a:xfrm>
            <a:off x="6629400" y="4723919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 dirty="0"/>
          </a:p>
        </p:txBody>
      </p:sp>
      <p:sp>
        <p:nvSpPr>
          <p:cNvPr id="489" name="Google Shape;489;p39"/>
          <p:cNvSpPr txBox="1"/>
          <p:nvPr/>
        </p:nvSpPr>
        <p:spPr>
          <a:xfrm>
            <a:off x="6667500" y="4631417"/>
            <a:ext cx="4953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Detectarea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conexiunilor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suspicioase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către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exterior.</a:t>
            </a:r>
            <a:endParaRPr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87823"/>
            <a:ext cx="355595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587823"/>
            <a:ext cx="355595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587823"/>
            <a:ext cx="3556099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40"/>
          <p:cNvSpPr txBox="1"/>
          <p:nvPr/>
        </p:nvSpPr>
        <p:spPr>
          <a:xfrm>
            <a:off x="571500" y="381000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Checklist de </a:t>
            </a:r>
            <a:r>
              <a:rPr lang="en-US" sz="405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Administrare</a:t>
            </a:r>
            <a:endParaRPr/>
          </a:p>
        </p:txBody>
      </p:sp>
      <p:sp>
        <p:nvSpPr>
          <p:cNvPr id="499" name="Google Shape;499;p40"/>
          <p:cNvSpPr txBox="1"/>
          <p:nvPr/>
        </p:nvSpPr>
        <p:spPr>
          <a:xfrm>
            <a:off x="857250" y="2911673"/>
            <a:ext cx="31336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Lunar</a:t>
            </a:r>
            <a:endParaRPr/>
          </a:p>
        </p:txBody>
      </p:sp>
      <p:sp>
        <p:nvSpPr>
          <p:cNvPr id="500" name="Google Shape;500;p40"/>
          <p:cNvSpPr txBox="1"/>
          <p:nvPr/>
        </p:nvSpPr>
        <p:spPr>
          <a:xfrm>
            <a:off x="857250" y="3502223"/>
            <a:ext cx="2984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Verificare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actualizări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drivere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Windows Update.</a:t>
            </a:r>
            <a:endParaRPr sz="1800" dirty="0"/>
          </a:p>
        </p:txBody>
      </p:sp>
      <p:sp>
        <p:nvSpPr>
          <p:cNvPr id="501" name="Google Shape;501;p40"/>
          <p:cNvSpPr txBox="1"/>
          <p:nvPr/>
        </p:nvSpPr>
        <p:spPr>
          <a:xfrm>
            <a:off x="4603700" y="2911673"/>
            <a:ext cx="31336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Trimestrial</a:t>
            </a:r>
            <a:endParaRPr/>
          </a:p>
        </p:txBody>
      </p:sp>
      <p:sp>
        <p:nvSpPr>
          <p:cNvPr id="502" name="Google Shape;502;p40"/>
          <p:cNvSpPr txBox="1"/>
          <p:nvPr/>
        </p:nvSpPr>
        <p:spPr>
          <a:xfrm>
            <a:off x="4603700" y="3502223"/>
            <a:ext cx="2984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Curățare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fișiere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temporare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audit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conturi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utilizatori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503" name="Google Shape;503;p40"/>
          <p:cNvSpPr txBox="1"/>
          <p:nvPr/>
        </p:nvSpPr>
        <p:spPr>
          <a:xfrm>
            <a:off x="8350150" y="2911673"/>
            <a:ext cx="313382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Anual</a:t>
            </a:r>
            <a:endParaRPr/>
          </a:p>
        </p:txBody>
      </p:sp>
      <p:sp>
        <p:nvSpPr>
          <p:cNvPr id="504" name="Google Shape;504;p40"/>
          <p:cNvSpPr txBox="1"/>
          <p:nvPr/>
        </p:nvSpPr>
        <p:spPr>
          <a:xfrm>
            <a:off x="8350150" y="3502223"/>
            <a:ext cx="298459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Verificarea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temperaturilor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curățarea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fizică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praf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" name="Google Shape;509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18419"/>
            <a:ext cx="11049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41"/>
          <p:cNvSpPr txBox="1"/>
          <p:nvPr/>
        </p:nvSpPr>
        <p:spPr>
          <a:xfrm>
            <a:off x="295275" y="2785169"/>
            <a:ext cx="1160145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rPr>
              <a:t>"Un administrator bun nu </a:t>
            </a:r>
            <a:r>
              <a:rPr lang="en-US" sz="4000" b="0" i="0" u="none" strike="noStrike" cap="none" dirty="0" err="1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este</a:t>
            </a:r>
            <a:r>
              <a:rPr lang="en-US" sz="4000" b="0" i="0" u="none" strike="noStrike" cap="none" dirty="0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rPr>
              <a:t> cel care </a:t>
            </a:r>
            <a:r>
              <a:rPr lang="en-US" sz="4000" b="0" i="0" u="none" strike="noStrike" cap="none" dirty="0" err="1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rPr>
              <a:t>repară</a:t>
            </a:r>
            <a:r>
              <a:rPr lang="en-US" sz="4000" b="0" i="0" u="none" strike="noStrike" cap="none" dirty="0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4000" b="0" i="0" u="none" strike="noStrike" cap="none" dirty="0" err="1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rPr>
              <a:t>repede</a:t>
            </a:r>
            <a:r>
              <a:rPr lang="en-US" sz="4000" b="0" i="0" u="none" strike="noStrike" cap="none" dirty="0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rPr>
              <a:t>, ci cel care </a:t>
            </a:r>
            <a:r>
              <a:rPr lang="en-US" sz="4000" b="0" i="0" u="none" strike="noStrike" cap="none" dirty="0" err="1">
                <a:solidFill>
                  <a:srgbClr val="DEFF9A"/>
                </a:solidFill>
                <a:latin typeface="Poppins Light"/>
                <a:ea typeface="Poppins Light"/>
                <a:cs typeface="Poppins Light"/>
                <a:sym typeface="Poppins Light"/>
              </a:rPr>
              <a:t>monitorizează</a:t>
            </a:r>
            <a:r>
              <a:rPr lang="en-US" sz="4000" b="0" i="0" u="none" strike="noStrike" cap="none" dirty="0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rPr>
              <a:t> constant </a:t>
            </a:r>
            <a:r>
              <a:rPr lang="en-US" sz="4000" b="0" i="0" u="none" strike="noStrike" cap="none" dirty="0" err="1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rPr>
              <a:t>pentru</a:t>
            </a:r>
            <a:r>
              <a:rPr lang="en-US" sz="4000" b="0" i="0" u="none" strike="noStrike" cap="none" dirty="0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rPr>
              <a:t> a nu </a:t>
            </a:r>
            <a:r>
              <a:rPr lang="en-US" sz="4000" b="0" i="0" u="none" strike="noStrike" cap="none" dirty="0" err="1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rPr>
              <a:t>lăsa</a:t>
            </a:r>
            <a:r>
              <a:rPr lang="en-US" sz="4000" b="0" i="0" u="none" strike="noStrike" cap="none" dirty="0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4000" b="0" i="0" u="none" strike="noStrike" cap="none" dirty="0" err="1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rPr>
              <a:t>sistemul</a:t>
            </a:r>
            <a:r>
              <a:rPr lang="en-US" sz="4000" b="0" i="0" u="none" strike="noStrike" cap="none" dirty="0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rPr>
              <a:t> să se </a:t>
            </a:r>
            <a:r>
              <a:rPr lang="en-US" sz="4000" b="0" i="0" u="none" strike="noStrike" cap="none" dirty="0" err="1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rPr>
              <a:t>strice</a:t>
            </a:r>
            <a:r>
              <a:rPr lang="en-US" sz="4000" b="0" i="0" u="none" strike="noStrike" cap="none" dirty="0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rPr>
              <a:t>."</a:t>
            </a:r>
            <a:endParaRPr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42"/>
          <p:cNvSpPr txBox="1"/>
          <p:nvPr/>
        </p:nvSpPr>
        <p:spPr>
          <a:xfrm>
            <a:off x="295275" y="506186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 err="1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Întrebări</a:t>
            </a:r>
            <a:r>
              <a:rPr lang="en-US" sz="6000" b="1" i="0" u="none" strike="noStrike" cap="none" dirty="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6000" b="1" i="0" u="none" strike="noStrike" cap="none" dirty="0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dirty="0"/>
          </a:p>
        </p:txBody>
      </p:sp>
      <p:sp>
        <p:nvSpPr>
          <p:cNvPr id="518" name="Google Shape;518;p42"/>
          <p:cNvSpPr txBox="1"/>
          <p:nvPr/>
        </p:nvSpPr>
        <p:spPr>
          <a:xfrm>
            <a:off x="571500" y="1650547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Vă</a:t>
            </a:r>
            <a:r>
              <a:rPr lang="en-US" sz="21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mulțumesc</a:t>
            </a:r>
            <a:r>
              <a:rPr lang="en-US" sz="21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21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atenție</a:t>
            </a:r>
            <a:r>
              <a:rPr lang="en-US" sz="21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!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F18968-D6FC-1108-114B-F5623C534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205" y="2105025"/>
            <a:ext cx="4768624" cy="39923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1159</Words>
  <Application>Microsoft Office PowerPoint</Application>
  <PresentationFormat>Widescreen</PresentationFormat>
  <Paragraphs>174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Urbanist</vt:lpstr>
      <vt:lpstr>Calibri</vt:lpstr>
      <vt:lpstr>Poppins Light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Cazacu-Condrat Dumitru</cp:lastModifiedBy>
  <cp:revision>67</cp:revision>
  <dcterms:modified xsi:type="dcterms:W3CDTF">2026-01-30T07:46:12Z</dcterms:modified>
</cp:coreProperties>
</file>