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6858000" cy="9144000"/>
  <p:embeddedFontLs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Urbanist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785EAD-6E2B-4D27-A222-3D78DCEE3057}">
  <a:tblStyle styleId="{05785EAD-6E2B-4D27-A222-3D78DCEE30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74295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PROMOVAREA PRODUSELOR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188690"/>
            <a:ext cx="11601450" cy="14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Etapele Abordării și </a:t>
            </a:r>
            <a:r>
              <a:rPr lang="en-US" sz="51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Tipuri</a:t>
            </a: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de Relații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445966"/>
            <a:ext cx="952500" cy="571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741241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Cazacu-Condrat Dumitru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7427"/>
            <a:ext cx="3524250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517427"/>
            <a:ext cx="3524250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517427"/>
            <a:ext cx="3524250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6032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14400" y="3346102"/>
            <a:ext cx="29803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Fluxul CRM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812827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Înțelegerea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etapelor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parcurse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un client, de la prospect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loialitate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86032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76775" y="3346102"/>
            <a:ext cx="29803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Tipologii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4676775" y="3812827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formelor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relații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specifice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produselor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 (SaaS vs. B2B).</a:t>
            </a:r>
            <a:endParaRPr sz="2000"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86032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39150" y="3346102"/>
            <a:ext cx="29803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Strategie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39150" y="3812827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Aplicarea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tacticilor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corecte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tip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parteneriat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comercial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Obiectivele Lecției de Astăzi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1918412"/>
            <a:ext cx="52863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abordare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structurată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CRM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despre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vânzări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ci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despre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construirea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ecosistem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încredere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vendor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04875" y="328807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Reduce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costul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achiziție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(CAC).</a:t>
            </a:r>
            <a:endParaRPr sz="20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368871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Crește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valoarea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viață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(LTV).</a:t>
            </a:r>
            <a:endParaRPr sz="20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413191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Minimizează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rata de abandon (Churn).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453255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Facilitează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feedback-ul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dezvoltare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Importanța Abordării Strategice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5619750" y="809625"/>
            <a:ext cx="952500" cy="571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295275" y="1104900"/>
            <a:ext cx="11601450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Secțiunea 1: </a:t>
            </a:r>
            <a:r>
              <a:rPr lang="en-US" sz="51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Etapele</a:t>
            </a: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Abordării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198879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Ciclul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viață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relației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334125" y="1833562"/>
            <a:ext cx="52863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Această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etapă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presupune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căutarea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filtrarea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potențialilor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care au 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nevoie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produsul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oferit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6667500" y="3496891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Definirea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profilului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ideal (ICP).</a:t>
            </a:r>
            <a:endParaRPr sz="20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6667500" y="3934965"/>
            <a:ext cx="52863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bazelor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rețelelor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profesionale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6667500" y="435218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Calificarea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"leads"-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potențiali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Identificarea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Prospectarea</a:t>
            </a:r>
            <a:endParaRPr dirty="0"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64896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661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48329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3090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1830"/>
            <a:ext cx="3524250" cy="187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3691830"/>
            <a:ext cx="3524250" cy="1872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0" y="3691830"/>
            <a:ext cx="3524250" cy="187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14400" y="2311386"/>
            <a:ext cx="103632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Înainte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orice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ofertă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trebuie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înțelegem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fluxul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lucru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actual 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cum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poate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nostru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optimizeze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914400" y="4034730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Audit</a:t>
            </a:r>
            <a:endParaRPr sz="2000"/>
          </a:p>
        </p:txBody>
      </p:sp>
      <p:sp>
        <p:nvSpPr>
          <p:cNvPr id="162" name="Google Shape;162;p18"/>
          <p:cNvSpPr txBox="1"/>
          <p:nvPr/>
        </p:nvSpPr>
        <p:spPr>
          <a:xfrm>
            <a:off x="914400" y="4501455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Evaluarea infrastructurii IT actuale a clientului.</a:t>
            </a:r>
            <a:endParaRPr sz="2000"/>
          </a:p>
        </p:txBody>
      </p:sp>
      <p:sp>
        <p:nvSpPr>
          <p:cNvPr id="163" name="Google Shape;163;p18"/>
          <p:cNvSpPr txBox="1"/>
          <p:nvPr/>
        </p:nvSpPr>
        <p:spPr>
          <a:xfrm>
            <a:off x="4676775" y="4034730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Probleme</a:t>
            </a:r>
            <a:endParaRPr sz="2000"/>
          </a:p>
        </p:txBody>
      </p:sp>
      <p:sp>
        <p:nvSpPr>
          <p:cNvPr id="164" name="Google Shape;164;p18"/>
          <p:cNvSpPr txBox="1"/>
          <p:nvPr/>
        </p:nvSpPr>
        <p:spPr>
          <a:xfrm>
            <a:off x="4676774" y="4501455"/>
            <a:ext cx="30765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punctelor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critice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(pain points)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operare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8439150" y="4034730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Soluție</a:t>
            </a:r>
            <a:endParaRPr sz="2000"/>
          </a:p>
        </p:txBody>
      </p:sp>
      <p:sp>
        <p:nvSpPr>
          <p:cNvPr id="166" name="Google Shape;166;p18"/>
          <p:cNvSpPr txBox="1"/>
          <p:nvPr/>
        </p:nvSpPr>
        <p:spPr>
          <a:xfrm>
            <a:off x="8439150" y="4501455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Maparea funcțiilor software pe nevoile specifice.</a:t>
            </a:r>
            <a:endParaRPr sz="2000"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2. Analiza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Nevoilor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Tehnice</a:t>
            </a:r>
            <a:endParaRPr dirty="0"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1833562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Prima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interacțiune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directă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stabilește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conexiunea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emoțională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profesională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904875" y="330934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Mesaj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personalizat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nu generic.</a:t>
            </a:r>
            <a:endParaRPr sz="2000"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904875" y="373952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Focus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beneficii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funcții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904875" y="409911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Demonstrarea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înțelegerii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contextului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904875" y="452929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Stabilirea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demo-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live (Demo call).</a:t>
            </a:r>
            <a:endParaRPr sz="2000"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3.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Contactul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Inițial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Pitch-ul</a:t>
            </a:r>
            <a:endParaRPr dirty="0"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9754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91440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Demo Live</a:t>
            </a:r>
            <a:endParaRPr sz="2000"/>
          </a:p>
        </p:txBody>
      </p:sp>
      <p:sp>
        <p:nvSpPr>
          <p:cNvPr id="197" name="Google Shape;197;p20"/>
          <p:cNvSpPr txBox="1"/>
          <p:nvPr/>
        </p:nvSpPr>
        <p:spPr>
          <a:xfrm>
            <a:off x="914400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Arătarea produsului în acțiune pe scenarii reale.</a:t>
            </a:r>
            <a:endParaRPr sz="2000"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99754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676775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ROI</a:t>
            </a:r>
            <a:endParaRPr sz="2000"/>
          </a:p>
        </p:txBody>
      </p:sp>
      <p:sp>
        <p:nvSpPr>
          <p:cNvPr id="200" name="Google Shape;200;p20"/>
          <p:cNvSpPr txBox="1"/>
          <p:nvPr/>
        </p:nvSpPr>
        <p:spPr>
          <a:xfrm>
            <a:off x="4676775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Calcularea randamentului investiției pentru client.</a:t>
            </a:r>
            <a:endParaRPr sz="2000"/>
          </a:p>
        </p:txBody>
      </p:sp>
      <p:sp>
        <p:nvSpPr>
          <p:cNvPr id="201" name="Google Shape;201;p20"/>
          <p:cNvSpPr txBox="1"/>
          <p:nvPr/>
        </p:nvSpPr>
        <p:spPr>
          <a:xfrm>
            <a:off x="8439150" y="31785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Garanții</a:t>
            </a:r>
            <a:endParaRPr sz="2000"/>
          </a:p>
        </p:txBody>
      </p:sp>
      <p:sp>
        <p:nvSpPr>
          <p:cNvPr id="202" name="Google Shape;202;p20"/>
          <p:cNvSpPr txBox="1"/>
          <p:nvPr/>
        </p:nvSpPr>
        <p:spPr>
          <a:xfrm>
            <a:off x="8439150" y="36452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Asigurări privind securitatea datelor și suportul.</a:t>
            </a:r>
            <a:endParaRPr sz="2000"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4.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Prezentarea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Valorii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Software</a:t>
            </a:r>
            <a:endParaRPr dirty="0"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6334125" y="1683581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Momentul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semnării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contractului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stabilirea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termenilor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finali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licențiere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6667500" y="315881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Gestionarea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obiecțiilor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preț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14" name="Google Shape;214;p21"/>
          <p:cNvSpPr txBox="1"/>
          <p:nvPr/>
        </p:nvSpPr>
        <p:spPr>
          <a:xfrm>
            <a:off x="6667500" y="3612213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Stabilirea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numărului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utilizatori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locații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15" name="Google Shape;215;p21"/>
          <p:cNvSpPr txBox="1"/>
          <p:nvPr/>
        </p:nvSpPr>
        <p:spPr>
          <a:xfrm>
            <a:off x="6667500" y="400645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Semnarea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Acordului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Nivel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Serviciu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(SLA).</a:t>
            </a:r>
            <a:endParaRPr sz="2000" dirty="0"/>
          </a:p>
        </p:txBody>
      </p:sp>
      <p:sp>
        <p:nvSpPr>
          <p:cNvPr id="216" name="Google Shape;216;p21"/>
          <p:cNvSpPr txBox="1"/>
          <p:nvPr/>
        </p:nvSpPr>
        <p:spPr>
          <a:xfrm>
            <a:off x="6667500" y="4400703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Definirea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etapelor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plată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5.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Negocierea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Încheierea</a:t>
            </a:r>
            <a:endParaRPr dirty="0"/>
          </a:p>
        </p:txBody>
      </p:sp>
      <p:sp>
        <p:nvSpPr>
          <p:cNvPr id="218" name="Google Shape;218;p2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032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7204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1375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55473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Negocierea colectivă, obligatorie chiar dacă angajatorul vrea oricum să  ajusteze salariile brute">
            <a:extLst>
              <a:ext uri="{FF2B5EF4-FFF2-40B4-BE49-F238E27FC236}">
                <a16:creationId xmlns:a16="http://schemas.microsoft.com/office/drawing/2014/main" id="{FC9557A4-3148-CA34-E093-AC86C8714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40" y="1619250"/>
            <a:ext cx="5663293" cy="42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11049000" cy="1302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962025" y="2530625"/>
            <a:ext cx="1044620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Onboarding-ul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etapa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critică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 Un client care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știe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folosească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renunța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rapid la el.</a:t>
            </a:r>
            <a:endParaRPr sz="2000"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904875" y="3562653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Configurarea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inițială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sistemului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client.</a:t>
            </a:r>
            <a:endParaRPr sz="2000" dirty="0"/>
          </a:p>
        </p:txBody>
      </p:sp>
      <p:sp>
        <p:nvSpPr>
          <p:cNvPr id="231" name="Google Shape;231;p22"/>
          <p:cNvSpPr txBox="1"/>
          <p:nvPr/>
        </p:nvSpPr>
        <p:spPr>
          <a:xfrm>
            <a:off x="904875" y="3979818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Importul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din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sistemele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vechi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(Data Migration).</a:t>
            </a:r>
            <a:endParaRPr sz="2000" dirty="0"/>
          </a:p>
        </p:txBody>
      </p:sp>
      <p:sp>
        <p:nvSpPr>
          <p:cNvPr id="232" name="Google Shape;232;p22"/>
          <p:cNvSpPr txBox="1"/>
          <p:nvPr/>
        </p:nvSpPr>
        <p:spPr>
          <a:xfrm>
            <a:off x="904875" y="4384304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Training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utilizatorii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finali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administratori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33" name="Google Shape;233;p22"/>
          <p:cNvSpPr txBox="1"/>
          <p:nvPr/>
        </p:nvSpPr>
        <p:spPr>
          <a:xfrm>
            <a:off x="904875" y="4762757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Furnizarea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manualelor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resurselor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ajutor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34" name="Google Shape;234;p22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6. Onboarding: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Integrarea</a:t>
            </a:r>
            <a:endParaRPr dirty="0"/>
          </a:p>
        </p:txBody>
      </p:sp>
      <p:sp>
        <p:nvSpPr>
          <p:cNvPr id="235" name="Google Shape;235;p22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37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109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280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4526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71500" y="1986807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Spre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deosebire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suportul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tehnic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reactiv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Customer Success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proactiv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904875" y="326539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Monitorizarea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gradului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funcțiilor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49" name="Google Shape;249;p23"/>
          <p:cNvSpPr txBox="1"/>
          <p:nvPr/>
        </p:nvSpPr>
        <p:spPr>
          <a:xfrm>
            <a:off x="904875" y="3682561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Reuniuni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periodice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evaluare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(QBR).</a:t>
            </a:r>
            <a:endParaRPr sz="2000" dirty="0"/>
          </a:p>
        </p:txBody>
      </p:sp>
      <p:sp>
        <p:nvSpPr>
          <p:cNvPr id="250" name="Google Shape;250;p23"/>
          <p:cNvSpPr txBox="1"/>
          <p:nvPr/>
        </p:nvSpPr>
        <p:spPr>
          <a:xfrm>
            <a:off x="904874" y="4075719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Asigurarea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aduce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valoarea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promisă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51" name="Google Shape;251;p23"/>
          <p:cNvSpPr txBox="1"/>
          <p:nvPr/>
        </p:nvSpPr>
        <p:spPr>
          <a:xfrm>
            <a:off x="904875" y="450398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Rezolvarea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proactivă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blocajelor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7. Customer Success Management</a:t>
            </a:r>
            <a:endParaRPr dirty="0"/>
          </a:p>
        </p:txBody>
      </p:sp>
      <p:sp>
        <p:nvSpPr>
          <p:cNvPr id="253" name="Google Shape;253;p23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4646"/>
            <a:ext cx="3524250" cy="262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54647"/>
            <a:ext cx="3524250" cy="262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54646"/>
            <a:ext cx="3524250" cy="2624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9754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91440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Up-selling</a:t>
            </a:r>
            <a:endParaRPr sz="2000"/>
          </a:p>
        </p:txBody>
      </p:sp>
      <p:sp>
        <p:nvSpPr>
          <p:cNvPr id="268" name="Google Shape;268;p24"/>
          <p:cNvSpPr txBox="1"/>
          <p:nvPr/>
        </p:nvSpPr>
        <p:spPr>
          <a:xfrm>
            <a:off x="914400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Trecerea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la un plan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tarifar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superior.</a:t>
            </a:r>
            <a:endParaRPr sz="2000" dirty="0"/>
          </a:p>
        </p:txBody>
      </p:sp>
      <p:pic>
        <p:nvPicPr>
          <p:cNvPr id="269" name="Google Shape;26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99754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4676775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Cross-selling</a:t>
            </a:r>
            <a:endParaRPr sz="2000"/>
          </a:p>
        </p:txBody>
      </p:sp>
      <p:sp>
        <p:nvSpPr>
          <p:cNvPr id="271" name="Google Shape;271;p24"/>
          <p:cNvSpPr txBox="1"/>
          <p:nvPr/>
        </p:nvSpPr>
        <p:spPr>
          <a:xfrm>
            <a:off x="4676775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Vânzarea unor module software complementare.</a:t>
            </a:r>
            <a:endParaRPr sz="2000"/>
          </a:p>
        </p:txBody>
      </p:sp>
      <p:pic>
        <p:nvPicPr>
          <p:cNvPr id="272" name="Google Shape;272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99754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843915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Adoptions</a:t>
            </a:r>
            <a:endParaRPr sz="2000"/>
          </a:p>
        </p:txBody>
      </p:sp>
      <p:sp>
        <p:nvSpPr>
          <p:cNvPr id="274" name="Google Shape;274;p24"/>
          <p:cNvSpPr txBox="1"/>
          <p:nvPr/>
        </p:nvSpPr>
        <p:spPr>
          <a:xfrm>
            <a:off x="8439150" y="3950047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Creșterea numărului de licențe în cadrul aceleiași firme.</a:t>
            </a:r>
            <a:endParaRPr sz="2000"/>
          </a:p>
        </p:txBody>
      </p:sp>
      <p:sp>
        <p:nvSpPr>
          <p:cNvPr id="275" name="Google Shape;275;p24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8.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Dezvoltarea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Relației</a:t>
            </a:r>
            <a:endParaRPr dirty="0"/>
          </a:p>
        </p:txBody>
      </p:sp>
      <p:sp>
        <p:nvSpPr>
          <p:cNvPr id="276" name="Google Shape;276;p2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6334125" y="1778224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Menținerea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client existent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5-7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ieftină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decât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atragerea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unuia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nou.</a:t>
            </a:r>
            <a:endParaRPr sz="2000"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6667500" y="326539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Actualizări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constante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ale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produsului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86" name="Google Shape;286;p25"/>
          <p:cNvSpPr txBox="1"/>
          <p:nvPr/>
        </p:nvSpPr>
        <p:spPr>
          <a:xfrm>
            <a:off x="6667500" y="367371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Ascultarea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activă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(Voice of Customer).</a:t>
            </a:r>
            <a:endParaRPr sz="2000" dirty="0"/>
          </a:p>
        </p:txBody>
      </p:sp>
      <p:sp>
        <p:nvSpPr>
          <p:cNvPr id="287" name="Google Shape;287;p25"/>
          <p:cNvSpPr txBox="1"/>
          <p:nvPr/>
        </p:nvSpPr>
        <p:spPr>
          <a:xfrm>
            <a:off x="6667500" y="411691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Remedierea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rapidă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erorilor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raportate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88" name="Google Shape;288;p25"/>
          <p:cNvSpPr txBox="1"/>
          <p:nvPr/>
        </p:nvSpPr>
        <p:spPr>
          <a:xfrm>
            <a:off x="6667500" y="452523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Sondaje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satisfacție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(NPS).</a:t>
            </a:r>
            <a:endParaRPr sz="2000" dirty="0"/>
          </a:p>
        </p:txBody>
      </p:sp>
      <p:sp>
        <p:nvSpPr>
          <p:cNvPr id="289" name="Google Shape;289;p25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9.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Retenția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Menținerea</a:t>
            </a:r>
            <a:endParaRPr dirty="0"/>
          </a:p>
        </p:txBody>
      </p:sp>
      <p:sp>
        <p:nvSpPr>
          <p:cNvPr id="290" name="Google Shape;290;p2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9754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91440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Bonusuri</a:t>
            </a:r>
            <a:endParaRPr sz="2000"/>
          </a:p>
        </p:txBody>
      </p:sp>
      <p:sp>
        <p:nvSpPr>
          <p:cNvPr id="305" name="Google Shape;305;p26"/>
          <p:cNvSpPr txBox="1"/>
          <p:nvPr/>
        </p:nvSpPr>
        <p:spPr>
          <a:xfrm>
            <a:off x="914400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Acces la funcții Beta înaintea tuturor.</a:t>
            </a:r>
            <a:endParaRPr sz="2000"/>
          </a:p>
        </p:txBody>
      </p:sp>
      <p:pic>
        <p:nvPicPr>
          <p:cNvPr id="306" name="Google Shape;306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99754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4676775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Educație</a:t>
            </a:r>
            <a:endParaRPr sz="2000"/>
          </a:p>
        </p:txBody>
      </p:sp>
      <p:sp>
        <p:nvSpPr>
          <p:cNvPr id="308" name="Google Shape;308;p26"/>
          <p:cNvSpPr txBox="1"/>
          <p:nvPr/>
        </p:nvSpPr>
        <p:spPr>
          <a:xfrm>
            <a:off x="4676775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Webinarii și cursuri gratuite de certificare.</a:t>
            </a:r>
            <a:endParaRPr sz="2000"/>
          </a:p>
        </p:txBody>
      </p:sp>
      <p:pic>
        <p:nvPicPr>
          <p:cNvPr id="309" name="Google Shape;309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9975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843915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Discount</a:t>
            </a:r>
            <a:endParaRPr sz="2000"/>
          </a:p>
        </p:txBody>
      </p:sp>
      <p:sp>
        <p:nvSpPr>
          <p:cNvPr id="311" name="Google Shape;311;p26"/>
          <p:cNvSpPr txBox="1"/>
          <p:nvPr/>
        </p:nvSpPr>
        <p:spPr>
          <a:xfrm>
            <a:off x="8439150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Reduceri la reînnoirea licenței pentru fidelitate.</a:t>
            </a:r>
            <a:endParaRPr sz="2000"/>
          </a:p>
        </p:txBody>
      </p:sp>
      <p:sp>
        <p:nvSpPr>
          <p:cNvPr id="312" name="Google Shape;312;p26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10.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Strategii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Loializare</a:t>
            </a:r>
            <a:endParaRPr dirty="0"/>
          </a:p>
        </p:txBody>
      </p:sp>
      <p:sp>
        <p:nvSpPr>
          <p:cNvPr id="313" name="Google Shape;313;p2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571500" y="1872555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Stadiul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ultim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abordare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devine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ambasador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neplătit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brandului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321" name="Google Shape;32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904875" y="324489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Scrierea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studii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caz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(Case Studies).</a:t>
            </a:r>
            <a:endParaRPr sz="2000" dirty="0"/>
          </a:p>
        </p:txBody>
      </p:sp>
      <p:sp>
        <p:nvSpPr>
          <p:cNvPr id="323" name="Google Shape;323;p27"/>
          <p:cNvSpPr txBox="1"/>
          <p:nvPr/>
        </p:nvSpPr>
        <p:spPr>
          <a:xfrm>
            <a:off x="904875" y="368465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Recomandări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alte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companii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(Referrals).</a:t>
            </a:r>
            <a:endParaRPr sz="2000" dirty="0"/>
          </a:p>
        </p:txBody>
      </p:sp>
      <p:sp>
        <p:nvSpPr>
          <p:cNvPr id="324" name="Google Shape;324;p27"/>
          <p:cNvSpPr txBox="1"/>
          <p:nvPr/>
        </p:nvSpPr>
        <p:spPr>
          <a:xfrm>
            <a:off x="904875" y="4046190"/>
            <a:ext cx="5429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Participarea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ca speaker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evenimentele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vendorului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25" name="Google Shape;325;p27"/>
          <p:cNvSpPr txBox="1"/>
          <p:nvPr/>
        </p:nvSpPr>
        <p:spPr>
          <a:xfrm>
            <a:off x="904875" y="4489600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Recenzii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pozitive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platformele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profil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(G2, Capterra).</a:t>
            </a:r>
            <a:endParaRPr sz="2000" dirty="0"/>
          </a:p>
        </p:txBody>
      </p:sp>
      <p:sp>
        <p:nvSpPr>
          <p:cNvPr id="326" name="Google Shape;326;p27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11.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Clientul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ca Promotor</a:t>
            </a:r>
            <a:endParaRPr dirty="0"/>
          </a:p>
        </p:txBody>
      </p:sp>
      <p:sp>
        <p:nvSpPr>
          <p:cNvPr id="327" name="Google Shape;327;p27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28"/>
          <p:cNvGraphicFramePr/>
          <p:nvPr>
            <p:extLst>
              <p:ext uri="{D42A27DB-BD31-4B8C-83A1-F6EECF244321}">
                <p14:modId xmlns:p14="http://schemas.microsoft.com/office/powerpoint/2010/main" val="2025035314"/>
              </p:ext>
            </p:extLst>
          </p:nvPr>
        </p:nvGraphicFramePr>
        <p:xfrm>
          <a:off x="571500" y="2237482"/>
          <a:ext cx="11049000" cy="3192625"/>
        </p:xfrm>
        <a:graphic>
          <a:graphicData uri="http://schemas.openxmlformats.org/drawingml/2006/table">
            <a:tbl>
              <a:tblPr firstRow="1" bandRow="1">
                <a:noFill/>
                <a:tableStyleId>{05785EAD-6E2B-4D27-A222-3D78DCEE3057}</a:tableStyleId>
              </a:tblPr>
              <a:tblGrid>
                <a:gridCol w="27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Etapa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Acțiune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Principală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Obiectiv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Pre-vânzare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Prospectare și Pitch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Atragerea atenției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Vânzare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Negociere și Closing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Conversia în client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Post-vânzare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Onboarding și Success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Activarea și Valoarea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Maturitate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Retenție și Loializare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LTV </a:t>
                      </a: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și</a:t>
                      </a: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Advocacy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" name="Google Shape;338;p28"/>
          <p:cNvSpPr/>
          <p:nvPr/>
        </p:nvSpPr>
        <p:spPr>
          <a:xfrm>
            <a:off x="571500" y="3535709"/>
            <a:ext cx="2792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3363813" y="3535709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7662862" y="3535709"/>
            <a:ext cx="3957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571500" y="4162425"/>
            <a:ext cx="2792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3363813" y="4162425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7662862" y="4162425"/>
            <a:ext cx="3957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571500" y="4789140"/>
            <a:ext cx="2792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3363813" y="4789140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7662862" y="4789140"/>
            <a:ext cx="3957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571500" y="5415855"/>
            <a:ext cx="2792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3363813" y="5415855"/>
            <a:ext cx="4299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7662862" y="5415855"/>
            <a:ext cx="3957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Rezumatul Fluxului CRM</a:t>
            </a:r>
            <a:endParaRPr/>
          </a:p>
        </p:txBody>
      </p:sp>
      <p:sp>
        <p:nvSpPr>
          <p:cNvPr id="351" name="Google Shape;351;p2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/>
          <p:nvPr/>
        </p:nvSpPr>
        <p:spPr>
          <a:xfrm>
            <a:off x="5619750" y="809625"/>
            <a:ext cx="952500" cy="571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295275" y="1104900"/>
            <a:ext cx="11601450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Secțiunea 2: </a:t>
            </a:r>
            <a:r>
              <a:rPr lang="en-US" sz="51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Tipuri</a:t>
            </a: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de Relații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571500" y="198879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Cum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interacționăm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industria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</a:t>
            </a: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2159"/>
            <a:ext cx="5286375" cy="4063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2154584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0"/>
          <p:cNvSpPr txBox="1"/>
          <p:nvPr/>
        </p:nvSpPr>
        <p:spPr>
          <a:xfrm>
            <a:off x="923925" y="2504142"/>
            <a:ext cx="45815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Cumpărare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punctuală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achiziționează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licență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(Retail)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interacționează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vendorul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caz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probleme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majore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69" name="Google Shape;369;p30"/>
          <p:cNvSpPr txBox="1"/>
          <p:nvPr/>
        </p:nvSpPr>
        <p:spPr>
          <a:xfrm>
            <a:off x="923925" y="3806130"/>
            <a:ext cx="45815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Caracteristici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371" name="Google Shape;371;p30"/>
          <p:cNvSpPr txBox="1"/>
          <p:nvPr/>
        </p:nvSpPr>
        <p:spPr>
          <a:xfrm>
            <a:off x="1257300" y="4131193"/>
            <a:ext cx="4248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Contact minim post-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vânzare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72" name="Google Shape;372;p30"/>
          <p:cNvSpPr txBox="1"/>
          <p:nvPr/>
        </p:nvSpPr>
        <p:spPr>
          <a:xfrm>
            <a:off x="1257300" y="4497347"/>
            <a:ext cx="4248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Focus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preț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funcționalitate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imediată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73" name="Google Shape;373;p30"/>
          <p:cNvSpPr txBox="1"/>
          <p:nvPr/>
        </p:nvSpPr>
        <p:spPr>
          <a:xfrm>
            <a:off x="1257300" y="4907077"/>
            <a:ext cx="4248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Loialitate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scăzută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74" name="Google Shape;374;p3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Relația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Tranzacțională</a:t>
            </a:r>
            <a:endParaRPr dirty="0"/>
          </a:p>
        </p:txBody>
      </p:sp>
      <p:sp>
        <p:nvSpPr>
          <p:cNvPr id="375" name="Google Shape;375;p30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2518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66903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50862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5 sfaturi pentru a imbunatati relatia cu clientul">
            <a:extLst>
              <a:ext uri="{FF2B5EF4-FFF2-40B4-BE49-F238E27FC236}">
                <a16:creationId xmlns:a16="http://schemas.microsoft.com/office/drawing/2014/main" id="{CD87DD03-2A1E-E0BF-8007-2242B60E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457" y="1949419"/>
            <a:ext cx="4710793" cy="376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1"/>
          <p:cNvSpPr txBox="1"/>
          <p:nvPr/>
        </p:nvSpPr>
        <p:spPr>
          <a:xfrm>
            <a:off x="6334125" y="1717612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Specifică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modelului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SaaS (Software as a Service).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Relația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continuă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bazează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reînnoire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87" name="Google Shape;387;p31"/>
          <p:cNvSpPr txBox="1"/>
          <p:nvPr/>
        </p:nvSpPr>
        <p:spPr>
          <a:xfrm>
            <a:off x="6667500" y="324489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Plată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recurentă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lunară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anuală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388" name="Google Shape;388;p31"/>
          <p:cNvSpPr txBox="1"/>
          <p:nvPr/>
        </p:nvSpPr>
        <p:spPr>
          <a:xfrm>
            <a:off x="6667500" y="368809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Vendorul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trebuie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demonstreze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valoarea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lunar.</a:t>
            </a:r>
            <a:endParaRPr sz="2000" dirty="0"/>
          </a:p>
        </p:txBody>
      </p:sp>
      <p:sp>
        <p:nvSpPr>
          <p:cNvPr id="389" name="Google Shape;389;p31"/>
          <p:cNvSpPr txBox="1"/>
          <p:nvPr/>
        </p:nvSpPr>
        <p:spPr>
          <a:xfrm>
            <a:off x="6667500" y="410631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Interacțiune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digitală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frecventă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90" name="Google Shape;390;p31"/>
          <p:cNvSpPr txBox="1"/>
          <p:nvPr/>
        </p:nvSpPr>
        <p:spPr>
          <a:xfrm>
            <a:off x="6667500" y="454951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Update-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automate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asistență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inclusă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391" name="Google Shape;391;p31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bazată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pe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Abonament</a:t>
            </a:r>
            <a:endParaRPr dirty="0"/>
          </a:p>
        </p:txBody>
      </p:sp>
      <p:sp>
        <p:nvSpPr>
          <p:cNvPr id="392" name="Google Shape;392;p3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2"/>
          <p:cNvSpPr txBox="1"/>
          <p:nvPr/>
        </p:nvSpPr>
        <p:spPr>
          <a:xfrm>
            <a:off x="571500" y="1887145"/>
            <a:ext cx="52863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Nivelul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cel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înalt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cooperare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două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firme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 Software-ul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devine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integrantă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din business-ul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05" name="Google Shape;405;p32"/>
          <p:cNvSpPr txBox="1"/>
          <p:nvPr/>
        </p:nvSpPr>
        <p:spPr>
          <a:xfrm>
            <a:off x="904875" y="326539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Integrare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adâncă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personalizată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06" name="Google Shape;406;p32"/>
          <p:cNvSpPr txBox="1"/>
          <p:nvPr/>
        </p:nvSpPr>
        <p:spPr>
          <a:xfrm>
            <a:off x="904875" y="3658300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Dezvoltare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comună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funcționalități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07" name="Google Shape;407;p32"/>
          <p:cNvSpPr txBox="1"/>
          <p:nvPr/>
        </p:nvSpPr>
        <p:spPr>
          <a:xfrm>
            <a:off x="904875" y="410149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Obiective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business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partajate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08" name="Google Shape;408;p32"/>
          <p:cNvSpPr txBox="1"/>
          <p:nvPr/>
        </p:nvSpPr>
        <p:spPr>
          <a:xfrm>
            <a:off x="904875" y="459417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Contracte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multianuale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consultanță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dedicată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09" name="Google Shape;409;p32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Parteneriatul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Strategic</a:t>
            </a:r>
            <a:endParaRPr dirty="0"/>
          </a:p>
        </p:txBody>
      </p:sp>
      <p:sp>
        <p:nvSpPr>
          <p:cNvPr id="410" name="Google Shape;410;p32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CC7FA2-99DF-AA75-0435-19FE70A3A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8075" y="1474936"/>
            <a:ext cx="4292995" cy="42929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3"/>
          <p:cNvSpPr txBox="1"/>
          <p:nvPr/>
        </p:nvSpPr>
        <p:spPr>
          <a:xfrm>
            <a:off x="6334125" y="1902281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Automatizare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maximă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descurcă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singur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folosind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resursele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puse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dispoziție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23" name="Google Shape;423;p33"/>
          <p:cNvSpPr txBox="1"/>
          <p:nvPr/>
        </p:nvSpPr>
        <p:spPr>
          <a:xfrm>
            <a:off x="6667500" y="324489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Baze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cunoștințe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(Help Center).</a:t>
            </a:r>
            <a:endParaRPr sz="2000" dirty="0"/>
          </a:p>
        </p:txBody>
      </p:sp>
      <p:sp>
        <p:nvSpPr>
          <p:cNvPr id="424" name="Google Shape;424;p33"/>
          <p:cNvSpPr txBox="1"/>
          <p:nvPr/>
        </p:nvSpPr>
        <p:spPr>
          <a:xfrm>
            <a:off x="6667500" y="370859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Tutoriale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video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cursuri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online.</a:t>
            </a:r>
            <a:endParaRPr sz="2000" dirty="0"/>
          </a:p>
        </p:txBody>
      </p:sp>
      <p:sp>
        <p:nvSpPr>
          <p:cNvPr id="425" name="Google Shape;425;p33"/>
          <p:cNvSpPr txBox="1"/>
          <p:nvPr/>
        </p:nvSpPr>
        <p:spPr>
          <a:xfrm>
            <a:off x="6667500" y="414430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Chatbot-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bazate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pe AI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asistență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26" name="Google Shape;426;p33"/>
          <p:cNvSpPr txBox="1"/>
          <p:nvPr/>
        </p:nvSpPr>
        <p:spPr>
          <a:xfrm>
            <a:off x="6667500" y="4558463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Cost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redus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deservire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vendor.</a:t>
            </a:r>
            <a:endParaRPr sz="2000" dirty="0"/>
          </a:p>
        </p:txBody>
      </p:sp>
      <p:sp>
        <p:nvSpPr>
          <p:cNvPr id="427" name="Google Shape;427;p33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de tip Self-Service</a:t>
            </a:r>
            <a:endParaRPr dirty="0"/>
          </a:p>
        </p:txBody>
      </p:sp>
      <p:sp>
        <p:nvSpPr>
          <p:cNvPr id="428" name="Google Shape;428;p33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919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SelfPay, liderul pieței de stații de plată self-service din România, și-a  triplat profitul net în primul semestru din 2024 față de S1 2023 | SelfPay">
            <a:extLst>
              <a:ext uri="{FF2B5EF4-FFF2-40B4-BE49-F238E27FC236}">
                <a16:creationId xmlns:a16="http://schemas.microsoft.com/office/drawing/2014/main" id="{3284F76C-8614-A94E-26F2-125958C14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902281"/>
            <a:ext cx="5367337" cy="32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4646"/>
            <a:ext cx="3524250" cy="2624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54647"/>
            <a:ext cx="3524250" cy="262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54646"/>
            <a:ext cx="3524250" cy="262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975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4"/>
          <p:cNvSpPr txBox="1"/>
          <p:nvPr/>
        </p:nvSpPr>
        <p:spPr>
          <a:xfrm>
            <a:off x="91440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Personalizat</a:t>
            </a:r>
            <a:endParaRPr sz="2000"/>
          </a:p>
        </p:txBody>
      </p:sp>
      <p:sp>
        <p:nvSpPr>
          <p:cNvPr id="443" name="Google Shape;443;p34"/>
          <p:cNvSpPr txBox="1"/>
          <p:nvPr/>
        </p:nvSpPr>
        <p:spPr>
          <a:xfrm>
            <a:off x="914399" y="3950047"/>
            <a:ext cx="298037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punct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unic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contact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client (Account Manager).</a:t>
            </a:r>
            <a:endParaRPr sz="2000" dirty="0"/>
          </a:p>
        </p:txBody>
      </p:sp>
      <p:pic>
        <p:nvPicPr>
          <p:cNvPr id="444" name="Google Shape;444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99754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4"/>
          <p:cNvSpPr txBox="1"/>
          <p:nvPr/>
        </p:nvSpPr>
        <p:spPr>
          <a:xfrm>
            <a:off x="4676775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Prioritate</a:t>
            </a:r>
            <a:endParaRPr sz="2000"/>
          </a:p>
        </p:txBody>
      </p:sp>
      <p:sp>
        <p:nvSpPr>
          <p:cNvPr id="446" name="Google Shape;446;p34"/>
          <p:cNvSpPr txBox="1"/>
          <p:nvPr/>
        </p:nvSpPr>
        <p:spPr>
          <a:xfrm>
            <a:off x="4676775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Timp de răspuns garantat prin SLA strict.</a:t>
            </a:r>
            <a:endParaRPr sz="2000"/>
          </a:p>
        </p:txBody>
      </p:sp>
      <p:pic>
        <p:nvPicPr>
          <p:cNvPr id="447" name="Google Shape;447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99754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4"/>
          <p:cNvSpPr txBox="1"/>
          <p:nvPr/>
        </p:nvSpPr>
        <p:spPr>
          <a:xfrm>
            <a:off x="843915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Expertiză</a:t>
            </a:r>
            <a:endParaRPr sz="2000"/>
          </a:p>
        </p:txBody>
      </p:sp>
      <p:sp>
        <p:nvSpPr>
          <p:cNvPr id="449" name="Google Shape;449;p34"/>
          <p:cNvSpPr txBox="1"/>
          <p:nvPr/>
        </p:nvSpPr>
        <p:spPr>
          <a:xfrm>
            <a:off x="8439150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Acces direct la inginerii de sistem sau arhitecți.</a:t>
            </a:r>
            <a:endParaRPr sz="2000"/>
          </a:p>
        </p:txBody>
      </p:sp>
      <p:sp>
        <p:nvSpPr>
          <p:cNvPr id="450" name="Google Shape;450;p34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cu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Asistență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Dedicată</a:t>
            </a:r>
            <a:endParaRPr dirty="0"/>
          </a:p>
        </p:txBody>
      </p:sp>
      <p:sp>
        <p:nvSpPr>
          <p:cNvPr id="451" name="Google Shape;451;p3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3562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 txBox="1"/>
          <p:nvPr/>
        </p:nvSpPr>
        <p:spPr>
          <a:xfrm>
            <a:off x="6334125" y="1833562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Utilizatorii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ajută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creând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ecosistem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valoros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jurul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produsului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software.</a:t>
            </a:r>
            <a:endParaRPr sz="2000" dirty="0"/>
          </a:p>
        </p:txBody>
      </p:sp>
      <p:sp>
        <p:nvSpPr>
          <p:cNvPr id="460" name="Google Shape;460;p35"/>
          <p:cNvSpPr txBox="1"/>
          <p:nvPr/>
        </p:nvSpPr>
        <p:spPr>
          <a:xfrm>
            <a:off x="6667500" y="327577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Forumuri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discuții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grupuri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social media.</a:t>
            </a:r>
            <a:endParaRPr sz="2000" dirty="0"/>
          </a:p>
        </p:txBody>
      </p:sp>
      <p:sp>
        <p:nvSpPr>
          <p:cNvPr id="461" name="Google Shape;461;p35"/>
          <p:cNvSpPr txBox="1"/>
          <p:nvPr/>
        </p:nvSpPr>
        <p:spPr>
          <a:xfrm>
            <a:off x="6667500" y="368613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Crowdsourcing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idei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noi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bug reporting.</a:t>
            </a:r>
            <a:endParaRPr sz="2000" dirty="0"/>
          </a:p>
        </p:txBody>
      </p:sp>
      <p:sp>
        <p:nvSpPr>
          <p:cNvPr id="462" name="Google Shape;462;p35"/>
          <p:cNvSpPr txBox="1"/>
          <p:nvPr/>
        </p:nvSpPr>
        <p:spPr>
          <a:xfrm>
            <a:off x="6667500" y="4046190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Sentiment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apartenență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la o "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tribă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tehnologică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63" name="Google Shape;463;p35"/>
          <p:cNvSpPr txBox="1"/>
          <p:nvPr/>
        </p:nvSpPr>
        <p:spPr>
          <a:xfrm>
            <a:off x="6667500" y="481660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Esențială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software-ul Open Source.</a:t>
            </a:r>
            <a:endParaRPr sz="2000" dirty="0"/>
          </a:p>
        </p:txBody>
      </p:sp>
      <p:sp>
        <p:nvSpPr>
          <p:cNvPr id="464" name="Google Shape;464;p35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bazată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pe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Comunitate</a:t>
            </a:r>
            <a:endParaRPr dirty="0"/>
          </a:p>
        </p:txBody>
      </p:sp>
      <p:sp>
        <p:nvSpPr>
          <p:cNvPr id="465" name="Google Shape;465;p3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2747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9682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 descr="O relatie buna cu profesorul copilului tău - Totul Despre Mame">
            <a:extLst>
              <a:ext uri="{FF2B5EF4-FFF2-40B4-BE49-F238E27FC236}">
                <a16:creationId xmlns:a16="http://schemas.microsoft.com/office/drawing/2014/main" id="{6E954867-0922-358A-F54F-B1896631D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51" y="1981093"/>
            <a:ext cx="4955924" cy="328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11049000" cy="1322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6"/>
          <p:cNvSpPr txBox="1"/>
          <p:nvPr/>
        </p:nvSpPr>
        <p:spPr>
          <a:xfrm>
            <a:off x="923925" y="2643187"/>
            <a:ext cx="10344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Relația trece de la "Vânzător-Cumpărător" la "Colaboratori".</a:t>
            </a:r>
            <a:endParaRPr sz="2000"/>
          </a:p>
        </p:txBody>
      </p:sp>
      <p:sp>
        <p:nvSpPr>
          <p:cNvPr id="477" name="Google Shape;477;p36"/>
          <p:cNvSpPr txBox="1"/>
          <p:nvPr/>
        </p:nvSpPr>
        <p:spPr>
          <a:xfrm>
            <a:off x="904875" y="3567701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influențează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direct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foaia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parcurs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(Roadmap)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produsului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78" name="Google Shape;478;p36"/>
          <p:cNvSpPr txBox="1"/>
          <p:nvPr/>
        </p:nvSpPr>
        <p:spPr>
          <a:xfrm>
            <a:off x="904875" y="3984866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Testare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Beta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activă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utilizatorii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fideli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79" name="Google Shape;479;p36"/>
          <p:cNvSpPr txBox="1"/>
          <p:nvPr/>
        </p:nvSpPr>
        <p:spPr>
          <a:xfrm>
            <a:off x="904875" y="4481732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Inovare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deschisă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(Open Innovation).</a:t>
            </a:r>
            <a:endParaRPr sz="2000" dirty="0"/>
          </a:p>
        </p:txBody>
      </p:sp>
      <p:sp>
        <p:nvSpPr>
          <p:cNvPr id="480" name="Google Shape;480;p36"/>
          <p:cNvSpPr txBox="1"/>
          <p:nvPr/>
        </p:nvSpPr>
        <p:spPr>
          <a:xfrm>
            <a:off x="904875" y="4849056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simte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co-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proprietar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soluției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81" name="Google Shape;481;p36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Co-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crearea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cu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Utilizatorii</a:t>
            </a:r>
            <a:endParaRPr dirty="0"/>
          </a:p>
        </p:txBody>
      </p:sp>
      <p:sp>
        <p:nvSpPr>
          <p:cNvPr id="482" name="Google Shape;482;p3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71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4426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614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7859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2" name="Google Shape;492;p37"/>
          <p:cNvGraphicFramePr/>
          <p:nvPr>
            <p:extLst>
              <p:ext uri="{D42A27DB-BD31-4B8C-83A1-F6EECF244321}">
                <p14:modId xmlns:p14="http://schemas.microsoft.com/office/powerpoint/2010/main" val="4268417980"/>
              </p:ext>
            </p:extLst>
          </p:nvPr>
        </p:nvGraphicFramePr>
        <p:xfrm>
          <a:off x="571500" y="2237482"/>
          <a:ext cx="11049000" cy="3192625"/>
        </p:xfrm>
        <a:graphic>
          <a:graphicData uri="http://schemas.openxmlformats.org/drawingml/2006/table">
            <a:tbl>
              <a:tblPr firstRow="1" bandRow="1">
                <a:noFill/>
                <a:tableStyleId>{05785EAD-6E2B-4D27-A222-3D78DCEE3057}</a:tableStyleId>
              </a:tblPr>
              <a:tblGrid>
                <a:gridCol w="306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Relație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Frecvență Contact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Nivel de Cost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Loialitate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Tranzacțională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Rară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Scăzut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Mică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Auto-servire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Digitală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Minim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SaaS / Abonament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Moderată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Parteneriat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Zilnică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Ridicat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Maximă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Google Shape;493;p37"/>
          <p:cNvSpPr/>
          <p:nvPr/>
        </p:nvSpPr>
        <p:spPr>
          <a:xfrm>
            <a:off x="571500" y="3535709"/>
            <a:ext cx="3060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3632448" y="3535709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7004298" y="3535709"/>
            <a:ext cx="2586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9590484" y="3535709"/>
            <a:ext cx="2030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571500" y="4162425"/>
            <a:ext cx="3060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7"/>
          <p:cNvSpPr/>
          <p:nvPr/>
        </p:nvSpPr>
        <p:spPr>
          <a:xfrm>
            <a:off x="3632448" y="416242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7"/>
          <p:cNvSpPr/>
          <p:nvPr/>
        </p:nvSpPr>
        <p:spPr>
          <a:xfrm>
            <a:off x="7004298" y="4162425"/>
            <a:ext cx="2586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7"/>
          <p:cNvSpPr/>
          <p:nvPr/>
        </p:nvSpPr>
        <p:spPr>
          <a:xfrm>
            <a:off x="9590484" y="4162425"/>
            <a:ext cx="2030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7"/>
          <p:cNvSpPr/>
          <p:nvPr/>
        </p:nvSpPr>
        <p:spPr>
          <a:xfrm>
            <a:off x="571500" y="4789140"/>
            <a:ext cx="3060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3632448" y="4789140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7004298" y="4789140"/>
            <a:ext cx="2586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7"/>
          <p:cNvSpPr/>
          <p:nvPr/>
        </p:nvSpPr>
        <p:spPr>
          <a:xfrm>
            <a:off x="9590484" y="4789140"/>
            <a:ext cx="2030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7"/>
          <p:cNvSpPr/>
          <p:nvPr/>
        </p:nvSpPr>
        <p:spPr>
          <a:xfrm>
            <a:off x="571500" y="5415855"/>
            <a:ext cx="3060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7"/>
          <p:cNvSpPr/>
          <p:nvPr/>
        </p:nvSpPr>
        <p:spPr>
          <a:xfrm>
            <a:off x="3632448" y="541585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7"/>
          <p:cNvSpPr/>
          <p:nvPr/>
        </p:nvSpPr>
        <p:spPr>
          <a:xfrm>
            <a:off x="7004298" y="5415855"/>
            <a:ext cx="25861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7"/>
          <p:cNvSpPr/>
          <p:nvPr/>
        </p:nvSpPr>
        <p:spPr>
          <a:xfrm>
            <a:off x="9590484" y="5415855"/>
            <a:ext cx="2030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Matricea Intensității Relației</a:t>
            </a:r>
            <a:endParaRPr/>
          </a:p>
        </p:txBody>
      </p:sp>
      <p:sp>
        <p:nvSpPr>
          <p:cNvPr id="510" name="Google Shape;510;p37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8"/>
          <p:cNvSpPr txBox="1"/>
          <p:nvPr/>
        </p:nvSpPr>
        <p:spPr>
          <a:xfrm>
            <a:off x="571500" y="1960773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Provocarea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CRM-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modern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rămână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uman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într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-o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lume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automatizată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software.</a:t>
            </a:r>
            <a:endParaRPr sz="2000" dirty="0"/>
          </a:p>
        </p:txBody>
      </p:sp>
      <p:sp>
        <p:nvSpPr>
          <p:cNvPr id="519" name="Google Shape;519;p38"/>
          <p:cNvSpPr txBox="1"/>
          <p:nvPr/>
        </p:nvSpPr>
        <p:spPr>
          <a:xfrm>
            <a:off x="904875" y="336235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Echilibrul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Chatbot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Operator Uman.</a:t>
            </a:r>
            <a:endParaRPr sz="2000" dirty="0"/>
          </a:p>
        </p:txBody>
      </p:sp>
      <p:sp>
        <p:nvSpPr>
          <p:cNvPr id="520" name="Google Shape;520;p38"/>
          <p:cNvSpPr txBox="1"/>
          <p:nvPr/>
        </p:nvSpPr>
        <p:spPr>
          <a:xfrm>
            <a:off x="904875" y="3857625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Personalizarea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mesajelor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automate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date (Big Data).</a:t>
            </a:r>
            <a:endParaRPr sz="2000" dirty="0"/>
          </a:p>
        </p:txBody>
      </p:sp>
      <p:sp>
        <p:nvSpPr>
          <p:cNvPr id="521" name="Google Shape;521;p38"/>
          <p:cNvSpPr txBox="1"/>
          <p:nvPr/>
        </p:nvSpPr>
        <p:spPr>
          <a:xfrm>
            <a:off x="904875" y="4560843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Menținerea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empatiei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interacțiunile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digitale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522" name="Google Shape;522;p38"/>
          <p:cNvSpPr txBox="1"/>
          <p:nvPr/>
        </p:nvSpPr>
        <p:spPr>
          <a:xfrm>
            <a:off x="904875" y="5004041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Importanța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vizitelor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fizice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punctele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cheie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523" name="Google Shape;523;p38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Digitalizarea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Relația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Umană</a:t>
            </a:r>
            <a:endParaRPr dirty="0"/>
          </a:p>
        </p:txBody>
      </p:sp>
      <p:sp>
        <p:nvSpPr>
          <p:cNvPr id="524" name="Google Shape;524;p3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404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576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3206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492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8" name="Picture 4" descr="Digitalizarea afacerii: ce înseamnă și care sunt avantajele? - Pluriva">
            <a:extLst>
              <a:ext uri="{FF2B5EF4-FFF2-40B4-BE49-F238E27FC236}">
                <a16:creationId xmlns:a16="http://schemas.microsoft.com/office/drawing/2014/main" id="{32759978-CC47-A596-6E51-A8682782E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767" y="2151576"/>
            <a:ext cx="5578341" cy="299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54647"/>
            <a:ext cx="3524250" cy="235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975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9"/>
          <p:cNvSpPr txBox="1"/>
          <p:nvPr/>
        </p:nvSpPr>
        <p:spPr>
          <a:xfrm>
            <a:off x="914400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Erori Tehnice</a:t>
            </a:r>
            <a:endParaRPr sz="2000"/>
          </a:p>
        </p:txBody>
      </p:sp>
      <p:sp>
        <p:nvSpPr>
          <p:cNvPr id="539" name="Google Shape;539;p39"/>
          <p:cNvSpPr txBox="1"/>
          <p:nvPr/>
        </p:nvSpPr>
        <p:spPr>
          <a:xfrm>
            <a:off x="914400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Bug-urile critice pot distruge încrederea în câteva ore.</a:t>
            </a:r>
            <a:endParaRPr sz="2000"/>
          </a:p>
        </p:txBody>
      </p:sp>
      <p:pic>
        <p:nvPicPr>
          <p:cNvPr id="540" name="Google Shape;540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99754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9"/>
          <p:cNvSpPr txBox="1"/>
          <p:nvPr/>
        </p:nvSpPr>
        <p:spPr>
          <a:xfrm>
            <a:off x="4676775" y="34833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Competiția</a:t>
            </a:r>
            <a:endParaRPr sz="2000"/>
          </a:p>
        </p:txBody>
      </p:sp>
      <p:sp>
        <p:nvSpPr>
          <p:cNvPr id="542" name="Google Shape;542;p39"/>
          <p:cNvSpPr txBox="1"/>
          <p:nvPr/>
        </p:nvSpPr>
        <p:spPr>
          <a:xfrm>
            <a:off x="4676775" y="395004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Migrarea ușoară a clienților către soluții mai ieftine.</a:t>
            </a:r>
            <a:endParaRPr sz="2000"/>
          </a:p>
        </p:txBody>
      </p:sp>
      <p:sp>
        <p:nvSpPr>
          <p:cNvPr id="543" name="Google Shape;543;p39"/>
          <p:cNvSpPr txBox="1"/>
          <p:nvPr/>
        </p:nvSpPr>
        <p:spPr>
          <a:xfrm>
            <a:off x="8439150" y="3178522"/>
            <a:ext cx="29803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Comunicarea</a:t>
            </a:r>
            <a:endParaRPr sz="2000"/>
          </a:p>
        </p:txBody>
      </p:sp>
      <p:sp>
        <p:nvSpPr>
          <p:cNvPr id="544" name="Google Shape;544;p39"/>
          <p:cNvSpPr txBox="1"/>
          <p:nvPr/>
        </p:nvSpPr>
        <p:spPr>
          <a:xfrm>
            <a:off x="8439150" y="3645247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Lipsa de transparență în caz de incidente de securitate.</a:t>
            </a:r>
            <a:endParaRPr sz="2000"/>
          </a:p>
        </p:txBody>
      </p:sp>
      <p:sp>
        <p:nvSpPr>
          <p:cNvPr id="545" name="Google Shape;545;p39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Provocări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în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Menținere</a:t>
            </a:r>
            <a:endParaRPr dirty="0"/>
          </a:p>
        </p:txBody>
      </p:sp>
      <p:sp>
        <p:nvSpPr>
          <p:cNvPr id="546" name="Google Shape;546;p3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0"/>
          <p:cNvSpPr txBox="1"/>
          <p:nvPr/>
        </p:nvSpPr>
        <p:spPr>
          <a:xfrm>
            <a:off x="904875" y="2621917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proactivi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reactivi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553" name="Google Shape;553;p40"/>
          <p:cNvSpPr txBox="1"/>
          <p:nvPr/>
        </p:nvSpPr>
        <p:spPr>
          <a:xfrm>
            <a:off x="904875" y="3076878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ascultăm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mult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decât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vindem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554" name="Google Shape;554;p40"/>
          <p:cNvSpPr txBox="1"/>
          <p:nvPr/>
        </p:nvSpPr>
        <p:spPr>
          <a:xfrm>
            <a:off x="904875" y="3494043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livrăm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mereu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ceea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promis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etapa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pitch.</a:t>
            </a:r>
            <a:endParaRPr sz="2000" dirty="0"/>
          </a:p>
        </p:txBody>
      </p:sp>
      <p:sp>
        <p:nvSpPr>
          <p:cNvPr id="555" name="Google Shape;555;p40"/>
          <p:cNvSpPr txBox="1"/>
          <p:nvPr/>
        </p:nvSpPr>
        <p:spPr>
          <a:xfrm>
            <a:off x="904875" y="3905628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tratăm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client ca pe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partener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 curs lung.</a:t>
            </a:r>
            <a:endParaRPr sz="2000" dirty="0"/>
          </a:p>
        </p:txBody>
      </p:sp>
      <p:sp>
        <p:nvSpPr>
          <p:cNvPr id="556" name="Google Shape;556;p40"/>
          <p:cNvSpPr txBox="1"/>
          <p:nvPr/>
        </p:nvSpPr>
        <p:spPr>
          <a:xfrm>
            <a:off x="904875" y="4291180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investim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succesul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,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încasări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557" name="Google Shape;557;p4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Bune Practici în Management</a:t>
            </a:r>
            <a:endParaRPr/>
          </a:p>
        </p:txBody>
      </p:sp>
      <p:sp>
        <p:nvSpPr>
          <p:cNvPr id="558" name="Google Shape;558;p40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0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79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251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4232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5948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2"/>
          <p:cNvSpPr txBox="1"/>
          <p:nvPr/>
        </p:nvSpPr>
        <p:spPr>
          <a:xfrm>
            <a:off x="295275" y="571500"/>
            <a:ext cx="11601450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Întrebări și </a:t>
            </a:r>
            <a:r>
              <a:rPr lang="en-US" sz="5100" b="1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Discuții</a:t>
            </a:r>
            <a:endParaRPr/>
          </a:p>
        </p:txBody>
      </p:sp>
      <p:sp>
        <p:nvSpPr>
          <p:cNvPr id="587" name="Google Shape;587;p42"/>
          <p:cNvSpPr txBox="1"/>
          <p:nvPr/>
        </p:nvSpPr>
        <p:spPr>
          <a:xfrm>
            <a:off x="571500" y="1362997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Vă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mulțumesc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atenție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sz="2400" dirty="0"/>
          </a:p>
        </p:txBody>
      </p:sp>
      <p:sp>
        <p:nvSpPr>
          <p:cNvPr id="588" name="Google Shape;588;p42"/>
          <p:cNvSpPr/>
          <p:nvPr/>
        </p:nvSpPr>
        <p:spPr>
          <a:xfrm>
            <a:off x="5619750" y="1967805"/>
            <a:ext cx="952500" cy="571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1FFFCE-CE11-BFA7-B14C-B81C6E6F6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275" y="1699245"/>
            <a:ext cx="4743450" cy="474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1120</Words>
  <Application>Microsoft Office PowerPoint</Application>
  <PresentationFormat>Widescreen</PresentationFormat>
  <Paragraphs>191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DM Sans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51</cp:revision>
  <dcterms:modified xsi:type="dcterms:W3CDTF">2026-02-02T11:02:42Z</dcterms:modified>
</cp:coreProperties>
</file>