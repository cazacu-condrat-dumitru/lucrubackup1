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CD3C8A-67F8-411B-82D5-E560E486AE9A}">
  <a:tblStyle styleId="{4ECD3C8A-67F8-411B-82D5-E560E486AE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467100"/>
            <a:ext cx="762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53340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Managementul Relațiilor cu Clienții (CRM)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7432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Lecția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Noțiuni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Fundamentale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Etapele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Implementării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Complexitatea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Proiectelor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3467100"/>
            <a:ext cx="762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800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7462"/>
            <a:ext cx="3492549" cy="3147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57462"/>
            <a:ext cx="3492549" cy="3147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57462"/>
            <a:ext cx="3492549" cy="314789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Concepte de Bază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043362"/>
            <a:ext cx="320694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Înțelegerea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 ca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instrument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tehnologic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business.</a:t>
            </a:r>
            <a:endParaRPr sz="20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4645074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Ciclul de Viață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5074" y="4043362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etapelor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cheie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tip CRM.</a:t>
            </a:r>
            <a:endParaRPr sz="18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423374" y="35004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Complexitate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374" y="4043362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factorilor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determină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eșecul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implementărilor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CRM.</a:t>
            </a:r>
            <a:endParaRPr sz="1800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908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908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Obiectivele Lecției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86062"/>
            <a:ext cx="5286375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86062"/>
            <a:ext cx="52863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62025" y="31765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Definiția Strategică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3719512"/>
            <a:ext cx="48006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filosofie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business care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plasează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activității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maximiza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loialitatea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profitul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termen lung.</a:t>
            </a:r>
            <a:endParaRPr sz="1800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6724650" y="317658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Definiția Tehnologică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24650" y="3719512"/>
            <a:ext cx="4730591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platformă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software care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interacțiunile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marketing,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suport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singură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date.</a:t>
            </a:r>
            <a:endParaRPr sz="18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Ce înseamnă cu adevărat CRM?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21669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CRM ca Strategie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2166937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824163"/>
            <a:ext cx="4953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Adoptarea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presupune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schimbare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paradigmă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de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orientarea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tranzacție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punctuală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orientarea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relație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4433968"/>
            <a:ext cx="49530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Obiectivul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experiențe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personalizate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client,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transformând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brute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acțiuni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comerciale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valoroase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1762125" y="284025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Managementul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Contactelor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date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prospecți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1762125" y="3255748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Automatizarea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Vânzărilor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Urmărirea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etapelor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(pipeline).</a:t>
            </a:r>
            <a:endParaRPr sz="18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1762125" y="3650614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Managementul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Marketingului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Segmentarea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campanii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personalizate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762125" y="404040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Suport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Service: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tichetelor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satisfacției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(NPS).</a:t>
            </a:r>
            <a:endParaRPr sz="1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1762125" y="4426882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Analiză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Raportare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Generarea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insight-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istorice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9384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3385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7385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1386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5386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Funcțiile Principale ale CRM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2088416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depinde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echilibrul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elemente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fundamentale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800"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238250" y="2957911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Oamenii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Cultura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organizațională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adoptarea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către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utilizatori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1238250" y="3772979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Procesele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Fluxuri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înainte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1238250" y="4562475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Tehnologia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Software-ul ales care trebuie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susțină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business-ul.</a:t>
            </a:r>
            <a:endParaRPr sz="1800" dirty="0"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2813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59581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Cei Trei Piloni ai CRM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1312"/>
            <a:ext cx="3492549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81312"/>
            <a:ext cx="3492549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81312"/>
            <a:ext cx="3492549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66775" y="31765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Operațional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66775" y="3719512"/>
            <a:ext cx="318774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marketing. Este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fața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angajați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4645074" y="31765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Analitic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645074" y="3719512"/>
            <a:ext cx="30470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identifica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tendințe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comportamente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423374" y="31765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Colaborativ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423374" y="3719512"/>
            <a:ext cx="319712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Facilitează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partajarea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informațiilor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departamente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vânzări-suport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800"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Tipologii de Sisteme CRM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334125" y="1797844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Sursa Unică de </a:t>
            </a: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Adevăr</a:t>
            </a:r>
            <a:endParaRPr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6334125" y="2754004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elimină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insulele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departament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deține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diferite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despre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același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client.</a:t>
            </a:r>
            <a:endParaRPr sz="180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6334125" y="4413817"/>
            <a:ext cx="52863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vedere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360 de grade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asupra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esențială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companiile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software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Centralizarea Datelor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1552575" y="3162300"/>
            <a:ext cx="2362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29%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552575" y="4305300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Creșterea Vânzărilor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76925" y="2324100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Eficiență</a:t>
            </a:r>
            <a:r>
              <a:rPr lang="en-US" sz="2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Măsurabilă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5876925" y="2866903"/>
            <a:ext cx="47625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corectă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 duce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scurtarea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ciclului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creșterea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retenției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5876925" y="4176712"/>
            <a:ext cx="476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dolar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investit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returna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8.71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dolari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profit.</a:t>
            </a:r>
            <a:endParaRPr sz="1800"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Beneficii și Impact (ROI)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105150"/>
            <a:ext cx="762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2095500" y="895350"/>
            <a:ext cx="8001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Etapele unui Proiect CRM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619750" y="2038350"/>
            <a:ext cx="952500" cy="571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2286000" y="238125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viziunea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zilnică</a:t>
            </a:r>
            <a:endParaRPr dirty="0"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3105150"/>
            <a:ext cx="762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2295525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Niciun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software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repara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proastă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Pregătirea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include:</a:t>
            </a:r>
            <a:endParaRPr sz="1800" dirty="0"/>
          </a:p>
        </p:txBody>
      </p:sp>
      <p:pic>
        <p:nvPicPr>
          <p:cNvPr id="221" name="Google Shape;22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238250" y="3342113"/>
            <a:ext cx="50387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obiectivelor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business (ex: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creșterea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retenției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10%).</a:t>
            </a:r>
            <a:endParaRPr sz="1800" dirty="0"/>
          </a:p>
        </p:txBody>
      </p:sp>
      <p:sp>
        <p:nvSpPr>
          <p:cNvPr id="223" name="Google Shape;223;p23"/>
          <p:cNvSpPr txBox="1"/>
          <p:nvPr/>
        </p:nvSpPr>
        <p:spPr>
          <a:xfrm>
            <a:off x="1238250" y="4162425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echipei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(stakeholders).</a:t>
            </a:r>
            <a:endParaRPr sz="1800"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1238250" y="4562475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Stabilirea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bugetului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calendarului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538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1957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4595812"/>
            <a:ext cx="1238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1: Pregătire și Strategie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2800"/>
            <a:ext cx="349254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352800"/>
            <a:ext cx="349254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352800"/>
            <a:ext cx="3492549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1808488" y="1841926"/>
            <a:ext cx="930844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Alegerea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opțiuni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piață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(Salesforce, HubSpot, Zoho, Microsoft Dynamics) 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pe:</a:t>
            </a:r>
            <a:endParaRPr sz="2000"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866775" y="36480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Scalabilitate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866775" y="4191000"/>
            <a:ext cx="29019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să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crească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odată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afacerea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2000" dirty="0"/>
          </a:p>
        </p:txBody>
      </p:sp>
      <p:sp>
        <p:nvSpPr>
          <p:cNvPr id="241" name="Google Shape;241;p24"/>
          <p:cNvSpPr txBox="1"/>
          <p:nvPr/>
        </p:nvSpPr>
        <p:spPr>
          <a:xfrm>
            <a:off x="4645074" y="36480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Integrare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645074" y="4191000"/>
            <a:ext cx="29019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conectează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aplicațiile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existente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(Email, ERP)?</a:t>
            </a:r>
            <a:endParaRPr sz="2000" dirty="0"/>
          </a:p>
        </p:txBody>
      </p:sp>
      <p:sp>
        <p:nvSpPr>
          <p:cNvPr id="243" name="Google Shape;243;p24"/>
          <p:cNvSpPr txBox="1"/>
          <p:nvPr/>
        </p:nvSpPr>
        <p:spPr>
          <a:xfrm>
            <a:off x="8423374" y="36480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Cost (TCO)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423374" y="4191000"/>
            <a:ext cx="29019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Include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licențe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mentenanță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45" name="Google Shape;245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2: Selecția Soluției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6334125" y="1957446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haotic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produce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haos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rapid.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Această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etapă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implică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800" dirty="0"/>
          </a:p>
        </p:txBody>
      </p:sp>
      <p:sp>
        <p:nvSpPr>
          <p:cNvPr id="256" name="Google Shape;256;p25"/>
          <p:cNvSpPr txBox="1"/>
          <p:nvPr/>
        </p:nvSpPr>
        <p:spPr>
          <a:xfrm>
            <a:off x="7000875" y="3502307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fluxurilor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(Customer Journey).</a:t>
            </a:r>
            <a:endParaRPr sz="1800" dirty="0"/>
          </a:p>
        </p:txBody>
      </p:sp>
      <p:sp>
        <p:nvSpPr>
          <p:cNvPr id="258" name="Google Shape;258;p25"/>
          <p:cNvSpPr txBox="1"/>
          <p:nvPr/>
        </p:nvSpPr>
        <p:spPr>
          <a:xfrm>
            <a:off x="7000875" y="4407353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câmpurilor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60" name="Google Shape;260;p25"/>
          <p:cNvSpPr txBox="1"/>
          <p:nvPr/>
        </p:nvSpPr>
        <p:spPr>
          <a:xfrm>
            <a:off x="7000875" y="4918580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fluxurilor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lucru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(Workflows).</a:t>
            </a:r>
            <a:endParaRPr sz="1800" dirty="0"/>
          </a:p>
        </p:txBody>
      </p:sp>
      <p:sp>
        <p:nvSpPr>
          <p:cNvPr id="261" name="Google Shape;261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3: Design și Mapare</a:t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762125" y="310515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Configurare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interfeței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modulelor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69" name="Google Shape;269;p26"/>
          <p:cNvSpPr txBox="1"/>
          <p:nvPr/>
        </p:nvSpPr>
        <p:spPr>
          <a:xfrm>
            <a:off x="1762125" y="350520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Integrare API: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Conectarea sistemelor de backend.</a:t>
            </a:r>
            <a:endParaRPr sz="2000"/>
          </a:p>
        </p:txBody>
      </p:sp>
      <p:sp>
        <p:nvSpPr>
          <p:cNvPr id="270" name="Google Shape;270;p26"/>
          <p:cNvSpPr txBox="1"/>
          <p:nvPr/>
        </p:nvSpPr>
        <p:spPr>
          <a:xfrm>
            <a:off x="1762125" y="390525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Securitate: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Stabilirea drepturilor de acces pe niveluri.</a:t>
            </a:r>
            <a:endParaRPr sz="2000"/>
          </a:p>
        </p:txBody>
      </p:sp>
      <p:sp>
        <p:nvSpPr>
          <p:cNvPr id="271" name="Google Shape;271;p26"/>
          <p:cNvSpPr txBox="1"/>
          <p:nvPr/>
        </p:nvSpPr>
        <p:spPr>
          <a:xfrm>
            <a:off x="1762125" y="430530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Custom Development: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Scrierea de cod pentru funcții unice.</a:t>
            </a:r>
            <a:endParaRPr sz="2000"/>
          </a:p>
        </p:txBody>
      </p:sp>
      <p:pic>
        <p:nvPicPr>
          <p:cNvPr id="272" name="Google Shape;27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1384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53853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33863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4: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Implementare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Tehnică</a:t>
            </a:r>
            <a:endParaRPr dirty="0"/>
          </a:p>
        </p:txBody>
      </p:sp>
      <p:sp>
        <p:nvSpPr>
          <p:cNvPr id="277" name="Google Shape;277;p2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571500" y="1993166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sunt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combustibilul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Migrarea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adesea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dificilă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 dirty="0"/>
          </a:p>
        </p:txBody>
      </p:sp>
      <p:pic>
        <p:nvPicPr>
          <p:cNvPr id="285" name="Google Shape;28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1238250" y="3013501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Curățarea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Eliminarea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duplicatelor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vechi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89" name="Google Shape;289;p27"/>
          <p:cNvSpPr txBox="1"/>
          <p:nvPr/>
        </p:nvSpPr>
        <p:spPr>
          <a:xfrm>
            <a:off x="1238250" y="4033837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Maparea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Transpunerea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din Excel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tabelele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CRM.</a:t>
            </a:r>
            <a:endParaRPr sz="2000" dirty="0"/>
          </a:p>
        </p:txBody>
      </p:sp>
      <p:sp>
        <p:nvSpPr>
          <p:cNvPr id="291" name="Google Shape;291;p27"/>
          <p:cNvSpPr txBox="1"/>
          <p:nvPr/>
        </p:nvSpPr>
        <p:spPr>
          <a:xfrm>
            <a:off x="1238250" y="5030419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Validarea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integrității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după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import.</a:t>
            </a:r>
            <a:endParaRPr sz="2000" dirty="0"/>
          </a:p>
        </p:txBody>
      </p:sp>
      <p:sp>
        <p:nvSpPr>
          <p:cNvPr id="292" name="Google Shape;292;p27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5: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Migrarea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Datelor</a:t>
            </a:r>
            <a:endParaRPr dirty="0"/>
          </a:p>
        </p:txBody>
      </p:sp>
      <p:sp>
        <p:nvSpPr>
          <p:cNvPr id="293" name="Google Shape;293;p2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6334125" y="2074068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nefolosit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valoare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zero.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Această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etapă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vizează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factorul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 dirty="0"/>
          </a:p>
        </p:txBody>
      </p:sp>
      <p:sp>
        <p:nvSpPr>
          <p:cNvPr id="303" name="Google Shape;303;p28"/>
          <p:cNvSpPr txBox="1"/>
          <p:nvPr/>
        </p:nvSpPr>
        <p:spPr>
          <a:xfrm>
            <a:off x="7000875" y="3099196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Sesiuni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instruire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diverse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roluri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Manageri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Agenți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2000" dirty="0"/>
          </a:p>
        </p:txBody>
      </p:sp>
      <p:sp>
        <p:nvSpPr>
          <p:cNvPr id="305" name="Google Shape;305;p28"/>
          <p:cNvSpPr txBox="1"/>
          <p:nvPr/>
        </p:nvSpPr>
        <p:spPr>
          <a:xfrm>
            <a:off x="7000875" y="4168682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ghiduri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rapide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07" name="Google Shape;307;p28"/>
          <p:cNvSpPr txBox="1"/>
          <p:nvPr/>
        </p:nvSpPr>
        <p:spPr>
          <a:xfrm>
            <a:off x="7000875" y="4822670"/>
            <a:ext cx="4619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campionilor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CRM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departament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08" name="Google Shape;308;p28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6: Training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și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Adopție</a:t>
            </a:r>
            <a:endParaRPr dirty="0"/>
          </a:p>
        </p:txBody>
      </p:sp>
      <p:sp>
        <p:nvSpPr>
          <p:cNvPr id="309" name="Google Shape;309;p2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29"/>
          <p:cNvGraphicFramePr/>
          <p:nvPr>
            <p:extLst>
              <p:ext uri="{D42A27DB-BD31-4B8C-83A1-F6EECF244321}">
                <p14:modId xmlns:p14="http://schemas.microsoft.com/office/powerpoint/2010/main" val="2057274919"/>
              </p:ext>
            </p:extLst>
          </p:nvPr>
        </p:nvGraphicFramePr>
        <p:xfrm>
          <a:off x="571500" y="2686050"/>
          <a:ext cx="11048975" cy="2438400"/>
        </p:xfrm>
        <a:graphic>
          <a:graphicData uri="http://schemas.openxmlformats.org/drawingml/2006/table">
            <a:tbl>
              <a:tblPr firstRow="1" bandRow="1">
                <a:noFill/>
                <a:tableStyleId>{4ECD3C8A-67F8-411B-82D5-E560E486AE9A}</a:tableStyleId>
              </a:tblPr>
              <a:tblGrid>
                <a:gridCol w="355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F46E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 Test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4F46E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Obiectiv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Functional Testing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Verifică dacă butoanele și fluxurile funcționează corect.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UAT (User Acceptance)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Utilizatorii confirmă că sistemul este ușor de folosit.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Security Testing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Asigură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că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datele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clienților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sunt </a:t>
                      </a:r>
                      <a:r>
                        <a:rPr lang="en-US" sz="18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protejate</a:t>
                      </a:r>
                      <a:r>
                        <a:rPr lang="en-US" sz="18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6" name="Google Shape;316;p29"/>
          <p:cNvSpPr/>
          <p:nvPr/>
        </p:nvSpPr>
        <p:spPr>
          <a:xfrm>
            <a:off x="571500" y="3281362"/>
            <a:ext cx="3551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4122687" y="3281362"/>
            <a:ext cx="7497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71500" y="3890962"/>
            <a:ext cx="3551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4122687" y="3890962"/>
            <a:ext cx="7497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71500" y="4500562"/>
            <a:ext cx="3551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4122687" y="4500562"/>
            <a:ext cx="7497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571500" y="5110162"/>
            <a:ext cx="35511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122687" y="5110162"/>
            <a:ext cx="7497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Etapa 7: Testare și Lansare</a:t>
            </a:r>
            <a:endParaRPr/>
          </a:p>
        </p:txBody>
      </p:sp>
      <p:sp>
        <p:nvSpPr>
          <p:cNvPr id="325" name="Google Shape;325;p2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1080373" y="2419350"/>
            <a:ext cx="1003125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Complexitatea unui Proiect CRM</a:t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619750" y="3562350"/>
            <a:ext cx="952500" cy="571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1319212" y="3905250"/>
            <a:ext cx="955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 ce 70% din proiectele CRM eșuează inițial?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762000" y="21669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Complexitatea Tehnică</a:t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571500" y="2166937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 txBox="1"/>
          <p:nvPr/>
        </p:nvSpPr>
        <p:spPr>
          <a:xfrm>
            <a:off x="571500" y="3119437"/>
            <a:ext cx="4953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"legacy"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învechite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sincronizarea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multiple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platforme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(ERP, Mobile, Social)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reprezintă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provocări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majore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43" name="Google Shape;343;p31"/>
          <p:cNvSpPr txBox="1"/>
          <p:nvPr/>
        </p:nvSpPr>
        <p:spPr>
          <a:xfrm>
            <a:off x="571500" y="5162430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Personalizările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excesive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pot face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greu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actualizat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viitor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 txBox="1"/>
          <p:nvPr/>
        </p:nvSpPr>
        <p:spPr>
          <a:xfrm>
            <a:off x="6334125" y="2459831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Rezistența</a:t>
            </a:r>
            <a:r>
              <a:rPr lang="en-US" sz="2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Schimbare</a:t>
            </a:r>
            <a:endParaRPr dirty="0"/>
          </a:p>
        </p:txBody>
      </p:sp>
      <p:sp>
        <p:nvSpPr>
          <p:cNvPr id="352" name="Google Shape;352;p32"/>
          <p:cNvSpPr txBox="1"/>
          <p:nvPr/>
        </p:nvSpPr>
        <p:spPr>
          <a:xfrm>
            <a:off x="6334125" y="3074253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Angajații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vedea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CRM-ul ca pe un instrument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supraveghere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nu ca pe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ajutor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53" name="Google Shape;353;p32"/>
          <p:cNvSpPr txBox="1"/>
          <p:nvPr/>
        </p:nvSpPr>
        <p:spPr>
          <a:xfrm>
            <a:off x="6334125" y="4176712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Fără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suport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vizibil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managementului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vârf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echipa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reveni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rapid la Excel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agende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54" name="Google Shape;354;p3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Complexitatea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Culturală</a:t>
            </a:r>
            <a:endParaRPr dirty="0"/>
          </a:p>
        </p:txBody>
      </p:sp>
      <p:sp>
        <p:nvSpPr>
          <p:cNvPr id="355" name="Google Shape;355;p3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3700"/>
            <a:ext cx="3492549" cy="2237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33699"/>
            <a:ext cx="3492549" cy="223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33700"/>
            <a:ext cx="3492549" cy="2237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228975"/>
            <a:ext cx="2901999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 txBox="1"/>
          <p:nvPr/>
        </p:nvSpPr>
        <p:spPr>
          <a:xfrm>
            <a:off x="866775" y="33813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Calitatea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866775" y="3924300"/>
            <a:ext cx="31877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 incomplete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formatate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greșit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compromit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analizele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367" name="Google Shape;367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3228975"/>
            <a:ext cx="2901999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 txBox="1"/>
          <p:nvPr/>
        </p:nvSpPr>
        <p:spPr>
          <a:xfrm>
            <a:off x="4645074" y="33813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Volumul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4645074" y="3924300"/>
            <a:ext cx="30470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Milioane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înregistrări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baze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date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performante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pic>
        <p:nvPicPr>
          <p:cNvPr id="370" name="Google Shape;370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3228975"/>
            <a:ext cx="2901999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3"/>
          <p:cNvSpPr txBox="1"/>
          <p:nvPr/>
        </p:nvSpPr>
        <p:spPr>
          <a:xfrm>
            <a:off x="8423374" y="33813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Privacy (GDPR)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8423374" y="3924300"/>
            <a:ext cx="290199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Respectarea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legislației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privind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protecția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personale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73" name="Google Shape;373;p3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Complexitatea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Datelor</a:t>
            </a:r>
            <a:endParaRPr dirty="0"/>
          </a:p>
        </p:txBody>
      </p:sp>
      <p:sp>
        <p:nvSpPr>
          <p:cNvPr id="374" name="Google Shape;374;p3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1762125" y="330517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Structuri Multiple: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Managementul datelor pe regiuni și departamente diferite.</a:t>
            </a:r>
            <a:endParaRPr sz="2000"/>
          </a:p>
        </p:txBody>
      </p:sp>
      <p:sp>
        <p:nvSpPr>
          <p:cNvPr id="381" name="Google Shape;381;p34"/>
          <p:cNvSpPr txBox="1"/>
          <p:nvPr/>
        </p:nvSpPr>
        <p:spPr>
          <a:xfrm>
            <a:off x="1762125" y="370522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Colaborare: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Alinierea obiectivelor între Vânzări și Marketing.</a:t>
            </a:r>
            <a:endParaRPr sz="2000"/>
          </a:p>
        </p:txBody>
      </p:sp>
      <p:sp>
        <p:nvSpPr>
          <p:cNvPr id="382" name="Google Shape;382;p34"/>
          <p:cNvSpPr txBox="1"/>
          <p:nvPr/>
        </p:nvSpPr>
        <p:spPr>
          <a:xfrm>
            <a:off x="1762125" y="410527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Evoluție: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Adaptarea sistemului la schimbările pieței.</a:t>
            </a:r>
            <a:endParaRPr sz="2000"/>
          </a:p>
        </p:txBody>
      </p:sp>
      <p:pic>
        <p:nvPicPr>
          <p:cNvPr id="383" name="Google Shape;38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3385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7385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13861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4"/>
          <p:cNvSpPr txBox="1"/>
          <p:nvPr/>
        </p:nvSpPr>
        <p:spPr>
          <a:xfrm>
            <a:off x="762000" y="571500"/>
            <a:ext cx="114014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Complexitatea</a:t>
            </a:r>
            <a:r>
              <a:rPr lang="en-US" sz="32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Organizațională</a:t>
            </a:r>
            <a:endParaRPr sz="1600" dirty="0"/>
          </a:p>
        </p:txBody>
      </p:sp>
      <p:sp>
        <p:nvSpPr>
          <p:cNvPr id="387" name="Google Shape;387;p3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4650"/>
            <a:ext cx="52863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14650"/>
            <a:ext cx="5286375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5"/>
          <p:cNvSpPr txBox="1"/>
          <p:nvPr/>
        </p:nvSpPr>
        <p:spPr>
          <a:xfrm>
            <a:off x="962025" y="33051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Abordarea</a:t>
            </a:r>
            <a:r>
              <a:rPr lang="en-US" sz="21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Incrementală</a:t>
            </a:r>
            <a:endParaRPr dirty="0"/>
          </a:p>
        </p:txBody>
      </p:sp>
      <p:sp>
        <p:nvSpPr>
          <p:cNvPr id="396" name="Google Shape;396;p35"/>
          <p:cNvSpPr txBox="1"/>
          <p:nvPr/>
        </p:nvSpPr>
        <p:spPr>
          <a:xfrm>
            <a:off x="962025" y="3848100"/>
            <a:ext cx="48958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Lansarea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 module (ex: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întâi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Vânzări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apoi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Suport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copleși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utilizatorii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97" name="Google Shape;397;p35"/>
          <p:cNvSpPr txBox="1"/>
          <p:nvPr/>
        </p:nvSpPr>
        <p:spPr>
          <a:xfrm>
            <a:off x="6724650" y="33051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Managementul Schimbării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6724650" y="3848100"/>
            <a:ext cx="473059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Comunicare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transparentă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explicarea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beneficiilor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fiecare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399" name="Google Shape;399;p3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Strategii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Gestionare</a:t>
            </a:r>
            <a:endParaRPr dirty="0"/>
          </a:p>
        </p:txBody>
      </p:sp>
      <p:sp>
        <p:nvSpPr>
          <p:cNvPr id="400" name="Google Shape;400;p3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6"/>
          <p:cNvSpPr txBox="1"/>
          <p:nvPr/>
        </p:nvSpPr>
        <p:spPr>
          <a:xfrm>
            <a:off x="1762125" y="310515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Cumpărarea software-ului fără a defini procesele.</a:t>
            </a:r>
            <a:endParaRPr sz="2000"/>
          </a:p>
        </p:txBody>
      </p:sp>
      <p:sp>
        <p:nvSpPr>
          <p:cNvPr id="407" name="Google Shape;407;p36"/>
          <p:cNvSpPr txBox="1"/>
          <p:nvPr/>
        </p:nvSpPr>
        <p:spPr>
          <a:xfrm>
            <a:off x="1762125" y="350520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Ignorarea feedback-ului de la utilizatorii finali.</a:t>
            </a:r>
            <a:endParaRPr sz="2000"/>
          </a:p>
        </p:txBody>
      </p:sp>
      <p:sp>
        <p:nvSpPr>
          <p:cNvPr id="408" name="Google Shape;408;p36"/>
          <p:cNvSpPr txBox="1"/>
          <p:nvPr/>
        </p:nvSpPr>
        <p:spPr>
          <a:xfrm>
            <a:off x="1762125" y="390525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Subestimarea timpului necesar pentru migrarea datelor.</a:t>
            </a:r>
            <a:endParaRPr sz="2000"/>
          </a:p>
        </p:txBody>
      </p:sp>
      <p:sp>
        <p:nvSpPr>
          <p:cNvPr id="409" name="Google Shape;409;p36"/>
          <p:cNvSpPr txBox="1"/>
          <p:nvPr/>
        </p:nvSpPr>
        <p:spPr>
          <a:xfrm>
            <a:off x="1762125" y="4305300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Lipsa unei strategii de mentenanță post-lansare.</a:t>
            </a:r>
            <a:endParaRPr sz="2000"/>
          </a:p>
        </p:txBody>
      </p:sp>
      <p:pic>
        <p:nvPicPr>
          <p:cNvPr id="410" name="Google Shape;410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1384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538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9385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3386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Capcane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Comune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în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CRM</a:t>
            </a:r>
            <a:endParaRPr dirty="0"/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1" name="Google Shape;421;p37"/>
          <p:cNvGraphicFramePr/>
          <p:nvPr>
            <p:extLst>
              <p:ext uri="{D42A27DB-BD31-4B8C-83A1-F6EECF244321}">
                <p14:modId xmlns:p14="http://schemas.microsoft.com/office/powerpoint/2010/main" val="4285835076"/>
              </p:ext>
            </p:extLst>
          </p:nvPr>
        </p:nvGraphicFramePr>
        <p:xfrm>
          <a:off x="1435904" y="2142443"/>
          <a:ext cx="8986773" cy="3529016"/>
        </p:xfrm>
        <a:graphic>
          <a:graphicData uri="http://schemas.openxmlformats.org/drawingml/2006/table">
            <a:tbl>
              <a:tblPr firstRow="1" bandRow="1">
                <a:noFill/>
                <a:tableStyleId>{4ECD3C8A-67F8-411B-82D5-E560E486AE9A}</a:tableStyleId>
              </a:tblPr>
              <a:tblGrid>
                <a:gridCol w="245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2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Caracteristică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IMM (Small Business)</a:t>
                      </a:r>
                      <a:endParaRPr sz="2500" dirty="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Enterprise (Corporații)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2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Număr Utilizatori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1 - 50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1000+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2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Cost Implementare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Săptămâni</a:t>
                      </a:r>
                      <a:endParaRPr sz="2500" dirty="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Luni / Ani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2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Personalizare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/ Out-of-box</a:t>
                      </a:r>
                      <a:endParaRPr sz="250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i="0" u="none" strike="noStrike" cap="none" dirty="0" err="1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Extrem</a:t>
                      </a:r>
                      <a:r>
                        <a:rPr lang="en-US" sz="2500" b="0" i="0" u="none" strike="noStrike" cap="none" dirty="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mare</a:t>
                      </a:r>
                      <a:endParaRPr sz="2500" dirty="0"/>
                    </a:p>
                  </a:txBody>
                  <a:tcPr marL="118169" marR="118169" marT="47268" marB="47268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2" name="Google Shape;422;p3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Complexitate: IMM vs Enterprise</a:t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9900"/>
            <a:ext cx="3492549" cy="225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009900"/>
            <a:ext cx="3492549" cy="225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009900"/>
            <a:ext cx="3492549" cy="225878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8"/>
          <p:cNvSpPr txBox="1"/>
          <p:nvPr/>
        </p:nvSpPr>
        <p:spPr>
          <a:xfrm>
            <a:off x="866775" y="3305175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Viziune</a:t>
            </a:r>
            <a:r>
              <a:rPr lang="en-US" sz="20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 err="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Clară</a:t>
            </a:r>
            <a:endParaRPr dirty="0"/>
          </a:p>
        </p:txBody>
      </p:sp>
      <p:sp>
        <p:nvSpPr>
          <p:cNvPr id="433" name="Google Shape;433;p38"/>
          <p:cNvSpPr txBox="1"/>
          <p:nvPr/>
        </p:nvSpPr>
        <p:spPr>
          <a:xfrm>
            <a:off x="866775" y="3848100"/>
            <a:ext cx="29019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Știm exact ce vrem să măsurăm și să îmbunătățim.</a:t>
            </a:r>
            <a:endParaRPr sz="2000"/>
          </a:p>
        </p:txBody>
      </p:sp>
      <p:sp>
        <p:nvSpPr>
          <p:cNvPr id="434" name="Google Shape;434;p38"/>
          <p:cNvSpPr txBox="1"/>
          <p:nvPr/>
        </p:nvSpPr>
        <p:spPr>
          <a:xfrm>
            <a:off x="4645074" y="3305175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Executive Sponsor</a:t>
            </a:r>
            <a:endParaRPr dirty="0"/>
          </a:p>
        </p:txBody>
      </p:sp>
      <p:sp>
        <p:nvSpPr>
          <p:cNvPr id="435" name="Google Shape;435;p38"/>
          <p:cNvSpPr txBox="1"/>
          <p:nvPr/>
        </p:nvSpPr>
        <p:spPr>
          <a:xfrm>
            <a:off x="4645074" y="3848100"/>
            <a:ext cx="29019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Conducerea susține activ proiectul și utilizarea lui.</a:t>
            </a:r>
            <a:endParaRPr sz="2000"/>
          </a:p>
        </p:txBody>
      </p:sp>
      <p:sp>
        <p:nvSpPr>
          <p:cNvPr id="436" name="Google Shape;436;p38"/>
          <p:cNvSpPr txBox="1"/>
          <p:nvPr/>
        </p:nvSpPr>
        <p:spPr>
          <a:xfrm>
            <a:off x="8423374" y="3305175"/>
            <a:ext cx="304709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 dirty="0"/>
          </a:p>
        </p:txBody>
      </p:sp>
      <p:sp>
        <p:nvSpPr>
          <p:cNvPr id="437" name="Google Shape;437;p38"/>
          <p:cNvSpPr txBox="1"/>
          <p:nvPr/>
        </p:nvSpPr>
        <p:spPr>
          <a:xfrm>
            <a:off x="8423374" y="3848100"/>
            <a:ext cx="2901851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intuitiv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economisește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utilizatorului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438" name="Google Shape;438;p38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Factori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Critici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de Succes</a:t>
            </a:r>
            <a:endParaRPr sz="1800" dirty="0"/>
          </a:p>
        </p:txBody>
      </p:sp>
      <p:sp>
        <p:nvSpPr>
          <p:cNvPr id="439" name="Google Shape;439;p3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9"/>
          <p:cNvSpPr txBox="1"/>
          <p:nvPr/>
        </p:nvSpPr>
        <p:spPr>
          <a:xfrm>
            <a:off x="571500" y="2308651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Complexitatea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acum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gestionată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Inteligență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Artificială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2000" dirty="0"/>
          </a:p>
        </p:txBody>
      </p:sp>
      <p:pic>
        <p:nvPicPr>
          <p:cNvPr id="447" name="Google Shape;44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9"/>
          <p:cNvSpPr txBox="1"/>
          <p:nvPr/>
        </p:nvSpPr>
        <p:spPr>
          <a:xfrm>
            <a:off x="1238250" y="3282523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Predictive Lead Scoring (cine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cumpăra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?).</a:t>
            </a:r>
            <a:endParaRPr sz="2000" dirty="0"/>
          </a:p>
        </p:txBody>
      </p:sp>
      <p:sp>
        <p:nvSpPr>
          <p:cNvPr id="451" name="Google Shape;451;p39"/>
          <p:cNvSpPr txBox="1"/>
          <p:nvPr/>
        </p:nvSpPr>
        <p:spPr>
          <a:xfrm>
            <a:off x="1238250" y="3816403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Chatbots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suport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instant.</a:t>
            </a:r>
            <a:endParaRPr sz="2000" dirty="0"/>
          </a:p>
        </p:txBody>
      </p:sp>
      <p:sp>
        <p:nvSpPr>
          <p:cNvPr id="453" name="Google Shape;453;p39"/>
          <p:cNvSpPr txBox="1"/>
          <p:nvPr/>
        </p:nvSpPr>
        <p:spPr>
          <a:xfrm>
            <a:off x="1238250" y="4305300"/>
            <a:ext cx="4619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sentimentelor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în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real.</a:t>
            </a:r>
            <a:endParaRPr sz="2000" dirty="0"/>
          </a:p>
        </p:txBody>
      </p:sp>
      <p:sp>
        <p:nvSpPr>
          <p:cNvPr id="454" name="Google Shape;454;p3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Viitorul: AI și Predictive CRM</a:t>
            </a:r>
            <a:endParaRPr/>
          </a:p>
        </p:txBody>
      </p:sp>
      <p:sp>
        <p:nvSpPr>
          <p:cNvPr id="455" name="Google Shape;455;p3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0"/>
          <p:cNvSpPr txBox="1"/>
          <p:nvPr/>
        </p:nvSpPr>
        <p:spPr>
          <a:xfrm>
            <a:off x="1303565" y="3091755"/>
            <a:ext cx="329837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85%</a:t>
            </a:r>
            <a:endParaRPr dirty="0"/>
          </a:p>
        </p:txBody>
      </p:sp>
      <p:sp>
        <p:nvSpPr>
          <p:cNvPr id="462" name="Google Shape;462;p40"/>
          <p:cNvSpPr txBox="1"/>
          <p:nvPr/>
        </p:nvSpPr>
        <p:spPr>
          <a:xfrm>
            <a:off x="1524000" y="430530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Rata de Adopție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5905500" y="2121753"/>
            <a:ext cx="476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Succesul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nu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instalarea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software-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ci de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utilizarea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464" name="Google Shape;464;p40"/>
          <p:cNvSpPr txBox="1"/>
          <p:nvPr/>
        </p:nvSpPr>
        <p:spPr>
          <a:xfrm>
            <a:off x="5905500" y="3905250"/>
            <a:ext cx="476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Metricile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includ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acuratețea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datelor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timpul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economisit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și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satisfacția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clienților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465" name="Google Shape;465;p4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Măsurarea Succesului Proiectului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1762125" y="290512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CRM este o strategie susținută de tehnologie.</a:t>
            </a:r>
            <a:endParaRPr sz="2000"/>
          </a:p>
        </p:txBody>
      </p:sp>
      <p:sp>
        <p:nvSpPr>
          <p:cNvPr id="473" name="Google Shape;473;p41"/>
          <p:cNvSpPr txBox="1"/>
          <p:nvPr/>
        </p:nvSpPr>
        <p:spPr>
          <a:xfrm>
            <a:off x="1762125" y="330517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Proiectul are 7 etape critice de la strategie la mentenanță.</a:t>
            </a:r>
            <a:endParaRPr sz="2000"/>
          </a:p>
        </p:txBody>
      </p:sp>
      <p:sp>
        <p:nvSpPr>
          <p:cNvPr id="474" name="Google Shape;474;p41"/>
          <p:cNvSpPr txBox="1"/>
          <p:nvPr/>
        </p:nvSpPr>
        <p:spPr>
          <a:xfrm>
            <a:off x="1762125" y="370522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Gestionați factorul uman (adopția) cu prioritate.</a:t>
            </a:r>
            <a:endParaRPr sz="2000"/>
          </a:p>
        </p:txBody>
      </p:sp>
      <p:sp>
        <p:nvSpPr>
          <p:cNvPr id="475" name="Google Shape;475;p41"/>
          <p:cNvSpPr txBox="1"/>
          <p:nvPr/>
        </p:nvSpPr>
        <p:spPr>
          <a:xfrm>
            <a:off x="1762125" y="410527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Curățarea datelor este esențială înainte de migrare.</a:t>
            </a:r>
            <a:endParaRPr sz="2000"/>
          </a:p>
        </p:txBody>
      </p:sp>
      <p:sp>
        <p:nvSpPr>
          <p:cNvPr id="476" name="Google Shape;476;p41"/>
          <p:cNvSpPr txBox="1"/>
          <p:nvPr/>
        </p:nvSpPr>
        <p:spPr>
          <a:xfrm>
            <a:off x="1762125" y="4505325"/>
            <a:ext cx="909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Măsurați rezultatele prin KPI clari.</a:t>
            </a:r>
            <a:endParaRPr sz="2000"/>
          </a:p>
        </p:txBody>
      </p:sp>
      <p:pic>
        <p:nvPicPr>
          <p:cNvPr id="477" name="Google Shape;47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9384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3385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7385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1386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453866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1"/>
          <p:cNvSpPr txBox="1"/>
          <p:nvPr/>
        </p:nvSpPr>
        <p:spPr>
          <a:xfrm>
            <a:off x="762000" y="571500"/>
            <a:ext cx="11401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Rezumat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și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Checklist</a:t>
            </a:r>
            <a:endParaRPr dirty="0"/>
          </a:p>
        </p:txBody>
      </p:sp>
      <p:sp>
        <p:nvSpPr>
          <p:cNvPr id="483" name="Google Shape;483;p4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250" y="2333625"/>
            <a:ext cx="66675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2"/>
          <p:cNvSpPr txBox="1"/>
          <p:nvPr/>
        </p:nvSpPr>
        <p:spPr>
          <a:xfrm>
            <a:off x="2055494" y="504825"/>
            <a:ext cx="808101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Întrebări și Răspunsuri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2247900" y="1704975"/>
            <a:ext cx="7696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Vă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mulțumesc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pentru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participare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!</a:t>
            </a:r>
            <a:endParaRPr dirty="0"/>
          </a:p>
        </p:txBody>
      </p:sp>
      <p:pic>
        <p:nvPicPr>
          <p:cNvPr id="493" name="Google Shape;49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62250" y="2333625"/>
            <a:ext cx="66675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1141</Words>
  <Application>Microsoft Office PowerPoint</Application>
  <PresentationFormat>Widescreen</PresentationFormat>
  <Paragraphs>157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Lato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Cazacu-Condrat Dumitru</cp:lastModifiedBy>
  <cp:revision>41</cp:revision>
  <dcterms:modified xsi:type="dcterms:W3CDTF">2026-02-09T11:05:21Z</dcterms:modified>
</cp:coreProperties>
</file>