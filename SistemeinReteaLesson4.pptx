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272A02-4AD4-4ECB-9398-988E1514241D}">
  <a:tblStyle styleId="{91272A02-4AD4-4ECB-9398-988E151424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3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718494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Lecția 4: Discuri și Instalarea SO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23369"/>
            <a:ext cx="110490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Cazacu-Condrat Dumitru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7047"/>
            <a:ext cx="3555950" cy="224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807047"/>
            <a:ext cx="3555950" cy="224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807047"/>
            <a:ext cx="3556099" cy="224403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Agenda Cursului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0800" y="31023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92639" y="3750022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Discuri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Fizice</a:t>
            </a:r>
            <a:endParaRPr sz="18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4026247"/>
            <a:ext cx="296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Structură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tehnologii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(HDD vs SSD).</a:t>
            </a:r>
            <a:endParaRPr sz="1600"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310232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539090" y="3750022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Discuri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Logice</a:t>
            </a:r>
            <a:endParaRPr sz="18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4613225" y="4026247"/>
            <a:ext cx="296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Partiționare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volume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ierarhie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6700" y="310232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285537" y="3750022"/>
            <a:ext cx="31138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Instalare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SO</a:t>
            </a:r>
            <a:endParaRPr sz="18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359675" y="4026247"/>
            <a:ext cx="296554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Proceduri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standard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295275" y="2690812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Partea I: Discuri Fizice vs Logice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619750" y="3833812"/>
            <a:ext cx="952500" cy="476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98565"/>
            <a:ext cx="5334000" cy="132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Ce este un Disc Fizic?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024062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fizic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unitatea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stocare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hardware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propriu-zisă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computer.</a:t>
            </a:r>
            <a:endParaRPr sz="1600"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3094934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Acesta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detectat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direct de BIOS/UEFI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reprezintă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capacitatea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brută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stocare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disponibilă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66775" y="4293840"/>
            <a:ext cx="47434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Exemple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 Disk Drives (HDD), Solid State Drives (SSD),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Unități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NVMe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3707"/>
            <a:ext cx="3555950" cy="2830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13707"/>
            <a:ext cx="3555950" cy="2830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13707"/>
            <a:ext cx="3556099" cy="283071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Tehnologii de Stocare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0800" y="280898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92639" y="3456682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HDD</a:t>
            </a:r>
            <a:endParaRPr sz="1800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866775" y="3732907"/>
            <a:ext cx="29654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Componente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magnetice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rotative. Capacitate mare,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preț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viteză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limitată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826" y="280898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4539090" y="3456682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SSD</a:t>
            </a:r>
            <a:endParaRPr sz="1800"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4613225" y="3732907"/>
            <a:ext cx="29654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Memorie Flash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fără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piese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mobile). Viteză mare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rezistență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șocuri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3850" y="280898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285537" y="3456682"/>
            <a:ext cx="31138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NVMe</a:t>
            </a:r>
            <a:endParaRPr sz="180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8359675" y="3732907"/>
            <a:ext cx="2965549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SSD ultra-rapid care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magistrala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PCIe.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Performanță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maximă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moderne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Ce este un Disc Logic?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087557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logic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volumul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subdiviziune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fizic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partiționare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3120478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vede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secțiuni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unități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separate (C:, D: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Windows).</a:t>
            </a:r>
            <a:endParaRPr sz="1600" dirty="0"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952500" y="4004220"/>
            <a:ext cx="4953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organizarea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952500" y="4440435"/>
            <a:ext cx="4953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Facilitează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backup-ul.</a:t>
            </a:r>
            <a:endParaRPr sz="1600"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952500" y="4876651"/>
            <a:ext cx="4953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Protejează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423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785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1475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Comparație: Fizic vs Logic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19"/>
          <p:cNvGraphicFramePr/>
          <p:nvPr>
            <p:extLst>
              <p:ext uri="{D42A27DB-BD31-4B8C-83A1-F6EECF244321}">
                <p14:modId xmlns:p14="http://schemas.microsoft.com/office/powerpoint/2010/main" val="2606088549"/>
              </p:ext>
            </p:extLst>
          </p:nvPr>
        </p:nvGraphicFramePr>
        <p:xfrm>
          <a:off x="571500" y="2842319"/>
          <a:ext cx="11048975" cy="2364000"/>
        </p:xfrm>
        <a:graphic>
          <a:graphicData uri="http://schemas.openxmlformats.org/drawingml/2006/table">
            <a:tbl>
              <a:tblPr firstRow="1" bandRow="1">
                <a:noFill/>
                <a:tableStyleId>{91272A02-4AD4-4ECB-9398-988E1514241D}</a:tableStyleId>
              </a:tblPr>
              <a:tblGrid>
                <a:gridCol w="214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Caracteristică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 Fizic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 Logic (Partiție)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Natură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Hardware (dispozitiv real)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Software (diviziune logică)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Identificare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Model, Serial (ex: Samsung 980)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Literă sau punct de montare (ex: C:)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Formatare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 poate fi formatat direct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Are </a:t>
                      </a: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propriul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sistem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de </a:t>
                      </a: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fișiere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(NTFS)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0" name="Google Shape;170;p19"/>
          <p:cNvSpPr/>
          <p:nvPr/>
        </p:nvSpPr>
        <p:spPr>
          <a:xfrm>
            <a:off x="571500" y="3411884"/>
            <a:ext cx="2145357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2716857" y="3411884"/>
            <a:ext cx="4160787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877645" y="3411884"/>
            <a:ext cx="4742854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71500" y="4014787"/>
            <a:ext cx="2145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2716857" y="4014787"/>
            <a:ext cx="4160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877645" y="4014787"/>
            <a:ext cx="47428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4603402"/>
            <a:ext cx="2145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2716857" y="4603402"/>
            <a:ext cx="4160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877645" y="4603402"/>
            <a:ext cx="47428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5192017"/>
            <a:ext cx="2145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2716857" y="5192017"/>
            <a:ext cx="4160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877645" y="5192017"/>
            <a:ext cx="47428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26109"/>
            <a:ext cx="5334000" cy="1320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41465"/>
            <a:ext cx="5334000" cy="132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Tabele de Partiții: MBR vs GPT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2038072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logice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nevoie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tabel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96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866775" y="3221384"/>
            <a:ext cx="47434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MBR (Master Boot Record):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Tehnologie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veche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limitată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4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maxim 2TB.</a:t>
            </a:r>
            <a:endParaRPr sz="1600"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866775" y="4636740"/>
            <a:ext cx="474345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GPT (GUID Partition Table):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modern,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suportă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uriașe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nelimitate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48930"/>
            <a:ext cx="3555950" cy="159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348930"/>
            <a:ext cx="3555950" cy="159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348930"/>
            <a:ext cx="3556099" cy="159633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Sisteme de Fișiere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2912715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determină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care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sunt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stocate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regăsite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logic.</a:t>
            </a:r>
            <a:endParaRPr sz="1600" dirty="0"/>
          </a:p>
        </p:txBody>
      </p:sp>
      <p:sp>
        <p:nvSpPr>
          <p:cNvPr id="207" name="Google Shape;207;p21"/>
          <p:cNvSpPr txBox="1"/>
          <p:nvPr/>
        </p:nvSpPr>
        <p:spPr>
          <a:xfrm>
            <a:off x="792639" y="3644205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NTFS</a:t>
            </a:r>
            <a:endParaRPr sz="1800" dirty="0"/>
          </a:p>
        </p:txBody>
      </p:sp>
      <p:sp>
        <p:nvSpPr>
          <p:cNvPr id="208" name="Google Shape;208;p21"/>
          <p:cNvSpPr txBox="1"/>
          <p:nvPr/>
        </p:nvSpPr>
        <p:spPr>
          <a:xfrm>
            <a:off x="866775" y="3920430"/>
            <a:ext cx="296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Windows.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Suportă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securitate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4539090" y="3644205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FAT32</a:t>
            </a:r>
            <a:endParaRPr sz="1800" dirty="0"/>
          </a:p>
        </p:txBody>
      </p:sp>
      <p:sp>
        <p:nvSpPr>
          <p:cNvPr id="210" name="Google Shape;210;p21"/>
          <p:cNvSpPr txBox="1"/>
          <p:nvPr/>
        </p:nvSpPr>
        <p:spPr>
          <a:xfrm>
            <a:off x="4613225" y="3920430"/>
            <a:ext cx="296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Compatibilitate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maximă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limitat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4GB.</a:t>
            </a:r>
            <a:endParaRPr sz="1600" dirty="0"/>
          </a:p>
        </p:txBody>
      </p:sp>
      <p:sp>
        <p:nvSpPr>
          <p:cNvPr id="211" name="Google Shape;211;p21"/>
          <p:cNvSpPr txBox="1"/>
          <p:nvPr/>
        </p:nvSpPr>
        <p:spPr>
          <a:xfrm>
            <a:off x="8285537" y="3644205"/>
            <a:ext cx="31138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EXT4</a:t>
            </a:r>
            <a:endParaRPr sz="1800" dirty="0"/>
          </a:p>
        </p:txBody>
      </p:sp>
      <p:sp>
        <p:nvSpPr>
          <p:cNvPr id="212" name="Google Shape;212;p21"/>
          <p:cNvSpPr txBox="1"/>
          <p:nvPr/>
        </p:nvSpPr>
        <p:spPr>
          <a:xfrm>
            <a:off x="8359675" y="3920430"/>
            <a:ext cx="296554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principal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majoritatea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distribuțiilor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Linux.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77492"/>
            <a:ext cx="5334000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130897"/>
            <a:ext cx="5334000" cy="159633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Cum identificăm discurile?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797004" y="3572767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Windows</a:t>
            </a:r>
            <a:endParaRPr sz="1800" dirty="0"/>
          </a:p>
        </p:txBody>
      </p:sp>
      <p:sp>
        <p:nvSpPr>
          <p:cNvPr id="223" name="Google Shape;223;p22"/>
          <p:cNvSpPr txBox="1"/>
          <p:nvPr/>
        </p:nvSpPr>
        <p:spPr>
          <a:xfrm>
            <a:off x="914400" y="3848992"/>
            <a:ext cx="46958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Folosește litere: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(Sistem),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(Date).</a:t>
            </a:r>
            <a:endParaRPr sz="1800"/>
          </a:p>
        </p:txBody>
      </p:sp>
      <p:sp>
        <p:nvSpPr>
          <p:cNvPr id="224" name="Google Shape;224;p22"/>
          <p:cNvSpPr txBox="1"/>
          <p:nvPr/>
        </p:nvSpPr>
        <p:spPr>
          <a:xfrm>
            <a:off x="6512004" y="3426172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Linux</a:t>
            </a:r>
            <a:endParaRPr sz="1800"/>
          </a:p>
        </p:txBody>
      </p:sp>
      <p:sp>
        <p:nvSpPr>
          <p:cNvPr id="225" name="Google Shape;225;p22"/>
          <p:cNvSpPr txBox="1"/>
          <p:nvPr/>
        </p:nvSpPr>
        <p:spPr>
          <a:xfrm>
            <a:off x="6629400" y="3702397"/>
            <a:ext cx="469582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Folosește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noduri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/dev/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Fizic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),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/dev/sda1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(Logic).</a:t>
            </a: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295275" y="2690812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Partea a II-a: Proceduri de Instalare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5619750" y="3833812"/>
            <a:ext cx="952500" cy="476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Verificarea Cerințelor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952500" y="3128069"/>
            <a:ext cx="10668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Procesor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Frecvență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arhitectură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(x64).</a:t>
            </a:r>
            <a:endParaRPr sz="1600" dirty="0"/>
          </a:p>
        </p:txBody>
      </p:sp>
      <p:sp>
        <p:nvSpPr>
          <p:cNvPr id="241" name="Google Shape;241;p24"/>
          <p:cNvSpPr txBox="1"/>
          <p:nvPr/>
        </p:nvSpPr>
        <p:spPr>
          <a:xfrm>
            <a:off x="952500" y="3564284"/>
            <a:ext cx="10668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RAM: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performanță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acceptabilă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242" name="Google Shape;242;p24"/>
          <p:cNvSpPr txBox="1"/>
          <p:nvPr/>
        </p:nvSpPr>
        <p:spPr>
          <a:xfrm>
            <a:off x="952500" y="4000500"/>
            <a:ext cx="10668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Stocare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Spațiu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liber pe disc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SO.</a:t>
            </a:r>
            <a:endParaRPr sz="1600" dirty="0"/>
          </a:p>
        </p:txBody>
      </p:sp>
      <p:sp>
        <p:nvSpPr>
          <p:cNvPr id="243" name="Google Shape;243;p24"/>
          <p:cNvSpPr txBox="1"/>
          <p:nvPr/>
        </p:nvSpPr>
        <p:spPr>
          <a:xfrm>
            <a:off x="952500" y="4436715"/>
            <a:ext cx="10668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TPM &amp; Secure Boot: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Cerințe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specifice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Windows 11.</a:t>
            </a:r>
            <a:endParaRPr sz="1600" dirty="0"/>
          </a:p>
        </p:txBody>
      </p:sp>
      <p:pic>
        <p:nvPicPr>
          <p:cNvPr id="244" name="Google Shape;24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6616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0238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386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7481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33787"/>
            <a:ext cx="5334000" cy="132010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Pregătirea Mediului (USB)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571500" y="2904232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Imaginea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ISO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trebuie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scrisă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 un stick USB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bootabil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258" name="Google Shape;25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866775" y="3929062"/>
            <a:ext cx="47434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Utilitare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recomandate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Rufus,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Ventoy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Media Creation Tool (Microsoft).</a:t>
            </a:r>
            <a:endParaRPr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3. Configurarea BIOS/UEFI</a:t>
            </a:r>
            <a:endParaRPr/>
          </a:p>
        </p:txBody>
      </p:sp>
      <p:sp>
        <p:nvSpPr>
          <p:cNvPr id="267" name="Google Shape;267;p2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6286500" y="2653403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Trebuie să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instruim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hardware-ul să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pornească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pe stick-ul USB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înainte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local.</a:t>
            </a:r>
            <a:endParaRPr sz="1600" dirty="0"/>
          </a:p>
        </p:txBody>
      </p:sp>
      <p:sp>
        <p:nvSpPr>
          <p:cNvPr id="270" name="Google Shape;270;p26"/>
          <p:cNvSpPr txBox="1"/>
          <p:nvPr/>
        </p:nvSpPr>
        <p:spPr>
          <a:xfrm>
            <a:off x="6286500" y="3929062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accesează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meniul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Boot Priority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setările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firmware-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4. Inițierea Instalării</a:t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571500" y="2782343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pornirea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pe stick,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ecran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280" name="Google Shape;280;p27"/>
          <p:cNvSpPr txBox="1"/>
          <p:nvPr/>
        </p:nvSpPr>
        <p:spPr>
          <a:xfrm>
            <a:off x="571500" y="3782317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Utilizatorul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alege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limba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formatul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orei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metoda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introducere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tastaturii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281" name="Google Shape;28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0897"/>
            <a:ext cx="3555950" cy="159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130897"/>
            <a:ext cx="3555950" cy="159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130897"/>
            <a:ext cx="3556099" cy="1596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Upgrade vs Clean Install</a:t>
            </a:r>
            <a:endParaRPr/>
          </a:p>
        </p:txBody>
      </p:sp>
      <p:sp>
        <p:nvSpPr>
          <p:cNvPr id="291" name="Google Shape;291;p2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792639" y="3426172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Upgrade</a:t>
            </a:r>
            <a:endParaRPr sz="1800"/>
          </a:p>
        </p:txBody>
      </p:sp>
      <p:sp>
        <p:nvSpPr>
          <p:cNvPr id="293" name="Google Shape;293;p28"/>
          <p:cNvSpPr txBox="1"/>
          <p:nvPr/>
        </p:nvSpPr>
        <p:spPr>
          <a:xfrm>
            <a:off x="866774" y="3702397"/>
            <a:ext cx="317494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Păstrează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aplicațiile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vechi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Mai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puțin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stabil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94" name="Google Shape;294;p28"/>
          <p:cNvSpPr txBox="1"/>
          <p:nvPr/>
        </p:nvSpPr>
        <p:spPr>
          <a:xfrm>
            <a:off x="4539090" y="3426172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Custom (Clean)</a:t>
            </a:r>
            <a:endParaRPr sz="1800" dirty="0"/>
          </a:p>
        </p:txBody>
      </p:sp>
      <p:sp>
        <p:nvSpPr>
          <p:cNvPr id="295" name="Google Shape;295;p28"/>
          <p:cNvSpPr txBox="1"/>
          <p:nvPr/>
        </p:nvSpPr>
        <p:spPr>
          <a:xfrm>
            <a:off x="4613225" y="3702397"/>
            <a:ext cx="296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Șterge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tot.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proaspătă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296" name="Google Shape;296;p28"/>
          <p:cNvSpPr txBox="1"/>
          <p:nvPr/>
        </p:nvSpPr>
        <p:spPr>
          <a:xfrm>
            <a:off x="8285537" y="3426172"/>
            <a:ext cx="31138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Multi-Boot</a:t>
            </a:r>
            <a:endParaRPr sz="1800" dirty="0"/>
          </a:p>
        </p:txBody>
      </p:sp>
      <p:sp>
        <p:nvSpPr>
          <p:cNvPr id="297" name="Google Shape;297;p28"/>
          <p:cNvSpPr txBox="1"/>
          <p:nvPr/>
        </p:nvSpPr>
        <p:spPr>
          <a:xfrm>
            <a:off x="8359675" y="3702397"/>
            <a:ext cx="3260824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lângă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cel existent (ex: Windows + Linux).</a:t>
            </a: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 txBox="1"/>
          <p:nvPr/>
        </p:nvSpPr>
        <p:spPr>
          <a:xfrm>
            <a:off x="571500" y="236979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5. Partiționarea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571500" y="3350865"/>
            <a:ext cx="4953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Pasul critic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logice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05" name="Google Shape;305;p29"/>
          <p:cNvSpPr txBox="1"/>
          <p:nvPr/>
        </p:nvSpPr>
        <p:spPr>
          <a:xfrm>
            <a:off x="571500" y="3787080"/>
            <a:ext cx="49530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șterge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vechi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curăța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fizic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folosi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spațiul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nealocat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existent.</a:t>
            </a:r>
            <a:endParaRPr sz="1600" dirty="0"/>
          </a:p>
        </p:txBody>
      </p:sp>
      <p:pic>
        <p:nvPicPr>
          <p:cNvPr id="306" name="Google Shape;30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6. Copierea Fișierelor</a:t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571500" y="2873722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Odată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confirmată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începe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copierea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15" name="Google Shape;315;p30"/>
          <p:cNvSpPr txBox="1"/>
          <p:nvPr/>
        </p:nvSpPr>
        <p:spPr>
          <a:xfrm>
            <a:off x="866775" y="4252912"/>
            <a:ext cx="104584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reporni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câteva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Nu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scoateți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stick-ul USB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până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prima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repornire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7. Configurarea Inițială (OOBE)</a:t>
            </a:r>
            <a:endParaRPr/>
          </a:p>
        </p:txBody>
      </p:sp>
      <p:sp>
        <p:nvSpPr>
          <p:cNvPr id="323" name="Google Shape;323;p31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571500" y="2093910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Out-of-Box Experience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reprezintă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configurările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finale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325" name="Google Shape;32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1"/>
          <p:cNvSpPr txBox="1"/>
          <p:nvPr/>
        </p:nvSpPr>
        <p:spPr>
          <a:xfrm>
            <a:off x="952500" y="3639442"/>
            <a:ext cx="4953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27" name="Google Shape;327;p31"/>
          <p:cNvSpPr txBox="1"/>
          <p:nvPr/>
        </p:nvSpPr>
        <p:spPr>
          <a:xfrm>
            <a:off x="952500" y="4075658"/>
            <a:ext cx="4953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Conectarea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rețea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28" name="Google Shape;328;p31"/>
          <p:cNvSpPr txBox="1"/>
          <p:nvPr/>
        </p:nvSpPr>
        <p:spPr>
          <a:xfrm>
            <a:off x="952500" y="4511873"/>
            <a:ext cx="4953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Setări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confidențialitate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329" name="Google Shape;329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7754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1375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549973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8. Instalarea Linux</a:t>
            </a:r>
            <a:endParaRPr/>
          </a:p>
        </p:txBody>
      </p:sp>
      <p:sp>
        <p:nvSpPr>
          <p:cNvPr id="339" name="Google Shape;339;p3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2"/>
          <p:cNvSpPr txBox="1"/>
          <p:nvPr/>
        </p:nvSpPr>
        <p:spPr>
          <a:xfrm>
            <a:off x="6276975" y="2033587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deosebire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Windows, Linux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folosește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puncte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montare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42" name="Google Shape;342;p32"/>
          <p:cNvSpPr txBox="1"/>
          <p:nvPr/>
        </p:nvSpPr>
        <p:spPr>
          <a:xfrm>
            <a:off x="6286500" y="3782317"/>
            <a:ext cx="5334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/ (Root):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Partitia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43" name="Google Shape;343;p32"/>
          <p:cNvSpPr txBox="1"/>
          <p:nvPr/>
        </p:nvSpPr>
        <p:spPr>
          <a:xfrm>
            <a:off x="6286500" y="4075658"/>
            <a:ext cx="5334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/home: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Partiția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utilizatorului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44" name="Google Shape;344;p32"/>
          <p:cNvSpPr txBox="1"/>
          <p:nvPr/>
        </p:nvSpPr>
        <p:spPr>
          <a:xfrm>
            <a:off x="6286500" y="4368998"/>
            <a:ext cx="5334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SWAP: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Memorie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virtuală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 disc.</a:t>
            </a:r>
            <a:endParaRPr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9. Instalarea în Masă (PXE)</a:t>
            </a:r>
            <a:endParaRPr/>
          </a:p>
        </p:txBody>
      </p:sp>
      <p:sp>
        <p:nvSpPr>
          <p:cNvPr id="352" name="Google Shape;352;p33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3"/>
          <p:cNvSpPr txBox="1"/>
          <p:nvPr/>
        </p:nvSpPr>
        <p:spPr>
          <a:xfrm>
            <a:off x="571500" y="2219670"/>
            <a:ext cx="5334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Pre-Execution Environment (PXE)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bootarea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computerului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direct de pe un server de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rețea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54" name="Google Shape;354;p33"/>
          <p:cNvSpPr txBox="1"/>
          <p:nvPr/>
        </p:nvSpPr>
        <p:spPr>
          <a:xfrm>
            <a:off x="571500" y="3929062"/>
            <a:ext cx="5334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metoda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standard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companii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trebuie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zeci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stații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simultan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355" name="Google Shape;355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10. Drivere și Hardware</a:t>
            </a:r>
            <a:endParaRPr/>
          </a:p>
        </p:txBody>
      </p:sp>
      <p:sp>
        <p:nvSpPr>
          <p:cNvPr id="363" name="Google Shape;363;p3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4"/>
          <p:cNvSpPr txBox="1"/>
          <p:nvPr/>
        </p:nvSpPr>
        <p:spPr>
          <a:xfrm>
            <a:off x="6286500" y="2176581"/>
            <a:ext cx="5334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După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SO,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unele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componente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hardware pot să nu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funcționeze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corect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66" name="Google Shape;366;p34"/>
          <p:cNvSpPr txBox="1"/>
          <p:nvPr/>
        </p:nvSpPr>
        <p:spPr>
          <a:xfrm>
            <a:off x="6286500" y="3929062"/>
            <a:ext cx="5334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Trebuie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verificate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"Unknown Devices"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Device Manager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driverele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oficiale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76625"/>
            <a:ext cx="11049000" cy="134109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11. Windows Update</a:t>
            </a:r>
            <a:endParaRPr/>
          </a:p>
        </p:txBody>
      </p:sp>
      <p:sp>
        <p:nvSpPr>
          <p:cNvPr id="374" name="Google Shape;374;p3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571500" y="3040409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pas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obligatoriu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după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actualizărilor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76" name="Google Shape;376;p35"/>
          <p:cNvSpPr txBox="1"/>
          <p:nvPr/>
        </p:nvSpPr>
        <p:spPr>
          <a:xfrm>
            <a:off x="605313" y="3810000"/>
            <a:ext cx="10981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ce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actualizăm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1800" dirty="0"/>
          </a:p>
        </p:txBody>
      </p:sp>
      <p:sp>
        <p:nvSpPr>
          <p:cNvPr id="377" name="Google Shape;377;p35"/>
          <p:cNvSpPr txBox="1"/>
          <p:nvPr/>
        </p:nvSpPr>
        <p:spPr>
          <a:xfrm>
            <a:off x="866774" y="4086225"/>
            <a:ext cx="10552339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Corectarea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vulnerabilităților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securitate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stabilității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driverelor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lipsă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Capacități de Stocare</a:t>
            </a:r>
            <a:endParaRPr/>
          </a:p>
        </p:txBody>
      </p:sp>
      <p:sp>
        <p:nvSpPr>
          <p:cNvPr id="384" name="Google Shape;384;p3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6"/>
          <p:cNvSpPr txBox="1"/>
          <p:nvPr/>
        </p:nvSpPr>
        <p:spPr>
          <a:xfrm>
            <a:off x="571500" y="3234630"/>
            <a:ext cx="5334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128</a:t>
            </a:r>
            <a:endParaRPr/>
          </a:p>
        </p:txBody>
      </p:sp>
      <p:sp>
        <p:nvSpPr>
          <p:cNvPr id="386" name="Google Shape;386;p36"/>
          <p:cNvSpPr txBox="1"/>
          <p:nvPr/>
        </p:nvSpPr>
        <p:spPr>
          <a:xfrm>
            <a:off x="571500" y="4187130"/>
            <a:ext cx="5334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suportate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nativ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GPT pe 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singur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disc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fizic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87" name="Google Shape;387;p36"/>
          <p:cNvSpPr txBox="1"/>
          <p:nvPr/>
        </p:nvSpPr>
        <p:spPr>
          <a:xfrm>
            <a:off x="6286500" y="3234630"/>
            <a:ext cx="5334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9.4 ZB</a:t>
            </a:r>
            <a:endParaRPr/>
          </a:p>
        </p:txBody>
      </p:sp>
      <p:sp>
        <p:nvSpPr>
          <p:cNvPr id="388" name="Google Shape;388;p36"/>
          <p:cNvSpPr txBox="1"/>
          <p:nvPr/>
        </p:nvSpPr>
        <p:spPr>
          <a:xfrm>
            <a:off x="6286500" y="4187130"/>
            <a:ext cx="5334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Capacitatea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maximă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teoretică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disc GPT.</a:t>
            </a:r>
            <a:endParaRPr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Erori Comune</a:t>
            </a:r>
            <a:endParaRPr/>
          </a:p>
        </p:txBody>
      </p:sp>
      <p:sp>
        <p:nvSpPr>
          <p:cNvPr id="395" name="Google Shape;395;p3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7"/>
          <p:cNvSpPr txBox="1"/>
          <p:nvPr/>
        </p:nvSpPr>
        <p:spPr>
          <a:xfrm>
            <a:off x="952500" y="3346102"/>
            <a:ext cx="10668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"No Boot Device Found":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Stick-ul nu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fost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corect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97" name="Google Shape;397;p37"/>
          <p:cNvSpPr txBox="1"/>
          <p:nvPr/>
        </p:nvSpPr>
        <p:spPr>
          <a:xfrm>
            <a:off x="952500" y="3782317"/>
            <a:ext cx="10668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"MBR vs GPT error":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Conflict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între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BIOS (Legacy)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UEFI.</a:t>
            </a:r>
            <a:endParaRPr sz="1600" dirty="0"/>
          </a:p>
        </p:txBody>
      </p:sp>
      <p:sp>
        <p:nvSpPr>
          <p:cNvPr id="398" name="Google Shape;398;p37"/>
          <p:cNvSpPr txBox="1"/>
          <p:nvPr/>
        </p:nvSpPr>
        <p:spPr>
          <a:xfrm>
            <a:off x="952500" y="4218533"/>
            <a:ext cx="10668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Missing Driver: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nu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detectat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necesită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driver AHCI/RAID).</a:t>
            </a:r>
            <a:endParaRPr sz="1600" dirty="0"/>
          </a:p>
        </p:txBody>
      </p:sp>
      <p:pic>
        <p:nvPicPr>
          <p:cNvPr id="399" name="Google Shape;399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8420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04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5663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0897"/>
            <a:ext cx="3555950" cy="159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130897"/>
            <a:ext cx="3555950" cy="159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130897"/>
            <a:ext cx="3556099" cy="159633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 ce partitionăm?</a:t>
            </a:r>
            <a:endParaRPr/>
          </a:p>
        </p:txBody>
      </p:sp>
      <p:sp>
        <p:nvSpPr>
          <p:cNvPr id="411" name="Google Shape;411;p3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8"/>
          <p:cNvSpPr txBox="1"/>
          <p:nvPr/>
        </p:nvSpPr>
        <p:spPr>
          <a:xfrm>
            <a:off x="792639" y="3426172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Stabilitate</a:t>
            </a:r>
            <a:endParaRPr sz="1800" dirty="0"/>
          </a:p>
        </p:txBody>
      </p:sp>
      <p:sp>
        <p:nvSpPr>
          <p:cNvPr id="413" name="Google Shape;413;p38"/>
          <p:cNvSpPr txBox="1"/>
          <p:nvPr/>
        </p:nvSpPr>
        <p:spPr>
          <a:xfrm>
            <a:off x="866775" y="3702397"/>
            <a:ext cx="3039534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Windows-ul cade,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pe D: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rămân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intacte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414" name="Google Shape;414;p38"/>
          <p:cNvSpPr txBox="1"/>
          <p:nvPr/>
        </p:nvSpPr>
        <p:spPr>
          <a:xfrm>
            <a:off x="4539090" y="3426172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Backup</a:t>
            </a:r>
            <a:endParaRPr dirty="0"/>
          </a:p>
        </p:txBody>
      </p:sp>
      <p:sp>
        <p:nvSpPr>
          <p:cNvPr id="415" name="Google Shape;415;p38"/>
          <p:cNvSpPr txBox="1"/>
          <p:nvPr/>
        </p:nvSpPr>
        <p:spPr>
          <a:xfrm>
            <a:off x="4613225" y="3702397"/>
            <a:ext cx="296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ușor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să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salvezi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singură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date.</a:t>
            </a:r>
            <a:endParaRPr sz="1600" dirty="0"/>
          </a:p>
        </p:txBody>
      </p:sp>
      <p:sp>
        <p:nvSpPr>
          <p:cNvPr id="416" name="Google Shape;416;p38"/>
          <p:cNvSpPr txBox="1"/>
          <p:nvPr/>
        </p:nvSpPr>
        <p:spPr>
          <a:xfrm>
            <a:off x="8285537" y="3426172"/>
            <a:ext cx="31138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Organizare</a:t>
            </a:r>
            <a:endParaRPr sz="1800" dirty="0"/>
          </a:p>
        </p:txBody>
      </p:sp>
      <p:sp>
        <p:nvSpPr>
          <p:cNvPr id="417" name="Google Shape;417;p38"/>
          <p:cNvSpPr txBox="1"/>
          <p:nvPr/>
        </p:nvSpPr>
        <p:spPr>
          <a:xfrm>
            <a:off x="8359675" y="3702397"/>
            <a:ext cx="296554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separat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Jocuri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Filme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Windows vs Linux (Instalare)</a:t>
            </a:r>
            <a:endParaRPr/>
          </a:p>
        </p:txBody>
      </p:sp>
      <p:sp>
        <p:nvSpPr>
          <p:cNvPr id="424" name="Google Shape;424;p39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5" name="Google Shape;425;p39"/>
          <p:cNvGraphicFramePr/>
          <p:nvPr>
            <p:extLst>
              <p:ext uri="{D42A27DB-BD31-4B8C-83A1-F6EECF244321}">
                <p14:modId xmlns:p14="http://schemas.microsoft.com/office/powerpoint/2010/main" val="3166715426"/>
              </p:ext>
            </p:extLst>
          </p:nvPr>
        </p:nvGraphicFramePr>
        <p:xfrm>
          <a:off x="571500" y="2842319"/>
          <a:ext cx="11049000" cy="2364000"/>
        </p:xfrm>
        <a:graphic>
          <a:graphicData uri="http://schemas.openxmlformats.org/drawingml/2006/table">
            <a:tbl>
              <a:tblPr firstRow="1" bandRow="1">
                <a:noFill/>
                <a:tableStyleId>{91272A02-4AD4-4ECB-9398-988E1514241D}</a:tableStyleId>
              </a:tblPr>
              <a:tblGrid>
                <a:gridCol w="198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Element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Windows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Linux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Interfață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Exclusiv Grafică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Grafică sau Text (Server)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Partiții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 (primare)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Montare (/ , /home, swap)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Software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 / .exe separate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 de </a:t>
                      </a: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pachete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(apt, </a:t>
                      </a: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dnf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6" name="Google Shape;426;p39"/>
          <p:cNvSpPr/>
          <p:nvPr/>
        </p:nvSpPr>
        <p:spPr>
          <a:xfrm>
            <a:off x="571500" y="3411884"/>
            <a:ext cx="1981348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9"/>
          <p:cNvSpPr/>
          <p:nvPr/>
        </p:nvSpPr>
        <p:spPr>
          <a:xfrm>
            <a:off x="2552848" y="3411884"/>
            <a:ext cx="3794819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9"/>
          <p:cNvSpPr/>
          <p:nvPr/>
        </p:nvSpPr>
        <p:spPr>
          <a:xfrm>
            <a:off x="6347668" y="3411884"/>
            <a:ext cx="5272831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9"/>
          <p:cNvSpPr/>
          <p:nvPr/>
        </p:nvSpPr>
        <p:spPr>
          <a:xfrm>
            <a:off x="571500" y="4014787"/>
            <a:ext cx="1981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9"/>
          <p:cNvSpPr/>
          <p:nvPr/>
        </p:nvSpPr>
        <p:spPr>
          <a:xfrm>
            <a:off x="2552848" y="4014787"/>
            <a:ext cx="3794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9"/>
          <p:cNvSpPr/>
          <p:nvPr/>
        </p:nvSpPr>
        <p:spPr>
          <a:xfrm>
            <a:off x="6347668" y="4014787"/>
            <a:ext cx="52728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9"/>
          <p:cNvSpPr/>
          <p:nvPr/>
        </p:nvSpPr>
        <p:spPr>
          <a:xfrm>
            <a:off x="571500" y="4603402"/>
            <a:ext cx="1981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9"/>
          <p:cNvSpPr/>
          <p:nvPr/>
        </p:nvSpPr>
        <p:spPr>
          <a:xfrm>
            <a:off x="2552848" y="4603402"/>
            <a:ext cx="3794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9"/>
          <p:cNvSpPr/>
          <p:nvPr/>
        </p:nvSpPr>
        <p:spPr>
          <a:xfrm>
            <a:off x="6347668" y="4603402"/>
            <a:ext cx="52728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571500" y="5192017"/>
            <a:ext cx="1981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2552848" y="5192017"/>
            <a:ext cx="3794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6347668" y="5192017"/>
            <a:ext cx="52728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Rezumat: Partea I</a:t>
            </a:r>
            <a:endParaRPr/>
          </a:p>
        </p:txBody>
      </p:sp>
      <p:sp>
        <p:nvSpPr>
          <p:cNvPr id="444" name="Google Shape;444;p4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0"/>
          <p:cNvSpPr txBox="1"/>
          <p:nvPr/>
        </p:nvSpPr>
        <p:spPr>
          <a:xfrm>
            <a:off x="571500" y="1505631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învățat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Fizic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hardware-ul brut,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Logic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care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folosim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446" name="Google Shape;446;p40"/>
          <p:cNvSpPr txBox="1"/>
          <p:nvPr/>
        </p:nvSpPr>
        <p:spPr>
          <a:xfrm>
            <a:off x="571500" y="2050932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explorat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tehnologiile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moderne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necesitatea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tabelului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GPT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actuale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8CC476-5002-FA20-73DC-21FA92413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486" y="2596234"/>
            <a:ext cx="6134099" cy="41437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Rezumat: Partea II</a:t>
            </a:r>
            <a:endParaRPr/>
          </a:p>
        </p:txBody>
      </p:sp>
      <p:sp>
        <p:nvSpPr>
          <p:cNvPr id="453" name="Google Shape;453;p41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1"/>
          <p:cNvSpPr txBox="1"/>
          <p:nvPr/>
        </p:nvSpPr>
        <p:spPr>
          <a:xfrm>
            <a:off x="571500" y="1568226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urmează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logici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Cerințe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-&gt; Media Bootable -&gt; BIOS -&gt;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Partiționare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-&gt;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455" name="Google Shape;455;p41"/>
          <p:cNvSpPr txBox="1"/>
          <p:nvPr/>
        </p:nvSpPr>
        <p:spPr>
          <a:xfrm>
            <a:off x="571500" y="2090450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Corectitudinea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pașilor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asigură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stabil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rapid pe termen lung.</a:t>
            </a:r>
            <a:endParaRPr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A2658B-2269-C119-E46C-BB13CE628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486" y="2596234"/>
            <a:ext cx="6134099" cy="41437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Sesiune Q&amp;A</a:t>
            </a:r>
            <a:endParaRPr/>
          </a:p>
        </p:txBody>
      </p:sp>
      <p:sp>
        <p:nvSpPr>
          <p:cNvPr id="462" name="Google Shape;462;p4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571500" y="16191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/>
          </a:p>
        </p:txBody>
      </p:sp>
      <p:sp>
        <p:nvSpPr>
          <p:cNvPr id="464" name="Google Shape;464;p42"/>
          <p:cNvSpPr txBox="1"/>
          <p:nvPr/>
        </p:nvSpPr>
        <p:spPr>
          <a:xfrm>
            <a:off x="571500" y="2554335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Întrebări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?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Clarificări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dirty="0"/>
          </a:p>
        </p:txBody>
      </p:sp>
      <p:sp>
        <p:nvSpPr>
          <p:cNvPr id="465" name="Google Shape;465;p42"/>
          <p:cNvSpPr txBox="1"/>
          <p:nvPr/>
        </p:nvSpPr>
        <p:spPr>
          <a:xfrm>
            <a:off x="571500" y="298437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Vă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mulțumesc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participare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dirty="0"/>
          </a:p>
        </p:txBody>
      </p:sp>
      <p:pic>
        <p:nvPicPr>
          <p:cNvPr id="1028" name="Picture 4" descr="a crying cat is giving a thumbs up and the words `` thanks '' underneath it .">
            <a:extLst>
              <a:ext uri="{FF2B5EF4-FFF2-40B4-BE49-F238E27FC236}">
                <a16:creationId xmlns:a16="http://schemas.microsoft.com/office/drawing/2014/main" id="{9FB0952C-952B-0836-098C-DDC6F0E8F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5" y="3429000"/>
            <a:ext cx="474345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1042</Words>
  <Application>Microsoft Office PowerPoint</Application>
  <PresentationFormat>Widescreen</PresentationFormat>
  <Paragraphs>144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Lato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54</cp:revision>
  <dcterms:modified xsi:type="dcterms:W3CDTF">2026-01-20T07:44:50Z</dcterms:modified>
</cp:coreProperties>
</file>